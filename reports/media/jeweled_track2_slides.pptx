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d370968cc4a455b" /><Relationship Type="http://schemas.openxmlformats.org/officeDocument/2006/relationships/extended-properties" Target="/docProps/app.xml" Id="R00d4de774a6d4de4" /><Relationship Type="http://schemas.openxmlformats.org/officeDocument/2006/relationships/officeDocument" Target="/ppt/presentation.xml" Id="R4266169bd080482c" /></Relationships>
</file>

<file path=ppt/presentation.xml><?xml version="1.0" encoding="utf-8"?>
<p:presentation xmlns:p="http://schemas.openxmlformats.org/presentationml/2006/main">
  <p:sldMasterIdLst>
    <p:sldMasterId xmlns:r="http://schemas.openxmlformats.org/officeDocument/2006/relationships" id="2147483648" r:id="Rc0df8245f2f44b62"/>
  </p:sldMasterIdLst>
  <p:notesMasterIdLst>
    <p:notesMasterId xmlns:r="http://schemas.openxmlformats.org/officeDocument/2006/relationships" r:id="R4221e5de6c3e4a56"/>
  </p:notesMasterIdLst>
  <p:sldIdLst>
    <p:sldId xmlns:r="http://schemas.openxmlformats.org/officeDocument/2006/relationships" id="256" r:id="R6a03a173dfb045ff"/>
    <p:sldId xmlns:r="http://schemas.openxmlformats.org/officeDocument/2006/relationships" id="257" r:id="R7543966d8bd64270"/>
    <p:sldId xmlns:r="http://schemas.openxmlformats.org/officeDocument/2006/relationships" id="258" r:id="R56a45eb5fd1b4f49"/>
    <p:sldId xmlns:r="http://schemas.openxmlformats.org/officeDocument/2006/relationships" id="259" r:id="Rf0c5f8fe45bf43f7"/>
    <p:sldId xmlns:r="http://schemas.openxmlformats.org/officeDocument/2006/relationships" id="260" r:id="R67ab98a3f3b54f5d"/>
    <p:sldId xmlns:r="http://schemas.openxmlformats.org/officeDocument/2006/relationships" id="261" r:id="R3e85a9f121d54cc8"/>
    <p:sldId xmlns:r="http://schemas.openxmlformats.org/officeDocument/2006/relationships" id="262" r:id="R68b9fbdf1d9d4bab"/>
    <p:sldId xmlns:r="http://schemas.openxmlformats.org/officeDocument/2006/relationships" id="263" r:id="Rf6083df26f274a4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44ee72647f54a74" /><Relationship Type="http://schemas.openxmlformats.org/officeDocument/2006/relationships/slideMaster" Target="/ppt/slideMasters/slideMaster1.xml" Id="Rc0df8245f2f44b62" /><Relationship Type="http://schemas.openxmlformats.org/officeDocument/2006/relationships/notesMaster" Target="/ppt/notesMasters/notesMaster1.xml" Id="R4221e5de6c3e4a56" /><Relationship Type="http://schemas.openxmlformats.org/officeDocument/2006/relationships/presProps" Target="/ppt/presProps.xml" Id="R5320dee862e14014" /><Relationship Type="http://schemas.openxmlformats.org/officeDocument/2006/relationships/tableStyles" Target="/ppt/tableStyles.xml" Id="R0c7c7fab55684778" /><Relationship Type="http://schemas.openxmlformats.org/officeDocument/2006/relationships/slide" Target="/ppt/slides/slide1.xml" Id="R6a03a173dfb045ff" /><Relationship Type="http://schemas.openxmlformats.org/officeDocument/2006/relationships/slide" Target="/ppt/slides/slide2.xml" Id="R7543966d8bd64270" /><Relationship Type="http://schemas.openxmlformats.org/officeDocument/2006/relationships/slide" Target="/ppt/slides/slide3.xml" Id="R56a45eb5fd1b4f49" /><Relationship Type="http://schemas.openxmlformats.org/officeDocument/2006/relationships/slide" Target="/ppt/slides/slide4.xml" Id="Rf0c5f8fe45bf43f7" /><Relationship Type="http://schemas.openxmlformats.org/officeDocument/2006/relationships/slide" Target="/ppt/slides/slide5.xml" Id="R67ab98a3f3b54f5d" /><Relationship Type="http://schemas.openxmlformats.org/officeDocument/2006/relationships/slide" Target="/ppt/slides/slide6.xml" Id="R3e85a9f121d54cc8" /><Relationship Type="http://schemas.openxmlformats.org/officeDocument/2006/relationships/slide" Target="/ppt/slides/slide7.xml" Id="R68b9fbdf1d9d4bab" /><Relationship Type="http://schemas.openxmlformats.org/officeDocument/2006/relationships/slide" Target="/ppt/slides/slide8.xml" Id="Rf6083df26f274a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655f091bf3e47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268cd48e0d4fe3" /><Relationship Type="http://schemas.openxmlformats.org/officeDocument/2006/relationships/notesMaster" Target="/ppt/notesMasters/notesMaster1.xml" Id="Rcbffe7a52f154c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8fd8e204f34f5d" /><Relationship Type="http://schemas.openxmlformats.org/officeDocument/2006/relationships/notesMaster" Target="/ppt/notesMasters/notesMaster1.xml" Id="R9a097ca8abe84f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11336617074e42" /><Relationship Type="http://schemas.openxmlformats.org/officeDocument/2006/relationships/notesMaster" Target="/ppt/notesMasters/notesMaster1.xml" Id="R792cbffc01a04b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39453636af4af3" /><Relationship Type="http://schemas.openxmlformats.org/officeDocument/2006/relationships/notesMaster" Target="/ppt/notesMasters/notesMaster1.xml" Id="R8b1d1469b2f54b5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23798235c24f24" /><Relationship Type="http://schemas.openxmlformats.org/officeDocument/2006/relationships/notesMaster" Target="/ppt/notesMasters/notesMaster1.xml" Id="R901c3713a4904ba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4345ffe2587467e" /><Relationship Type="http://schemas.openxmlformats.org/officeDocument/2006/relationships/notesMaster" Target="/ppt/notesMasters/notesMaster1.xml" Id="R7b40314705d84c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479afdaeca48d0" /><Relationship Type="http://schemas.openxmlformats.org/officeDocument/2006/relationships/notesMaster" Target="/ppt/notesMasters/notesMaster1.xml" Id="R57df46cf001b43c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834764c2c2b4c46" /><Relationship Type="http://schemas.openxmlformats.org/officeDocument/2006/relationships/notesMaster" Target="/ppt/notesMasters/notesMaster1.xml" Id="Rcc699809fb0749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child has muscle wasting and mosaic variegated aneuploidy, a condition in which cells can carry different numbers of chromosomes. Our question is whether an existing medicine could improve muscle function while preserving the cells needed for growth and repair. We propose two medicines for laboratory testing.</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reports/appendices/track1-case-evidence.md</a:t>
            </a:r>
          </a:p>
          <a:p xmlns:a="http://schemas.openxmlformats.org/drawingml/2006/main">
            <a:r>
              <a:t/>
            </a:r>
          </a:p>
          <a:p xmlns:a="http://schemas.openxmlformats.org/drawingml/2006/main">
            <a:r>
              <a:t>The cover illustration uses OpenAI-generated conceptual art. It is not a patient image or experimental result.</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BUB1B makes the checkpoint protein BUBR1. Our stop-plus-missense pair matches a reported MVA1 pattern: reduced protein supply. The missense protein's stability and function remain unmeasured. Trans phase needs confirmation. Confirmed cis retires this pair as the compound-heterozygous explanation.</a:t>
            </a:r>
          </a:p>
          <a:p xmlns:a="http://schemas.openxmlformats.org/drawingml/2006/main">
            <a:r>
              <a:t/>
            </a:r>
          </a:p>
          <a:p xmlns:a="http://schemas.openxmlformats.org/drawingml/2006/main">
            <a:r>
              <a:t>Sources:</a:t>
            </a:r>
          </a:p>
          <a:p xmlns:a="http://schemas.openxmlformats.org/drawingml/2006/main">
            <a:r>
              <a:t>reports/appendices/track1-case-evidence.md</a:t>
            </a:r>
          </a:p>
          <a:p xmlns:a="http://schemas.openxmlformats.org/drawingml/2006/main">
            <a:r>
              <a:t>https://pubmed.ncbi.nlm.nih.gov/20516114/</a:t>
            </a:r>
          </a:p>
          <a:p xmlns:a="http://schemas.openxmlformats.org/drawingml/2006/main">
            <a:r>
              <a:t>https://pubmed.ncbi.nlm.nih.gov/33207204/</a:t>
            </a:r>
          </a:p>
          <a:p xmlns:a="http://schemas.openxmlformats.org/drawingml/2006/main">
            <a:r>
              <a:t>reports/appendices/causal-interpretation.md</a:t>
            </a:r>
          </a:p>
          <a:p xmlns:a="http://schemas.openxmlformats.org/drawingml/2006/main">
            <a:r>
              <a:t/>
            </a:r>
          </a:p>
          <a:p xmlns:a="http://schemas.openxmlformats.org/drawingml/2006/main">
            <a:r>
              <a:t>Trans phase is unobserved. Confirmed cis retires this pair as the compound-heterozygous explanation.</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Niacin is our lead because it targets the protein-supply hypothesis. It raised muscle NAD in another myopathy. Separate experiments connect NAD and SIRT2 to BUBR1 stability. Niacin has not rescued this genotype. We test whether it increases usable protein and useful muscle.</a:t>
            </a:r>
          </a:p>
          <a:p xmlns:a="http://schemas.openxmlformats.org/drawingml/2006/main">
            <a:r>
              <a:t/>
            </a:r>
          </a:p>
          <a:p xmlns:a="http://schemas.openxmlformats.org/drawingml/2006/main">
            <a:r>
              <a:t>Sources:</a:t>
            </a:r>
          </a:p>
          <a:p xmlns:a="http://schemas.openxmlformats.org/drawingml/2006/main">
            <a:r>
              <a:t>https://pubmed.ncbi.nlm.nih.gov/32386566/</a:t>
            </a:r>
          </a:p>
          <a:p xmlns:a="http://schemas.openxmlformats.org/drawingml/2006/main">
            <a:r>
              <a:t>https://pmc.ncbi.nlm.nih.gov/articles/PMC4194088/</a:t>
            </a:r>
          </a:p>
          <a:p xmlns:a="http://schemas.openxmlformats.org/drawingml/2006/main">
            <a:r>
              <a:t>https://pubmed.ncbi.nlm.nih.gov/39173541/</a:t>
            </a:r>
          </a:p>
          <a:p xmlns:a="http://schemas.openxmlformats.org/drawingml/2006/main">
            <a:r>
              <a:t/>
            </a:r>
          </a:p>
          <a:p xmlns:a="http://schemas.openxmlformats.org/drawingml/2006/main">
            <a:r>
              <a:t>The human niacin study was small and open-label. Treated healthy controls also gained strength. North et al. used NMN for pharmacological BUBR1 abundance experiments and genetic SIRT2 overexpression for the BubR1-H/H survival intervention.</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Apitegromab is our muscle-support comparator. It blocks myostatin activation and improved motor function in a randomized spinal-muscular-atrophy trial. It now has an approved use, but no MVA evidence. Fractures are a labeled risk. We test useful muscle output, without claiming that larger muscles repair the chromosome defect.</a:t>
            </a:r>
          </a:p>
          <a:p xmlns:a="http://schemas.openxmlformats.org/drawingml/2006/main">
            <a:r>
              <a:t/>
            </a:r>
          </a:p>
          <a:p xmlns:a="http://schemas.openxmlformats.org/drawingml/2006/main">
            <a:r>
              <a:t>Sources:</a:t>
            </a:r>
          </a:p>
          <a:p xmlns:a="http://schemas.openxmlformats.org/drawingml/2006/main">
            <a:r>
              <a:t>workflow/track2-drug-census/apitegromab-review.md</a:t>
            </a:r>
          </a:p>
          <a:p xmlns:a="http://schemas.openxmlformats.org/drawingml/2006/main">
            <a:r>
              <a:t>https://pubmed.ncbi.nlm.nih.gov/40818473/</a:t>
            </a:r>
          </a:p>
          <a:p xmlns:a="http://schemas.openxmlformats.org/drawingml/2006/main">
            <a:r>
              <a:t>https://doi.org/10.1016/S1474-4422(25)00225-X</a:t>
            </a:r>
          </a:p>
          <a:p xmlns:a="http://schemas.openxmlformats.org/drawingml/2006/main">
            <a:r>
              <a:t>https://pmc.ncbi.nlm.nih.gov/articles/PMC8189951/</a:t>
            </a:r>
          </a:p>
          <a:p xmlns:a="http://schemas.openxmlformats.org/drawingml/2006/main">
            <a:r>
              <a:t>https://dailymed.nlm.nih.gov/dailymed/drugInfo.cfm?setid=b1cd8ab8-8a10-48ed-9806-75a44f22b963</a:t>
            </a:r>
          </a:p>
          <a:p xmlns:a="http://schemas.openxmlformats.org/drawingml/2006/main">
            <a:r>
              <a:t>https://www.fda.gov/drugs/news-events-human-drugs/fda-approves-first-therapy-target-muscle-loss-spinal-muscular-atrophy</a:t>
            </a:r>
          </a:p>
          <a:p xmlns:a="http://schemas.openxmlformats.org/drawingml/2006/main">
            <a:r>
              <a:t/>
            </a:r>
          </a:p>
          <a:p xmlns:a="http://schemas.openxmlformats.org/drawingml/2006/main">
            <a:r>
              <a:t>HFMSE is the Hammersmith Functional Motor Scale Expanded. The positive primary result is the pooled apitegromab-versus-placebo comparison in 156 participants aged 2–12 with SMA receiving nusinersen or risdiplam. LS difference at 12 months: 1.8 points, 95% CI 0.30–3.32, p=0.019. This is neither every individual dose comparison nor evidence for MVA. FDA approved ISEMBYLD on 11 September 2026 for SMA from age 2 with SMN2-targeted treatment. The label warns of fractures. Increased muscle mass does not establish chromosome repair. Confirm target availability and drug-specific engagement before interpreting a model result. No patient dose is proposed.</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cell-selection explorer exposes a misleading result. In one simulated scenario, the chromosome-normal fraction rose sixteen point eight percentage points while total differentiated-cell time fell eleven percent. Other teams can inspect this tradeoff across declared assumptions. Our proposed experiment tracks starting cells, including those that die or stop dividing.</a:t>
            </a:r>
          </a:p>
          <a:p xmlns:a="http://schemas.openxmlformats.org/drawingml/2006/main">
            <a:r>
              <a:t/>
            </a:r>
          </a:p>
          <a:p xmlns:a="http://schemas.openxmlformats.org/drawingml/2006/main">
            <a:r>
              <a:t>Sources:</a:t>
            </a:r>
          </a:p>
          <a:p xmlns:a="http://schemas.openxmlformats.org/drawingml/2006/main">
            <a:r>
              <a:t>workflow/track2-model/README.md</a:t>
            </a:r>
          </a:p>
          <a:p xmlns:a="http://schemas.openxmlformats.org/drawingml/2006/main">
            <a:r>
              <a:t>workflow/track2-model/population-results.json</a:t>
            </a:r>
          </a:p>
          <a:p xmlns:a="http://schemas.openxmlformats.org/drawingml/2006/main">
            <a:r>
              <a:t>reports/appendices/founder-ledger.md</a:t>
            </a:r>
          </a:p>
          <a:p xmlns:a="http://schemas.openxmlformats.org/drawingml/2006/main">
            <a:r>
              <a:t>workflow/track2-model/explorer/index.html</a:t>
            </a:r>
          </a:p>
          <a:p xmlns:a="http://schemas.openxmlformats.org/drawingml/2006/main">
            <a:r>
              <a:t/>
            </a:r>
          </a:p>
          <a:p xmlns:a="http://schemas.openxmlformats.org/drawingml/2006/main">
            <a:r>
              <a:t>Aggregate-population simulation, not observed drug response, patient measurement or actual lineage pedigree. The scenario illustrates the difference between a percentage and absolute tissue output.</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would compare affected and genetically corrected muscle models, using measured drug exposures. A medicine must improve either existing muscle or new muscle production, preserve the other, and avoid worsening chromosome errors. Independent confirmation must reproduce the result. The cancer history also requires checking that neither medicine helps tumor cells survive or interferes with cancer treatment.</a:t>
            </a:r>
          </a:p>
          <a:p xmlns:a="http://schemas.openxmlformats.org/drawingml/2006/main">
            <a:r>
              <a:t/>
            </a:r>
          </a:p>
          <a:p xmlns:a="http://schemas.openxmlformats.org/drawingml/2006/main">
            <a:r>
              <a:t>Sources:</a:t>
            </a:r>
          </a:p>
          <a:p xmlns:a="http://schemas.openxmlformats.org/drawingml/2006/main">
            <a:r>
              <a:t>reports/appendices/track2-evidence-pipeline.md</a:t>
            </a:r>
          </a:p>
          <a:p xmlns:a="http://schemas.openxmlformats.org/drawingml/2006/main">
            <a:r>
              <a:t/>
            </a:r>
          </a:p>
          <a:p xmlns:a="http://schemas.openxmlformats.org/drawingml/2006/main">
            <a:r>
              <a:t>Test each medicine separately with measured exposure and drug-specific engagement. Apitegromab requires the relevant myostatin precursor/activation system. Culture experiments do not resolve longer-term bone or tumor outcomes.</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public drug census screened over fifteen thousand clinical and regulatory entries. It made apitegromab a stronger downstream candidate than everolimus for muscle function. Everolimus remains a conditional signaling probe. Other same-gene genetic and drug findings have explicit limitations. Missing evidence stays unknown rather than becoming a failed drug.</a:t>
            </a:r>
          </a:p>
          <a:p xmlns:a="http://schemas.openxmlformats.org/drawingml/2006/main">
            <a:r>
              <a:t/>
            </a:r>
          </a:p>
          <a:p xmlns:a="http://schemas.openxmlformats.org/drawingml/2006/main">
            <a:r>
              <a:t>Sources:</a:t>
            </a:r>
          </a:p>
          <a:p xmlns:a="http://schemas.openxmlformats.org/drawingml/2006/main">
            <a:r>
              <a:t>workflow/track2-drug-census/README.md</a:t>
            </a:r>
          </a:p>
          <a:p xmlns:a="http://schemas.openxmlformats.org/drawingml/2006/main">
            <a:r>
              <a:t>workflow/track2-drug-census/decision-report.md</a:t>
            </a:r>
          </a:p>
          <a:p xmlns:a="http://schemas.openxmlformats.org/drawingml/2006/main">
            <a:r>
              <a:t>workflow/track2-drug-census/apitegromab-review.md</a:t>
            </a:r>
          </a:p>
          <a:p xmlns:a="http://schemas.openxmlformats.org/drawingml/2006/main">
            <a:r>
              <a:t>reports/appendices/track2-route-decisions.md</a:t>
            </a:r>
          </a:p>
          <a:p xmlns:a="http://schemas.openxmlformats.org/drawingml/2006/main">
            <a:r>
              <a:t/>
            </a:r>
          </a:p>
          <a:p xmlns:a="http://schemas.openxmlformats.org/drawingml/2006/main">
            <a:r>
              <a:t>The census enumerates clinical-development and regulatory entries, not a complete universe of unique medicines. Only explicitly appraised candidates have a manually reasoned competitiveness decision. Same-gene findings include conference-only AZD1152/barasertib survival evidence without sarcopenia improvement, and genetic FRZB/PAK2 findings with no qualified drug rescue. Missing evidence is unknown rather than a negative drug experiment.</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also ran the workflow on a public, synthetic TRIP13 example. It shows why a BUBR1 restoration hypothesis cannot simply transfer to another gene. That demonstrates reuse, not treatment validation. Next we need a consented muscle model and laboratory partner to test niacin and apitegromab separately.</a:t>
            </a:r>
          </a:p>
          <a:p xmlns:a="http://schemas.openxmlformats.org/drawingml/2006/main">
            <a:r>
              <a:t/>
            </a:r>
          </a:p>
          <a:p xmlns:a="http://schemas.openxmlformats.org/drawingml/2006/main">
            <a:r>
              <a:t>Sources:</a:t>
            </a:r>
          </a:p>
          <a:p xmlns:a="http://schemas.openxmlformats.org/drawingml/2006/main">
            <a:r>
              <a:t>reports/jeweled_track2_report_submission.md</a:t>
            </a:r>
          </a:p>
          <a:p xmlns:a="http://schemas.openxmlformats.org/drawingml/2006/main">
            <a:r>
              <a:t>reports/appendices/track2-evidence-pipeline.md</a:t>
            </a:r>
          </a:p>
          <a:p xmlns:a="http://schemas.openxmlformats.org/drawingml/2006/main">
            <a:r>
              <a:t>workflow/track2-transfer/README.md</a:t>
            </a:r>
          </a:p>
          <a:p xmlns:a="http://schemas.openxmlformats.org/drawingml/2006/main">
            <a:r>
              <a:t>workflow/track2-drug-census/decision-report.md</a:t>
            </a:r>
          </a:p>
          <a:p xmlns:a="http://schemas.openxmlformats.org/drawingml/2006/main">
            <a:r>
              <a:t/>
            </a:r>
          </a:p>
          <a:p xmlns:a="http://schemas.openxmlformats.org/drawingml/2006/main">
            <a:r>
              <a:t>The TRIP13 example is synthetic and demonstrates workflow reuse, not validation in a second patient. The proposed separate medication experiments are niacin and apitegromab. Everolimus remains a conditional signaling probe.</a:t>
            </a:r>
          </a:p>
          <a:p xmlns:a="http://schemas.openxmlformats.org/drawingml/2006/main">
            <a:r>
              <a:t/>
            </a:r>
          </a:p>
          <a:p xmlns:a="http://schemas.openxmlformats.org/drawingml/2006/main">
            <a:r>
              <a:t>Research proposal. No biological drug experiment has run. Neither medicine has demonstrated rescue of this BUB1B genotype.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a41a302e2f44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80159f2e914973" /><Relationship Type="http://schemas.openxmlformats.org/officeDocument/2006/relationships/slideLayout" Target="/ppt/slideLayouts/slideLayout1.xml" Id="R7d2b0957ded24f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2b0957ded24f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a56e79d6a904cdc" /><Relationship Type="http://schemas.openxmlformats.org/officeDocument/2006/relationships/image" Target="/ppt/media/image.png" Id="R916b3f793e114821" /><Relationship Type="http://schemas.openxmlformats.org/officeDocument/2006/relationships/notesSlide" Target="/ppt/notesSlides/notesSlide1.xml" Id="Rfb75272f6878470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3cf924dac2485f" /><Relationship Type="http://schemas.openxmlformats.org/officeDocument/2006/relationships/notesSlide" Target="/ppt/notesSlides/notesSlide2.xml" Id="R1faad4615a534a1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c7ef1aa52384cfa" /><Relationship Type="http://schemas.openxmlformats.org/officeDocument/2006/relationships/notesSlide" Target="/ppt/notesSlides/notesSlide3.xml" Id="Rc84b48082fb542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01a60e9d4d74800" /><Relationship Type="http://schemas.openxmlformats.org/officeDocument/2006/relationships/notesSlide" Target="/ppt/notesSlides/notesSlide4.xml" Id="Re6be5a5c9cd0421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52c9c75578e437c" /><Relationship Type="http://schemas.openxmlformats.org/officeDocument/2006/relationships/notesSlide" Target="/ppt/notesSlides/notesSlide5.xml" Id="R45f26b644054489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4e87c6772034bd7" /><Relationship Type="http://schemas.openxmlformats.org/officeDocument/2006/relationships/notesSlide" Target="/ppt/notesSlides/notesSlide6.xml" Id="R3c23adde02b146b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752353262664692" /><Relationship Type="http://schemas.openxmlformats.org/officeDocument/2006/relationships/notesSlide" Target="/ppt/notesSlides/notesSlide7.xml" Id="R9ac13cb58fe245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4c9bea8ee42467f" /><Relationship Type="http://schemas.openxmlformats.org/officeDocument/2006/relationships/notesSlide" Target="/ppt/notesSlides/notesSlide8.xml" Id="R36e1134fedfa4c85" /></Relationships>
</file>

<file path=ppt/slides/slide1.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107EFD-48E8-4B25-91E4-63BC0FA22891}"/>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1 / 8</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16b3f793e11482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B1B1C9D-0703-4208-B667-548AEE0FF7D0}"/>
              </a:ext>
            </a:extLst>
          </p:cNvPr>
          <p:cNvSpPr>
            <a:spLocks xmlns:a="http://schemas.openxmlformats.org/drawingml/2006/main" noGrp="1"/>
          </p:cNvSpPr>
          <p:nvPr/>
        </p:nvSpPr>
        <p:spPr>
          <a:xfrm xmlns:a="http://schemas.openxmlformats.org/drawingml/2006/main">
            <a:off x="685800" y="1485900"/>
            <a:ext cx="685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4950" b="1">
                <a:solidFill>
                  <a:srgbClr val="102E36"/>
                </a:solidFill>
                <a:latin typeface="Aptos"/>
                <a:ea typeface="Aptos"/>
                <a:cs typeface="Aptos"/>
              </a:defRPr>
            </a:pPr>
            <a:r>
              <a:rPr sz="4950" b="1">
                <a:solidFill>
                  <a:srgbClr val="102E36"/>
                </a:solidFill>
                <a:latin typeface="Aptos"/>
                <a:ea typeface="Aptos"/>
                <a:cs typeface="Aptos"/>
              </a:rPr>
              <a:t>Preserving muscle</a:t>
            </a:r>
          </a:p>
          <a:p xmlns:a="http://schemas.openxmlformats.org/drawingml/2006/main">
            <a:pPr>
              <a:buNone/>
              <a:defRPr sz="4950" b="1">
                <a:solidFill>
                  <a:srgbClr val="102E36"/>
                </a:solidFill>
                <a:latin typeface="Aptos"/>
                <a:ea typeface="Aptos"/>
                <a:cs typeface="Aptos"/>
              </a:defRPr>
            </a:pPr>
            <a:r>
              <a:rPr sz="4950" b="1">
                <a:solidFill>
                  <a:srgbClr val="102E36"/>
                </a:solidFill>
                <a:latin typeface="Aptos"/>
                <a:ea typeface="Aptos"/>
                <a:cs typeface="Aptos"/>
              </a:rPr>
              <a:t>in MVA</a:t>
            </a:r>
          </a:p>
        </p:txBody>
      </p:sp>
      <p:sp>
        <p:nvSpPr>
          <p:cNvPr id="4" name="">
            <a:extLst xmlns:a="http://schemas.openxmlformats.org/drawingml/2006/main">
              <a:ext uri="{FF2B5EF4-FFF2-40B4-BE49-F238E27FC236}">
                <a16:creationId xmlns:a16="http://schemas.microsoft.com/office/drawing/2014/main" id="{860C483D-E35D-4DB4-B41D-86B9AB284890}"/>
              </a:ext>
            </a:extLst>
          </p:cNvPr>
          <p:cNvSpPr>
            <a:spLocks xmlns:a="http://schemas.openxmlformats.org/drawingml/2006/main" noGrp="1"/>
          </p:cNvSpPr>
          <p:nvPr/>
        </p:nvSpPr>
        <p:spPr>
          <a:xfrm xmlns:a="http://schemas.openxmlformats.org/drawingml/2006/main">
            <a:off x="723900" y="3429000"/>
            <a:ext cx="5048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625" b="0">
                <a:solidFill>
                  <a:srgbClr val="102E36"/>
                </a:solidFill>
                <a:latin typeface="Aptos"/>
                <a:ea typeface="Aptos"/>
                <a:cs typeface="Aptos"/>
              </a:defRPr>
            </a:pPr>
            <a:r>
              <a:rPr sz="2625" b="0">
                <a:solidFill>
                  <a:srgbClr val="102E36"/>
                </a:solidFill>
                <a:latin typeface="Aptos"/>
                <a:ea typeface="Aptos"/>
                <a:cs typeface="Aptos"/>
              </a:rPr>
              <a:t>Two medicines for</a:t>
            </a:r>
          </a:p>
          <a:p xmlns:a="http://schemas.openxmlformats.org/drawingml/2006/main">
            <a:pPr>
              <a:buNone/>
              <a:defRPr sz="2625" b="0">
                <a:solidFill>
                  <a:srgbClr val="102E36"/>
                </a:solidFill>
                <a:latin typeface="Aptos"/>
                <a:ea typeface="Aptos"/>
                <a:cs typeface="Aptos"/>
              </a:defRPr>
            </a:pPr>
            <a:r>
              <a:rPr sz="2625" b="0">
                <a:solidFill>
                  <a:srgbClr val="102E36"/>
                </a:solidFill>
                <a:latin typeface="Aptos"/>
                <a:ea typeface="Aptos"/>
                <a:cs typeface="Aptos"/>
              </a:rPr>
              <a:t>laboratory testing</a:t>
            </a:r>
          </a:p>
        </p:txBody>
      </p:sp>
      <p:sp>
        <p:nvSpPr>
          <p:cNvPr id="5" name="">
            <a:extLst xmlns:a="http://schemas.openxmlformats.org/drawingml/2006/main">
              <a:ext uri="{FF2B5EF4-FFF2-40B4-BE49-F238E27FC236}">
                <a16:creationId xmlns:a16="http://schemas.microsoft.com/office/drawing/2014/main" id="{4A6BBB63-0D97-45DC-8F04-465CFD4726D3}"/>
              </a:ext>
            </a:extLst>
          </p:cNvPr>
          <p:cNvSpPr>
            <a:spLocks xmlns:a="http://schemas.openxmlformats.org/drawingml/2006/main" noGrp="1"/>
          </p:cNvSpPr>
          <p:nvPr/>
        </p:nvSpPr>
        <p:spPr>
          <a:xfrm xmlns:a="http://schemas.openxmlformats.org/drawingml/2006/main">
            <a:off x="723900" y="5334000"/>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00" b="0">
                <a:solidFill>
                  <a:srgbClr val="48636A"/>
                </a:solidFill>
                <a:latin typeface="Aptos"/>
                <a:ea typeface="Aptos"/>
                <a:cs typeface="Aptos"/>
              </a:defRPr>
            </a:pPr>
            <a:r>
              <a:rPr sz="1800" b="0">
                <a:solidFill>
                  <a:srgbClr val="48636A"/>
                </a:solidFill>
                <a:latin typeface="Aptos"/>
                <a:ea typeface="Aptos"/>
                <a:cs typeface="Aptos"/>
              </a:rPr>
              <a:t>EternaPeptix / jeweled</a:t>
            </a:r>
          </a:p>
          <a:p xmlns:a="http://schemas.openxmlformats.org/drawingml/2006/main">
            <a:pPr>
              <a:buNone/>
              <a:defRPr sz="1800" b="0">
                <a:solidFill>
                  <a:srgbClr val="48636A"/>
                </a:solidFill>
                <a:latin typeface="Aptos"/>
                <a:ea typeface="Aptos"/>
                <a:cs typeface="Aptos"/>
              </a:defRPr>
            </a:pPr>
            <a:r>
              <a:rPr sz="1800" b="0">
                <a:solidFill>
                  <a:srgbClr val="48636A"/>
                </a:solidFill>
                <a:latin typeface="Aptos"/>
                <a:ea typeface="Aptos"/>
                <a:cs typeface="Aptos"/>
              </a:rPr>
              <a:t>Track 2 research proposal</a:t>
            </a:r>
          </a:p>
        </p:txBody>
      </p:sp>
    </p:spTree>
    <p:extLst>
      <p:ext uri="{BB962C8B-B14F-4D97-AF65-F5344CB8AC3E}">
        <p14:creationId xmlns:p14="http://schemas.microsoft.com/office/powerpoint/2010/main" val="1507416994"/>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AF03FE-CB9A-4AA0-B778-FC61B372C931}"/>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Protein supply is a testable mechanism</a:t>
            </a:r>
          </a:p>
        </p:txBody>
      </p:sp>
      <p:sp>
        <p:nvSpPr>
          <p:cNvPr id="2" name="">
            <a:extLst xmlns:a="http://schemas.openxmlformats.org/drawingml/2006/main">
              <a:ext uri="{FF2B5EF4-FFF2-40B4-BE49-F238E27FC236}">
                <a16:creationId xmlns:a16="http://schemas.microsoft.com/office/drawing/2014/main" id="{EE865D98-086A-421B-B4B9-7A0C0F8BDE73}"/>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2 / 8</a:t>
            </a:r>
          </a:p>
        </p:txBody>
      </p:sp>
      <p:sp>
        <p:nvSpPr>
          <p:cNvPr id="3" name="">
            <a:extLst xmlns:a="http://schemas.openxmlformats.org/drawingml/2006/main">
              <a:ext uri="{FF2B5EF4-FFF2-40B4-BE49-F238E27FC236}">
                <a16:creationId xmlns:a16="http://schemas.microsoft.com/office/drawing/2014/main" id="{A1C524AE-E60D-4F77-A22A-9EBFB3294755}"/>
              </a:ext>
            </a:extLst>
          </p:cNvPr>
          <p:cNvSpPr>
            <a:spLocks xmlns:a="http://schemas.openxmlformats.org/drawingml/2006/main" noGrp="1"/>
          </p:cNvSpPr>
          <p:nvPr/>
        </p:nvSpPr>
        <p:spPr>
          <a:xfrm xmlns:a="http://schemas.openxmlformats.org/drawingml/2006/main">
            <a:off x="685800" y="1600200"/>
            <a:ext cx="10715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02E36"/>
                </a:solidFill>
                <a:latin typeface="Aptos"/>
                <a:ea typeface="Aptos"/>
                <a:cs typeface="Aptos"/>
              </a:defRPr>
            </a:pPr>
            <a:r>
              <a:rPr sz="2325" b="0">
                <a:solidFill>
                  <a:srgbClr val="102E36"/>
                </a:solidFill>
                <a:latin typeface="Aptos"/>
                <a:ea typeface="Aptos"/>
                <a:cs typeface="Aptos"/>
              </a:rPr>
              <a:t>A stop plus a kinase-region missense change matches a reported MVA1 pattern.</a:t>
            </a:r>
          </a:p>
        </p:txBody>
      </p:sp>
      <p:graphicFrame>
        <p:nvGraphicFramePr>
          <p:cNvPr id="11" name=""/>
          <p:cNvGraphicFramePr/>
          <p:nvPr/>
        </p:nvGraphicFramePr>
        <p:xfrm>
          <a:off xmlns:a="http://schemas.openxmlformats.org/drawingml/2006/main" x="685800" y="2714625"/>
          <a:ext xmlns:a="http://schemas.openxmlformats.org/drawingml/2006/main" cx="10820400" cy="2286000"/>
        </p:xfrm>
        <a:graphic xmlns:a="http://schemas.openxmlformats.org/drawingml/2006/main">
          <a:graphicData uri="http://schemas.openxmlformats.org/drawingml/2006/table">
            <a:tbl>
              <a:tblPr/>
              <a:tblGrid>
                <a:gridCol w="4095750"/>
                <a:gridCol w="6724650"/>
              </a:tblGrid>
              <a:tr h="762000">
                <a:tc>
                  <a:txBody>
                    <a:bodyPr>
                      <a:noAutofit/>
                    </a:bodyPr>
                    <a:lstStyle/>
                    <a:p>
                      <a:r>
                        <a:rPr sz="1800" b="1">
                          <a:solidFill>
                            <a:srgbClr val="FFFFFF"/>
                          </a:solidFill>
                          <a:latin typeface="Aptos"/>
                          <a:ea typeface="Aptos"/>
                          <a:cs typeface="Aptos"/>
                        </a:rPr>
                        <a:t>Gene change</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Working interpretation</a:t>
                      </a:r>
                    </a:p>
                  </a:txBody>
                  <a:tcPr marL="152400" marR="152400" marT="114300" marB="114300" anchor="ctr">
                    <a:solidFill>
                      <a:srgbClr val="167A78"/>
                    </a:solidFill>
                  </a:tcPr>
                </a:tc>
              </a:tr>
              <a:tr h="762000">
                <a:tc>
                  <a:txBody>
                    <a:bodyPr>
                      <a:noAutofit/>
                    </a:bodyPr>
                    <a:lstStyle/>
                    <a:p>
                      <a:r>
                        <a:rPr sz="2025" b="1">
                          <a:solidFill>
                            <a:srgbClr val="102E36"/>
                          </a:solidFill>
                          <a:latin typeface="Aptos"/>
                          <a:ea typeface="Aptos"/>
                          <a:cs typeface="Aptos"/>
                        </a:rPr>
                        <a:t>p.Leu737Ter</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An early stop, predicted to reduce usable protein</a:t>
                      </a:r>
                    </a:p>
                  </a:txBody>
                  <a:tcPr marL="152400" marR="152400" marT="114300" marB="114300" anchor="ctr">
                    <a:solidFill>
                      <a:srgbClr val="F6F3EC"/>
                    </a:solidFill>
                  </a:tcPr>
                </a:tc>
              </a:tr>
              <a:tr h="762000">
                <a:tc>
                  <a:txBody>
                    <a:bodyPr>
                      <a:noAutofit/>
                    </a:bodyPr>
                    <a:lstStyle/>
                    <a:p>
                      <a:r>
                        <a:rPr sz="2025" b="1">
                          <a:solidFill>
                            <a:srgbClr val="102E36"/>
                          </a:solidFill>
                          <a:latin typeface="Aptos"/>
                          <a:ea typeface="Aptos"/>
                          <a:cs typeface="Aptos"/>
                        </a:rPr>
                        <a:t>p.Asn1002Lys (N1002K)</a:t>
                      </a:r>
                    </a:p>
                  </a:txBody>
                  <a:tcPr marL="152400" marR="152400" marT="114300" marB="114300" anchor="ctr">
                    <a:solidFill>
                      <a:srgbClr val="F6F3EC"/>
                    </a:solidFill>
                  </a:tcPr>
                </a:tc>
                <a:tc>
                  <a:txBody>
                    <a:bodyPr>
                      <a:noAutofit/>
                    </a:bodyPr>
                    <a:lstStyle/>
                    <a:p>
                      <a:r>
                        <a:rPr sz="2025" b="0">
                          <a:solidFill>
                            <a:srgbClr val="102E36"/>
                          </a:solidFill>
                          <a:latin typeface="Aptos"/>
                          <a:ea typeface="Aptos"/>
                          <a:cs typeface="Aptos"/>
                        </a:rPr>
                        <a:t>Kinase-region change. Stability and function unmeasured</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660B1C57-2577-4D2F-BAB6-C91848F3054B}"/>
              </a:ext>
            </a:extLst>
          </p:cNvPr>
          <p:cNvSpPr>
            <a:spLocks xmlns:a="http://schemas.openxmlformats.org/drawingml/2006/main" noGrp="1"/>
          </p:cNvSpPr>
          <p:nvPr/>
        </p:nvSpPr>
        <p:spPr>
          <a:xfrm xmlns:a="http://schemas.openxmlformats.org/drawingml/2006/main">
            <a:off x="685800" y="5248275"/>
            <a:ext cx="10820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Trans remains unobserved. Confirmed cis retires this</a:t>
            </a:r>
          </a:p>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compound-heterozygous explanation.</a:t>
            </a:r>
          </a:p>
        </p:txBody>
      </p:sp>
    </p:spTree>
    <p:extLst>
      <p:ext uri="{BB962C8B-B14F-4D97-AF65-F5344CB8AC3E}">
        <p14:creationId xmlns:p14="http://schemas.microsoft.com/office/powerpoint/2010/main" val="691428534"/>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DA0E73E-41D3-4099-9AA3-28EC736ADBF0}"/>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Niacin tests usable protein restoration</a:t>
            </a:r>
          </a:p>
        </p:txBody>
      </p:sp>
      <p:sp>
        <p:nvSpPr>
          <p:cNvPr id="2" name="">
            <a:extLst xmlns:a="http://schemas.openxmlformats.org/drawingml/2006/main">
              <a:ext uri="{FF2B5EF4-FFF2-40B4-BE49-F238E27FC236}">
                <a16:creationId xmlns:a16="http://schemas.microsoft.com/office/drawing/2014/main" id="{580E203D-117B-4514-A8D8-06ADAE25428D}"/>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3 / 8</a:t>
            </a:r>
          </a:p>
        </p:txBody>
      </p:sp>
      <p:sp>
        <p:nvSpPr>
          <p:cNvPr id="3" name="">
            <a:extLst xmlns:a="http://schemas.openxmlformats.org/drawingml/2006/main">
              <a:ext uri="{FF2B5EF4-FFF2-40B4-BE49-F238E27FC236}">
                <a16:creationId xmlns:a16="http://schemas.microsoft.com/office/drawing/2014/main" id="{319E84BC-8AD4-4FF7-A0F5-9E40EBAE9E73}"/>
              </a:ext>
            </a:extLst>
          </p:cNvPr>
          <p:cNvSpPr>
            <a:spLocks xmlns:a="http://schemas.openxmlformats.org/drawingml/2006/main" noGrp="1"/>
          </p:cNvSpPr>
          <p:nvPr/>
        </p:nvSpPr>
        <p:spPr>
          <a:xfrm xmlns:a="http://schemas.openxmlformats.org/drawingml/2006/main">
            <a:off x="685800" y="1685925"/>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225" b="1">
                <a:solidFill>
                  <a:srgbClr val="167A78"/>
                </a:solidFill>
                <a:latin typeface="Aptos"/>
                <a:ea typeface="Aptos"/>
                <a:cs typeface="Aptos"/>
              </a:defRPr>
            </a:pPr>
            <a:r>
              <a:rPr sz="3225" b="1">
                <a:solidFill>
                  <a:srgbClr val="167A78"/>
                </a:solidFill>
                <a:latin typeface="Aptos"/>
                <a:ea typeface="Aptos"/>
                <a:cs typeface="Aptos"/>
              </a:rPr>
              <a:t>Research lead: nicotinic acid</a:t>
            </a:r>
          </a:p>
        </p:txBody>
      </p:sp>
      <p:graphicFrame>
        <p:nvGraphicFramePr>
          <p:cNvPr id="11" name=""/>
          <p:cNvGraphicFramePr/>
          <p:nvPr/>
        </p:nvGraphicFramePr>
        <p:xfrm>
          <a:off xmlns:a="http://schemas.openxmlformats.org/drawingml/2006/main" x="685800" y="2533650"/>
          <a:ext xmlns:a="http://schemas.openxmlformats.org/drawingml/2006/main" cx="10820400" cy="3143250"/>
        </p:xfrm>
        <a:graphic xmlns:a="http://schemas.openxmlformats.org/drawingml/2006/main">
          <a:graphicData uri="http://schemas.openxmlformats.org/drawingml/2006/table">
            <a:tbl>
              <a:tblPr/>
              <a:tblGrid>
                <a:gridCol w="3000375"/>
                <a:gridCol w="7820025"/>
              </a:tblGrid>
              <a:tr h="785813">
                <a:tc>
                  <a:txBody>
                    <a:bodyPr>
                      <a:noAutofit/>
                    </a:bodyPr>
                    <a:lstStyle/>
                    <a:p>
                      <a:r>
                        <a:rPr sz="1800" b="1">
                          <a:solidFill>
                            <a:srgbClr val="FFFFFF"/>
                          </a:solidFill>
                          <a:latin typeface="Aptos"/>
                          <a:ea typeface="Aptos"/>
                          <a:cs typeface="Aptos"/>
                        </a:rPr>
                        <a:t>Evidence step</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What we know</a:t>
                      </a:r>
                    </a:p>
                  </a:txBody>
                  <a:tcPr marL="152400" marR="152400" marT="114300" marB="114300" anchor="ctr">
                    <a:solidFill>
                      <a:srgbClr val="167A78"/>
                    </a:solidFill>
                  </a:tcPr>
                </a:tc>
              </a:tr>
              <a:tr h="785813">
                <a:tc>
                  <a:txBody>
                    <a:bodyPr>
                      <a:noAutofit/>
                    </a:bodyPr>
                    <a:lstStyle/>
                    <a:p>
                      <a:r>
                        <a:rPr sz="1950" b="1">
                          <a:solidFill>
                            <a:srgbClr val="102E36"/>
                          </a:solidFill>
                          <a:latin typeface="Aptos"/>
                          <a:ea typeface="Aptos"/>
                          <a:cs typeface="Aptos"/>
                        </a:rPr>
                        <a:t>Human muscle</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raised NAD in five patients with another myopathy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Protein mechanism</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Separate precursor / SIRT2 studies support BUBR1 stability</a:t>
                      </a:r>
                    </a:p>
                  </a:txBody>
                  <a:tcPr marL="152400" marR="152400" marT="114300" marB="114300" anchor="ctr">
                    <a:solidFill>
                      <a:srgbClr val="F6F3EC"/>
                    </a:solidFill>
                  </a:tcPr>
                </a:tc>
              </a:tr>
              <a:tr h="785813">
                <a:tc>
                  <a:txBody>
                    <a:bodyPr>
                      <a:noAutofit/>
                    </a:bodyPr>
                    <a:lstStyle/>
                    <a:p>
                      <a:r>
                        <a:rPr sz="1950" b="1">
                          <a:solidFill>
                            <a:srgbClr val="102E36"/>
                          </a:solidFill>
                          <a:latin typeface="Aptos"/>
                          <a:ea typeface="Aptos"/>
                          <a:cs typeface="Aptos"/>
                        </a:rPr>
                        <a:t>Missing connection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Niacin rescue of this genotype’s protein and muscle</a:t>
                      </a:r>
                    </a:p>
                  </a:txBody>
                  <a:tcPr marL="152400" marR="152400" marT="114300" marB="114300" anchor="ctr">
                    <a:solidFill>
                      <a:srgbClr val="F6F3EC"/>
                    </a:solidFill>
                  </a:tcPr>
                </a:tc>
              </a:tr>
            </a:tbl>
          </a:graphicData>
        </a:graphic>
      </p:graphicFrame>
      <p:sp>
        <p:nvSpPr>
          <p:cNvPr id="5" name="">
            <a:extLst xmlns:a="http://schemas.openxmlformats.org/drawingml/2006/main">
              <a:ext uri="{FF2B5EF4-FFF2-40B4-BE49-F238E27FC236}">
                <a16:creationId xmlns:a16="http://schemas.microsoft.com/office/drawing/2014/main" id="{4E014A0C-D8ED-4E3F-9278-AAE684B32C52}"/>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725" b="0">
                <a:solidFill>
                  <a:srgbClr val="48636A"/>
                </a:solidFill>
                <a:latin typeface="Aptos"/>
                <a:ea typeface="Aptos"/>
                <a:cs typeface="Aptos"/>
              </a:defRPr>
            </a:pPr>
            <a:r>
              <a:rPr sz="1725" b="0">
                <a:solidFill>
                  <a:srgbClr val="48636A"/>
                </a:solidFill>
                <a:latin typeface="Aptos"/>
                <a:ea typeface="Aptos"/>
                <a:cs typeface="Aptos"/>
              </a:rPr>
              <a:t>Strength gains also occurred in treated controls. MVA rescue remains untested.</a:t>
            </a:r>
          </a:p>
        </p:txBody>
      </p:sp>
    </p:spTree>
    <p:extLst>
      <p:ext uri="{BB962C8B-B14F-4D97-AF65-F5344CB8AC3E}">
        <p14:creationId xmlns:p14="http://schemas.microsoft.com/office/powerpoint/2010/main" val="1345422072"/>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EE6D5E-595D-4C3B-9829-4BFBA424E893}"/>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Apitegromab tests muscle compensation</a:t>
            </a:r>
          </a:p>
        </p:txBody>
      </p:sp>
      <p:sp>
        <p:nvSpPr>
          <p:cNvPr id="2" name="">
            <a:extLst xmlns:a="http://schemas.openxmlformats.org/drawingml/2006/main">
              <a:ext uri="{FF2B5EF4-FFF2-40B4-BE49-F238E27FC236}">
                <a16:creationId xmlns:a16="http://schemas.microsoft.com/office/drawing/2014/main" id="{75610479-4D6B-4AD8-B5BC-6DE7869B5935}"/>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4 / 8</a:t>
            </a:r>
          </a:p>
        </p:txBody>
      </p:sp>
      <p:sp>
        <p:nvSpPr>
          <p:cNvPr id="3" name="">
            <a:extLst xmlns:a="http://schemas.openxmlformats.org/drawingml/2006/main">
              <a:ext uri="{FF2B5EF4-FFF2-40B4-BE49-F238E27FC236}">
                <a16:creationId xmlns:a16="http://schemas.microsoft.com/office/drawing/2014/main" id="{AE2F4C86-A8A0-4EE9-BF6A-CE7D269C0CF5}"/>
              </a:ext>
            </a:extLst>
          </p:cNvPr>
          <p:cNvSpPr>
            <a:spLocks xmlns:a="http://schemas.openxmlformats.org/drawingml/2006/main" noGrp="1"/>
          </p:cNvSpPr>
          <p:nvPr/>
        </p:nvSpPr>
        <p:spPr>
          <a:xfrm xmlns:a="http://schemas.openxmlformats.org/drawingml/2006/main">
            <a:off x="685800" y="190500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5400" b="1">
                <a:solidFill>
                  <a:srgbClr val="167A78"/>
                </a:solidFill>
                <a:latin typeface="Aptos"/>
                <a:ea typeface="Aptos"/>
                <a:cs typeface="Aptos"/>
              </a:defRPr>
            </a:pPr>
            <a:r>
              <a:rPr sz="5400" b="1">
                <a:solidFill>
                  <a:srgbClr val="167A78"/>
                </a:solidFill>
                <a:latin typeface="Aptos"/>
                <a:ea typeface="Aptos"/>
                <a:cs typeface="Aptos"/>
              </a:rPr>
              <a:t>+1.8</a:t>
            </a:r>
          </a:p>
        </p:txBody>
      </p:sp>
      <p:sp>
        <p:nvSpPr>
          <p:cNvPr id="4" name="">
            <a:extLst xmlns:a="http://schemas.openxmlformats.org/drawingml/2006/main">
              <a:ext uri="{FF2B5EF4-FFF2-40B4-BE49-F238E27FC236}">
                <a16:creationId xmlns:a16="http://schemas.microsoft.com/office/drawing/2014/main" id="{10CD5A01-4553-4751-B921-AD1CB456D429}"/>
              </a:ext>
            </a:extLst>
          </p:cNvPr>
          <p:cNvSpPr>
            <a:spLocks xmlns:a="http://schemas.openxmlformats.org/drawingml/2006/main" noGrp="1"/>
          </p:cNvSpPr>
          <p:nvPr/>
        </p:nvSpPr>
        <p:spPr>
          <a:xfrm xmlns:a="http://schemas.openxmlformats.org/drawingml/2006/main">
            <a:off x="723900" y="2809875"/>
            <a:ext cx="4857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475" b="0">
                <a:solidFill>
                  <a:srgbClr val="102E36"/>
                </a:solidFill>
                <a:latin typeface="Aptos"/>
                <a:ea typeface="Aptos"/>
                <a:cs typeface="Aptos"/>
              </a:defRPr>
            </a:pPr>
            <a:r>
              <a:rPr sz="2475" b="0">
                <a:solidFill>
                  <a:srgbClr val="102E36"/>
                </a:solidFill>
                <a:latin typeface="Aptos"/>
                <a:ea typeface="Aptos"/>
                <a:cs typeface="Aptos"/>
              </a:rPr>
              <a:t>HFMSE points vs placebo
95% CI 0.30–3.32
At 12 months</a:t>
            </a:r>
          </a:p>
        </p:txBody>
      </p:sp>
      <p:sp>
        <p:nvSpPr>
          <p:cNvPr id="5" name="">
            <a:extLst xmlns:a="http://schemas.openxmlformats.org/drawingml/2006/main">
              <a:ext uri="{FF2B5EF4-FFF2-40B4-BE49-F238E27FC236}">
                <a16:creationId xmlns:a16="http://schemas.microsoft.com/office/drawing/2014/main" id="{525D8CBD-3710-465A-A024-C7DF5F5424C4}"/>
              </a:ext>
            </a:extLst>
          </p:cNvPr>
          <p:cNvSpPr>
            <a:spLocks xmlns:a="http://schemas.openxmlformats.org/drawingml/2006/main" noGrp="1"/>
          </p:cNvSpPr>
          <p:nvPr/>
        </p:nvSpPr>
        <p:spPr>
          <a:xfrm xmlns:a="http://schemas.openxmlformats.org/drawingml/2006/main">
            <a:off x="6286500" y="182880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Randomized SMA trial</a:t>
            </a:r>
          </a:p>
        </p:txBody>
      </p:sp>
      <p:sp>
        <p:nvSpPr>
          <p:cNvPr id="6" name="">
            <a:extLst xmlns:a="http://schemas.openxmlformats.org/drawingml/2006/main">
              <a:ext uri="{FF2B5EF4-FFF2-40B4-BE49-F238E27FC236}">
                <a16:creationId xmlns:a16="http://schemas.microsoft.com/office/drawing/2014/main" id="{6B65E5EB-60B3-4D4E-A857-083847F15C47}"/>
              </a:ext>
            </a:extLst>
          </p:cNvPr>
          <p:cNvSpPr>
            <a:spLocks xmlns:a="http://schemas.openxmlformats.org/drawingml/2006/main" noGrp="1"/>
          </p:cNvSpPr>
          <p:nvPr/>
        </p:nvSpPr>
        <p:spPr>
          <a:xfrm xmlns:a="http://schemas.openxmlformats.org/drawingml/2006/main">
            <a:off x="6286500" y="2314575"/>
            <a:ext cx="50482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Ages 2–12 on SMN therapy</a:t>
            </a:r>
          </a:p>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Pooled primary comparison</a:t>
            </a:r>
          </a:p>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Blocks myostatin activation</a:t>
            </a:r>
          </a:p>
        </p:txBody>
      </p:sp>
      <p:sp>
        <p:nvSpPr>
          <p:cNvPr id="7" name="">
            <a:extLst xmlns:a="http://schemas.openxmlformats.org/drawingml/2006/main">
              <a:ext uri="{FF2B5EF4-FFF2-40B4-BE49-F238E27FC236}">
                <a16:creationId xmlns:a16="http://schemas.microsoft.com/office/drawing/2014/main" id="{C6AAF6BA-2CB7-4692-A1EE-56D61490A9EC}"/>
              </a:ext>
            </a:extLst>
          </p:cNvPr>
          <p:cNvSpPr>
            <a:spLocks xmlns:a="http://schemas.openxmlformats.org/drawingml/2006/main" noGrp="1"/>
          </p:cNvSpPr>
          <p:nvPr/>
        </p:nvSpPr>
        <p:spPr>
          <a:xfrm xmlns:a="http://schemas.openxmlformats.org/drawingml/2006/main">
            <a:off x="6286500" y="40005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B07827"/>
                </a:solidFill>
                <a:latin typeface="Aptos"/>
                <a:ea typeface="Aptos"/>
                <a:cs typeface="Aptos"/>
              </a:defRPr>
            </a:pPr>
            <a:r>
              <a:rPr sz="2025" b="1">
                <a:solidFill>
                  <a:srgbClr val="B07827"/>
                </a:solidFill>
                <a:latin typeface="Aptos"/>
                <a:ea typeface="Aptos"/>
                <a:cs typeface="Aptos"/>
              </a:rPr>
              <a:t>Limits and risk</a:t>
            </a:r>
          </a:p>
        </p:txBody>
      </p:sp>
      <p:sp>
        <p:nvSpPr>
          <p:cNvPr id="8" name="">
            <a:extLst xmlns:a="http://schemas.openxmlformats.org/drawingml/2006/main">
              <a:ext uri="{FF2B5EF4-FFF2-40B4-BE49-F238E27FC236}">
                <a16:creationId xmlns:a16="http://schemas.microsoft.com/office/drawing/2014/main" id="{9D180964-4EDC-40BB-89BA-11A5EB08A0CA}"/>
              </a:ext>
            </a:extLst>
          </p:cNvPr>
          <p:cNvSpPr>
            <a:spLocks xmlns:a="http://schemas.openxmlformats.org/drawingml/2006/main" noGrp="1"/>
          </p:cNvSpPr>
          <p:nvPr/>
        </p:nvSpPr>
        <p:spPr>
          <a:xfrm xmlns:a="http://schemas.openxmlformats.org/drawingml/2006/main">
            <a:off x="6286500" y="4486275"/>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250" b="0">
                <a:solidFill>
                  <a:srgbClr val="102E36"/>
                </a:solidFill>
                <a:latin typeface="Aptos"/>
                <a:ea typeface="Aptos"/>
                <a:cs typeface="Aptos"/>
              </a:defRPr>
            </a:pPr>
            <a:r>
              <a:rPr sz="2250" b="0">
                <a:solidFill>
                  <a:srgbClr val="102E36"/>
                </a:solidFill>
                <a:latin typeface="Aptos"/>
                <a:ea typeface="Aptos"/>
                <a:cs typeface="Aptos"/>
              </a:rPr>
              <a:t>No demonstrated MVA benefit
Fractures are a labeled risk</a:t>
            </a:r>
          </a:p>
        </p:txBody>
      </p:sp>
      <p:sp>
        <p:nvSpPr>
          <p:cNvPr id="9" name="">
            <a:extLst xmlns:a="http://schemas.openxmlformats.org/drawingml/2006/main">
              <a:ext uri="{FF2B5EF4-FFF2-40B4-BE49-F238E27FC236}">
                <a16:creationId xmlns:a16="http://schemas.microsoft.com/office/drawing/2014/main" id="{02678E2D-02C6-4C36-8167-03523F2B3B6C}"/>
              </a:ext>
            </a:extLst>
          </p:cNvPr>
          <p:cNvSpPr>
            <a:spLocks xmlns:a="http://schemas.openxmlformats.org/drawingml/2006/main" noGrp="1"/>
          </p:cNvSpPr>
          <p:nvPr/>
        </p:nvSpPr>
        <p:spPr>
          <a:xfrm xmlns:a="http://schemas.openxmlformats.org/drawingml/2006/main">
            <a:off x="685800" y="606742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48636A"/>
                </a:solidFill>
                <a:latin typeface="Aptos"/>
                <a:ea typeface="Aptos"/>
                <a:cs typeface="Aptos"/>
              </a:defRPr>
            </a:pPr>
            <a:r>
              <a:rPr sz="1650" b="0">
                <a:solidFill>
                  <a:srgbClr val="48636A"/>
                </a:solidFill>
                <a:latin typeface="Aptos"/>
                <a:ea typeface="Aptos"/>
                <a:cs typeface="Aptos"/>
              </a:rPr>
              <a:t>US-approved for SMA with SMN2-targeted therapy. Muscle benefit does not establish chromosome repair.</a:t>
            </a:r>
          </a:p>
        </p:txBody>
      </p:sp>
    </p:spTree>
    <p:extLst>
      <p:ext uri="{BB962C8B-B14F-4D97-AF65-F5344CB8AC3E}">
        <p14:creationId xmlns:p14="http://schemas.microsoft.com/office/powerpoint/2010/main" val="2020503096"/>
      </p:ext>
    </p:extLst>
  </p:cSld>
</p:sld>
</file>

<file path=ppt/slides/slide5.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785C2E-6576-4B04-B962-766A78A6FB8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FFFFFF"/>
                </a:solidFill>
                <a:latin typeface="Aptos"/>
                <a:ea typeface="Aptos"/>
                <a:cs typeface="Aptos"/>
              </a:defRPr>
            </a:pPr>
            <a:r>
              <a:rPr sz="3450" b="1">
                <a:solidFill>
                  <a:srgbClr val="FFFFFF"/>
                </a:solidFill>
                <a:latin typeface="Aptos"/>
                <a:ea typeface="Aptos"/>
                <a:cs typeface="Aptos"/>
              </a:rPr>
              <a:t>Cell selection and tissue output</a:t>
            </a:r>
          </a:p>
        </p:txBody>
      </p:sp>
      <p:sp>
        <p:nvSpPr>
          <p:cNvPr id="2" name="">
            <a:extLst xmlns:a="http://schemas.openxmlformats.org/drawingml/2006/main">
              <a:ext uri="{FF2B5EF4-FFF2-40B4-BE49-F238E27FC236}">
                <a16:creationId xmlns:a16="http://schemas.microsoft.com/office/drawing/2014/main" id="{9AC1AB03-0EC0-4342-A625-7B7D9583E92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B5CFCC"/>
                </a:solidFill>
                <a:latin typeface="Aptos"/>
                <a:ea typeface="Aptos"/>
                <a:cs typeface="Aptos"/>
              </a:defRPr>
            </a:pPr>
            <a:r>
              <a:rPr sz="1350" b="0">
                <a:solidFill>
                  <a:srgbClr val="B5CFCC"/>
                </a:solidFill>
                <a:latin typeface="Aptos"/>
                <a:ea typeface="Aptos"/>
                <a:cs typeface="Aptos"/>
              </a:rPr>
              <a:t>5 / 8</a:t>
            </a:r>
          </a:p>
        </p:txBody>
      </p:sp>
      <p:sp>
        <p:nvSpPr>
          <p:cNvPr id="3" name="">
            <a:extLst xmlns:a="http://schemas.openxmlformats.org/drawingml/2006/main">
              <a:ext uri="{FF2B5EF4-FFF2-40B4-BE49-F238E27FC236}">
                <a16:creationId xmlns:a16="http://schemas.microsoft.com/office/drawing/2014/main" id="{22766A22-A616-47CE-AFCA-C54B893DC61F}"/>
              </a:ext>
            </a:extLst>
          </p:cNvPr>
          <p:cNvSpPr>
            <a:spLocks xmlns:a="http://schemas.openxmlformats.org/drawingml/2006/main" noGrp="1"/>
          </p:cNvSpPr>
          <p:nvPr/>
        </p:nvSpPr>
        <p:spPr>
          <a:xfrm xmlns:a="http://schemas.openxmlformats.org/drawingml/2006/main">
            <a:off x="685800" y="1724025"/>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725" b="0">
                <a:solidFill>
                  <a:srgbClr val="B5CFCC"/>
                </a:solidFill>
                <a:latin typeface="Aptos"/>
                <a:ea typeface="Aptos"/>
                <a:cs typeface="Aptos"/>
              </a:defRPr>
            </a:pPr>
            <a:r>
              <a:rPr sz="1725" b="0">
                <a:solidFill>
                  <a:srgbClr val="B5CFCC"/>
                </a:solidFill>
                <a:latin typeface="Aptos"/>
                <a:ea typeface="Aptos"/>
                <a:cs typeface="Aptos"/>
              </a:rPr>
              <a:t>ONE ASSUMED COMPUTER SCENARIO</a:t>
            </a:r>
          </a:p>
        </p:txBody>
      </p:sp>
      <p:sp>
        <p:nvSpPr>
          <p:cNvPr id="4" name="">
            <a:extLst xmlns:a="http://schemas.openxmlformats.org/drawingml/2006/main">
              <a:ext uri="{FF2B5EF4-FFF2-40B4-BE49-F238E27FC236}">
                <a16:creationId xmlns:a16="http://schemas.microsoft.com/office/drawing/2014/main" id="{849301B9-66BE-401B-B21E-19D2361E4D17}"/>
              </a:ext>
            </a:extLst>
          </p:cNvPr>
          <p:cNvSpPr>
            <a:spLocks xmlns:a="http://schemas.openxmlformats.org/drawingml/2006/main" noGrp="1"/>
          </p:cNvSpPr>
          <p:nvPr/>
        </p:nvSpPr>
        <p:spPr>
          <a:xfrm xmlns:a="http://schemas.openxmlformats.org/drawingml/2006/main">
            <a:off x="685800" y="2543175"/>
            <a:ext cx="46196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6900" b="1">
                <a:solidFill>
                  <a:srgbClr val="80D2C5"/>
                </a:solidFill>
                <a:latin typeface="Aptos"/>
                <a:ea typeface="Aptos"/>
                <a:cs typeface="Aptos"/>
              </a:defRPr>
            </a:pPr>
            <a:r>
              <a:rPr sz="6900" b="1">
                <a:solidFill>
                  <a:srgbClr val="80D2C5"/>
                </a:solidFill>
                <a:latin typeface="Aptos"/>
                <a:ea typeface="Aptos"/>
                <a:cs typeface="Aptos"/>
              </a:rPr>
              <a:t>+16.8</a:t>
            </a:r>
          </a:p>
        </p:txBody>
      </p:sp>
      <p:sp>
        <p:nvSpPr>
          <p:cNvPr id="5" name="">
            <a:extLst xmlns:a="http://schemas.openxmlformats.org/drawingml/2006/main">
              <a:ext uri="{FF2B5EF4-FFF2-40B4-BE49-F238E27FC236}">
                <a16:creationId xmlns:a16="http://schemas.microsoft.com/office/drawing/2014/main" id="{9B66BB43-D8EE-4542-860D-21EAE4170EAB}"/>
              </a:ext>
            </a:extLst>
          </p:cNvPr>
          <p:cNvSpPr>
            <a:spLocks xmlns:a="http://schemas.openxmlformats.org/drawingml/2006/main" noGrp="1"/>
          </p:cNvSpPr>
          <p:nvPr/>
        </p:nvSpPr>
        <p:spPr>
          <a:xfrm xmlns:a="http://schemas.openxmlformats.org/drawingml/2006/main">
            <a:off x="74295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percentage points</a:t>
            </a:r>
          </a:p>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in chromosome-normal fraction</a:t>
            </a:r>
          </a:p>
        </p:txBody>
      </p:sp>
      <p:sp>
        <p:nvSpPr>
          <p:cNvPr id="6" name="">
            <a:extLst xmlns:a="http://schemas.openxmlformats.org/drawingml/2006/main">
              <a:ext uri="{FF2B5EF4-FFF2-40B4-BE49-F238E27FC236}">
                <a16:creationId xmlns:a16="http://schemas.microsoft.com/office/drawing/2014/main" id="{0C493782-5AF7-4FA0-92B0-59223DBD7ADD}"/>
              </a:ext>
            </a:extLst>
          </p:cNvPr>
          <p:cNvSpPr>
            <a:spLocks xmlns:a="http://schemas.openxmlformats.org/drawingml/2006/main" noGrp="1"/>
          </p:cNvSpPr>
          <p:nvPr/>
        </p:nvSpPr>
        <p:spPr>
          <a:xfrm xmlns:a="http://schemas.openxmlformats.org/drawingml/2006/main">
            <a:off x="6496050" y="2543175"/>
            <a:ext cx="4572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6900" b="1">
                <a:solidFill>
                  <a:srgbClr val="EAC185"/>
                </a:solidFill>
                <a:latin typeface="Aptos"/>
                <a:ea typeface="Aptos"/>
                <a:cs typeface="Aptos"/>
              </a:defRPr>
            </a:pPr>
            <a:r>
              <a:rPr sz="6900" b="1">
                <a:solidFill>
                  <a:srgbClr val="EAC185"/>
                </a:solidFill>
                <a:latin typeface="Aptos"/>
                <a:ea typeface="Aptos"/>
                <a:cs typeface="Aptos"/>
              </a:rPr>
              <a:t>−11.0%</a:t>
            </a:r>
          </a:p>
        </p:txBody>
      </p:sp>
      <p:sp>
        <p:nvSpPr>
          <p:cNvPr id="7" name="">
            <a:extLst xmlns:a="http://schemas.openxmlformats.org/drawingml/2006/main">
              <a:ext uri="{FF2B5EF4-FFF2-40B4-BE49-F238E27FC236}">
                <a16:creationId xmlns:a16="http://schemas.microsoft.com/office/drawing/2014/main" id="{185FDE1E-5086-4515-85BF-49A67142321E}"/>
              </a:ext>
            </a:extLst>
          </p:cNvPr>
          <p:cNvSpPr>
            <a:spLocks xmlns:a="http://schemas.openxmlformats.org/drawingml/2006/main" noGrp="1"/>
          </p:cNvSpPr>
          <p:nvPr/>
        </p:nvSpPr>
        <p:spPr>
          <a:xfrm xmlns:a="http://schemas.openxmlformats.org/drawingml/2006/main">
            <a:off x="6553200" y="3886200"/>
            <a:ext cx="4857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in total differentiated-cell time</a:t>
            </a:r>
          </a:p>
          <a:p xmlns:a="http://schemas.openxmlformats.org/drawingml/2006/main">
            <a:pPr>
              <a:buNone/>
              <a:defRPr sz="2325" b="0">
                <a:solidFill>
                  <a:srgbClr val="FFFFFF"/>
                </a:solidFill>
                <a:latin typeface="Aptos"/>
                <a:ea typeface="Aptos"/>
                <a:cs typeface="Aptos"/>
              </a:defRPr>
            </a:pPr>
            <a:r>
              <a:rPr sz="2325" b="0">
                <a:solidFill>
                  <a:srgbClr val="FFFFFF"/>
                </a:solidFill>
                <a:latin typeface="Aptos"/>
                <a:ea typeface="Aptos"/>
                <a:cs typeface="Aptos"/>
              </a:rPr>
              <a:t>(a model measure of output)</a:t>
            </a:r>
          </a:p>
        </p:txBody>
      </p:sp>
      <p:sp>
        <p:nvSpPr>
          <p:cNvPr id="8" name="">
            <a:extLst xmlns:a="http://schemas.openxmlformats.org/drawingml/2006/main">
              <a:ext uri="{FF2B5EF4-FFF2-40B4-BE49-F238E27FC236}">
                <a16:creationId xmlns:a16="http://schemas.microsoft.com/office/drawing/2014/main" id="{6392F509-BF21-4FDF-A96B-ACCC04FC0C29}"/>
              </a:ext>
            </a:extLst>
          </p:cNvPr>
          <p:cNvSpPr>
            <a:spLocks xmlns:a="http://schemas.openxmlformats.org/drawingml/2006/main" noGrp="1"/>
          </p:cNvSpPr>
          <p:nvPr/>
        </p:nvSpPr>
        <p:spPr>
          <a:xfrm xmlns:a="http://schemas.openxmlformats.org/drawingml/2006/main">
            <a:off x="685800" y="53435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FFFFFF"/>
                </a:solidFill>
                <a:latin typeface="Aptos"/>
                <a:ea typeface="Aptos"/>
                <a:cs typeface="Aptos"/>
              </a:defRPr>
            </a:pPr>
            <a:r>
              <a:rPr sz="2025" b="1">
                <a:solidFill>
                  <a:srgbClr val="FFFFFF"/>
                </a:solidFill>
                <a:latin typeface="Aptos"/>
                <a:ea typeface="Aptos"/>
                <a:cs typeface="Aptos"/>
              </a:rPr>
              <a:t>An interactive tool for checking percentage gains against absolute output.</a:t>
            </a:r>
          </a:p>
        </p:txBody>
      </p:sp>
      <p:sp>
        <p:nvSpPr>
          <p:cNvPr id="9" name="">
            <a:extLst xmlns:a="http://schemas.openxmlformats.org/drawingml/2006/main">
              <a:ext uri="{FF2B5EF4-FFF2-40B4-BE49-F238E27FC236}">
                <a16:creationId xmlns:a16="http://schemas.microsoft.com/office/drawing/2014/main" id="{2107304E-0FB3-49E6-B657-6A13FF68A6F4}"/>
              </a:ext>
            </a:extLst>
          </p:cNvPr>
          <p:cNvSpPr>
            <a:spLocks xmlns:a="http://schemas.openxmlformats.org/drawingml/2006/main" noGrp="1"/>
          </p:cNvSpPr>
          <p:nvPr/>
        </p:nvSpPr>
        <p:spPr>
          <a:xfrm xmlns:a="http://schemas.openxmlformats.org/drawingml/2006/main">
            <a:off x="685800" y="6048375"/>
            <a:ext cx="10334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0">
                <a:solidFill>
                  <a:srgbClr val="B5CFCC"/>
                </a:solidFill>
                <a:latin typeface="Aptos"/>
                <a:ea typeface="Aptos"/>
                <a:cs typeface="Aptos"/>
              </a:defRPr>
            </a:pPr>
            <a:r>
              <a:rPr sz="1650" b="0">
                <a:solidFill>
                  <a:srgbClr val="B5CFCC"/>
                </a:solidFill>
                <a:latin typeface="Aptos"/>
                <a:ea typeface="Aptos"/>
                <a:cs typeface="Aptos"/>
              </a:rPr>
              <a:t>Assay-design result. These are not patient measurements or drug effects.</a:t>
            </a:r>
          </a:p>
        </p:txBody>
      </p:sp>
    </p:spTree>
    <p:extLst>
      <p:ext uri="{BB962C8B-B14F-4D97-AF65-F5344CB8AC3E}">
        <p14:creationId xmlns:p14="http://schemas.microsoft.com/office/powerpoint/2010/main" val="66177910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AEB073-1540-41D5-8A1D-9F0C6BD8C368}"/>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The experiment must show useful muscle</a:t>
            </a:r>
          </a:p>
        </p:txBody>
      </p:sp>
      <p:sp>
        <p:nvSpPr>
          <p:cNvPr id="2" name="">
            <a:extLst xmlns:a="http://schemas.openxmlformats.org/drawingml/2006/main">
              <a:ext uri="{FF2B5EF4-FFF2-40B4-BE49-F238E27FC236}">
                <a16:creationId xmlns:a16="http://schemas.microsoft.com/office/drawing/2014/main" id="{9DBA6A9D-5FB2-4ACD-8120-20A65E289D66}"/>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6 / 8</a:t>
            </a:r>
          </a:p>
        </p:txBody>
      </p:sp>
      <p:graphicFrame>
        <p:nvGraphicFramePr>
          <p:cNvPr id="10" name=""/>
          <p:cNvGraphicFramePr/>
          <p:nvPr/>
        </p:nvGraphicFramePr>
        <p:xfrm>
          <a:off xmlns:a="http://schemas.openxmlformats.org/drawingml/2006/main" x="685800" y="1876425"/>
          <a:ext xmlns:a="http://schemas.openxmlformats.org/drawingml/2006/main" cx="10820400" cy="3171825"/>
        </p:xfrm>
        <a:graphic xmlns:a="http://schemas.openxmlformats.org/drawingml/2006/main">
          <a:graphicData uri="http://schemas.openxmlformats.org/drawingml/2006/table">
            <a:tbl>
              <a:tblPr/>
              <a:tblGrid>
                <a:gridCol w="3571875"/>
                <a:gridCol w="7248525"/>
              </a:tblGrid>
              <a:tr h="792956">
                <a:tc>
                  <a:txBody>
                    <a:bodyPr>
                      <a:noAutofit/>
                    </a:bodyPr>
                    <a:lstStyle/>
                    <a:p>
                      <a:r>
                        <a:rPr sz="1800" b="1">
                          <a:solidFill>
                            <a:srgbClr val="FFFFFF"/>
                          </a:solidFill>
                          <a:latin typeface="Aptos"/>
                          <a:ea typeface="Aptos"/>
                          <a:cs typeface="Aptos"/>
                        </a:rPr>
                        <a:t>Required result</a:t>
                      </a:r>
                    </a:p>
                  </a:txBody>
                  <a:tcPr marL="152400" marR="152400" marT="114300" marB="114300" anchor="ctr">
                    <a:solidFill>
                      <a:srgbClr val="167A78"/>
                    </a:solidFill>
                  </a:tcPr>
                </a:tc>
                <a:tc>
                  <a:txBody>
                    <a:bodyPr>
                      <a:noAutofit/>
                    </a:bodyPr>
                    <a:lstStyle/>
                    <a:p>
                      <a:r>
                        <a:rPr sz="1800" b="1">
                          <a:solidFill>
                            <a:srgbClr val="FFFFFF"/>
                          </a:solidFill>
                          <a:latin typeface="Aptos"/>
                          <a:ea typeface="Aptos"/>
                          <a:cs typeface="Aptos"/>
                        </a:rPr>
                        <a:t>How we would judge it</a:t>
                      </a:r>
                    </a:p>
                  </a:txBody>
                  <a:tcPr marL="152400" marR="152400" marT="114300" marB="114300" anchor="ctr">
                    <a:solidFill>
                      <a:srgbClr val="167A78"/>
                    </a:solidFill>
                  </a:tcPr>
                </a:tc>
              </a:tr>
              <a:tr h="792956">
                <a:tc>
                  <a:txBody>
                    <a:bodyPr>
                      <a:noAutofit/>
                    </a:bodyPr>
                    <a:lstStyle/>
                    <a:p>
                      <a:r>
                        <a:rPr sz="1950" b="1">
                          <a:solidFill>
                            <a:srgbClr val="102E36"/>
                          </a:solidFill>
                          <a:latin typeface="Aptos"/>
                          <a:ea typeface="Aptos"/>
                          <a:cs typeface="Aptos"/>
                        </a:rPr>
                        <a:t>Useful function</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More force in established muscle OR more new muscle output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Preserved capacity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The other muscle cohort and its renewable cell reserve remain intact</a:t>
                      </a:r>
                    </a:p>
                  </a:txBody>
                  <a:tcPr marL="152400" marR="152400" marT="114300" marB="114300" anchor="ctr">
                    <a:solidFill>
                      <a:srgbClr val="F6F3EC"/>
                    </a:solidFill>
                  </a:tcPr>
                </a:tc>
              </a:tr>
              <a:tr h="792956">
                <a:tc>
                  <a:txBody>
                    <a:bodyPr>
                      <a:noAutofit/>
                    </a:bodyPr>
                    <a:lstStyle/>
                    <a:p>
                      <a:r>
                        <a:rPr sz="1950" b="1">
                          <a:solidFill>
                            <a:srgbClr val="102E36"/>
                          </a:solidFill>
                          <a:latin typeface="Aptos"/>
                          <a:ea typeface="Aptos"/>
                          <a:cs typeface="Aptos"/>
                        </a:rPr>
                        <a:t>Chromosome fidelity</a:t>
                      </a:r>
                    </a:p>
                  </a:txBody>
                  <a:tcPr marL="152400" marR="152400" marT="114300" marB="114300" anchor="ctr">
                    <a:solidFill>
                      <a:srgbClr val="F6F3EC"/>
                    </a:solidFill>
                  </a:tcPr>
                </a:tc>
                <a:tc>
                  <a:txBody>
                    <a:bodyPr>
                      <a:noAutofit/>
                    </a:bodyPr>
                    <a:lstStyle/>
                    <a:p>
                      <a:r>
                        <a:rPr sz="1950" b="0">
                          <a:solidFill>
                            <a:srgbClr val="102E36"/>
                          </a:solidFill>
                          <a:latin typeface="Aptos"/>
                          <a:ea typeface="Aptos"/>
                          <a:cs typeface="Aptos"/>
                        </a:rPr>
                        <a:t>Errors do not worsen; restoration needs its own causal evidence</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2D688475-E2F2-4361-B596-F5F5FD51F3F1}"/>
              </a:ext>
            </a:extLst>
          </p:cNvPr>
          <p:cNvSpPr>
            <a:spLocks xmlns:a="http://schemas.openxmlformats.org/drawingml/2006/main" noGrp="1"/>
          </p:cNvSpPr>
          <p:nvPr/>
        </p:nvSpPr>
        <p:spPr>
          <a:xfrm xmlns:a="http://schemas.openxmlformats.org/drawingml/2006/main">
            <a:off x="685800" y="533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67A78"/>
                </a:solidFill>
                <a:latin typeface="Aptos"/>
                <a:ea typeface="Aptos"/>
                <a:cs typeface="Aptos"/>
              </a:defRPr>
            </a:pPr>
            <a:r>
              <a:rPr sz="2025" b="1">
                <a:solidFill>
                  <a:srgbClr val="167A78"/>
                </a:solidFill>
                <a:latin typeface="Aptos"/>
                <a:ea typeface="Aptos"/>
                <a:cs typeface="Aptos"/>
              </a:rPr>
              <a:t>Affected and genetically corrected models. Separate drug arms.</a:t>
            </a:r>
          </a:p>
        </p:txBody>
      </p:sp>
      <p:sp>
        <p:nvSpPr>
          <p:cNvPr id="5" name="">
            <a:extLst xmlns:a="http://schemas.openxmlformats.org/drawingml/2006/main">
              <a:ext uri="{FF2B5EF4-FFF2-40B4-BE49-F238E27FC236}">
                <a16:creationId xmlns:a16="http://schemas.microsoft.com/office/drawing/2014/main" id="{714B80F6-394C-4981-B9FA-5BED85A15294}"/>
              </a:ext>
            </a:extLst>
          </p:cNvPr>
          <p:cNvSpPr>
            <a:spLocks xmlns:a="http://schemas.openxmlformats.org/drawingml/2006/main" noGrp="1"/>
          </p:cNvSpPr>
          <p:nvPr/>
        </p:nvSpPr>
        <p:spPr>
          <a:xfrm xmlns:a="http://schemas.openxmlformats.org/drawingml/2006/main">
            <a:off x="685800" y="58483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00" b="0">
                <a:solidFill>
                  <a:srgbClr val="48636A"/>
                </a:solidFill>
                <a:latin typeface="Aptos"/>
                <a:ea typeface="Aptos"/>
                <a:cs typeface="Aptos"/>
              </a:defRPr>
            </a:pPr>
            <a:r>
              <a:rPr sz="1800" b="0">
                <a:solidFill>
                  <a:srgbClr val="48636A"/>
                </a:solidFill>
                <a:latin typeface="Aptos"/>
                <a:ea typeface="Aptos"/>
                <a:cs typeface="Aptos"/>
              </a:rPr>
              <a:t>Independent confirmation, then tumor and cancer-treatment compatibility.</a:t>
            </a:r>
          </a:p>
        </p:txBody>
      </p:sp>
    </p:spTree>
    <p:extLst>
      <p:ext uri="{BB962C8B-B14F-4D97-AF65-F5344CB8AC3E}">
        <p14:creationId xmlns:p14="http://schemas.microsoft.com/office/powerpoint/2010/main" val="1341361264"/>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57F913F-581C-4198-9C53-01FA4D95D26A}"/>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102E36"/>
                </a:solidFill>
                <a:latin typeface="Aptos"/>
                <a:ea typeface="Aptos"/>
                <a:cs typeface="Aptos"/>
              </a:defRPr>
            </a:pPr>
            <a:r>
              <a:rPr sz="3450" b="1">
                <a:solidFill>
                  <a:srgbClr val="102E36"/>
                </a:solidFill>
                <a:latin typeface="Aptos"/>
                <a:ea typeface="Aptos"/>
                <a:cs typeface="Aptos"/>
              </a:rPr>
              <a:t>A broad search changed our comparison</a:t>
            </a:r>
          </a:p>
        </p:txBody>
      </p:sp>
      <p:sp>
        <p:nvSpPr>
          <p:cNvPr id="2" name="">
            <a:extLst xmlns:a="http://schemas.openxmlformats.org/drawingml/2006/main">
              <a:ext uri="{FF2B5EF4-FFF2-40B4-BE49-F238E27FC236}">
                <a16:creationId xmlns:a16="http://schemas.microsoft.com/office/drawing/2014/main" id="{2070F33B-0965-48EB-B5D5-3F6C0B226090}"/>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48636A"/>
                </a:solidFill>
                <a:latin typeface="Aptos"/>
                <a:ea typeface="Aptos"/>
                <a:cs typeface="Aptos"/>
              </a:defRPr>
            </a:pPr>
            <a:r>
              <a:rPr sz="1350" b="0">
                <a:solidFill>
                  <a:srgbClr val="48636A"/>
                </a:solidFill>
                <a:latin typeface="Aptos"/>
                <a:ea typeface="Aptos"/>
                <a:cs typeface="Aptos"/>
              </a:rPr>
              <a:t>7 / 8</a:t>
            </a:r>
          </a:p>
        </p:txBody>
      </p:sp>
      <p:graphicFrame>
        <p:nvGraphicFramePr>
          <p:cNvPr id="9" name=""/>
          <p:cNvGraphicFramePr/>
          <p:nvPr/>
        </p:nvGraphicFramePr>
        <p:xfrm>
          <a:off xmlns:a="http://schemas.openxmlformats.org/drawingml/2006/main" x="685800" y="1885950"/>
          <a:ext xmlns:a="http://schemas.openxmlformats.org/drawingml/2006/main" cx="10820400" cy="3238500"/>
        </p:xfrm>
        <a:graphic xmlns:a="http://schemas.openxmlformats.org/drawingml/2006/main">
          <a:graphicData uri="http://schemas.openxmlformats.org/drawingml/2006/table">
            <a:tbl>
              <a:tblPr/>
              <a:tblGrid>
                <a:gridCol w="3429000"/>
                <a:gridCol w="7391400"/>
              </a:tblGrid>
              <a:tr h="809625">
                <a:tc>
                  <a:txBody>
                    <a:bodyPr>
                      <a:noAutofit/>
                    </a:bodyPr>
                    <a:lstStyle/>
                    <a:p>
                      <a:r>
                        <a:rPr sz="1875" b="1">
                          <a:solidFill>
                            <a:srgbClr val="FFFFFF"/>
                          </a:solidFill>
                          <a:latin typeface="Aptos"/>
                          <a:ea typeface="Aptos"/>
                          <a:cs typeface="Aptos"/>
                        </a:rPr>
                        <a:t>Research role</a:t>
                      </a:r>
                    </a:p>
                  </a:txBody>
                  <a:tcPr marL="152400" marR="152400" marT="114300" marB="114300" anchor="ctr">
                    <a:solidFill>
                      <a:srgbClr val="167A78"/>
                    </a:solidFill>
                  </a:tcPr>
                </a:tc>
                <a:tc>
                  <a:txBody>
                    <a:bodyPr>
                      <a:noAutofit/>
                    </a:bodyPr>
                    <a:lstStyle/>
                    <a:p>
                      <a:r>
                        <a:rPr sz="1875" b="1">
                          <a:solidFill>
                            <a:srgbClr val="FFFFFF"/>
                          </a:solidFill>
                          <a:latin typeface="Aptos"/>
                          <a:ea typeface="Aptos"/>
                          <a:cs typeface="Aptos"/>
                        </a:rPr>
                        <a:t>Evidence and decision</a:t>
                      </a:r>
                    </a:p>
                  </a:txBody>
                  <a:tcPr marL="152400" marR="152400" marT="114300" marB="114300" anchor="ctr">
                    <a:solidFill>
                      <a:srgbClr val="167A78"/>
                    </a:solidFill>
                  </a:tcPr>
                </a:tc>
              </a:tr>
              <a:tr h="809625">
                <a:tc>
                  <a:txBody>
                    <a:bodyPr>
                      <a:noAutofit/>
                    </a:bodyPr>
                    <a:lstStyle/>
                    <a:p>
                      <a:r>
                        <a:rPr sz="2100" b="1">
                          <a:solidFill>
                            <a:srgbClr val="102E36"/>
                          </a:solidFill>
                          <a:latin typeface="Aptos"/>
                          <a:ea typeface="Aptos"/>
                          <a:cs typeface="Aptos"/>
                        </a:rPr>
                        <a:t>Niacin</a:t>
                      </a:r>
                    </a:p>
                  </a:txBody>
                  <a:tcPr marL="152400" marR="152400" marT="114300" marB="114300" anchor="ctr">
                    <a:solidFill>
                      <a:srgbClr val="F6F3EC"/>
                    </a:solidFill>
                  </a:tcPr>
                </a:tc>
                <a:tc>
                  <a:txBody>
                    <a:bodyPr>
                      <a:noAutofit/>
                    </a:bodyPr>
                    <a:lstStyle/>
                    <a:p>
                      <a:r>
                        <a:rPr sz="2100" b="0">
                          <a:solidFill>
                            <a:srgbClr val="102E36"/>
                          </a:solidFill>
                          <a:latin typeface="Aptos"/>
                          <a:ea typeface="Aptos"/>
                          <a:cs typeface="Aptos"/>
                        </a:rPr>
                        <a:t>Retain the BUBR1-restoration hypothesis. Actual-genotype rescue remains unproved.</a:t>
                      </a:r>
                    </a:p>
                  </a:txBody>
                  <a:tcPr marL="152400" marR="152400" marT="114300" marB="114300" anchor="ctr">
                    <a:solidFill>
                      <a:srgbClr val="F6F3EC"/>
                    </a:solidFill>
                  </a:tcPr>
                </a:tc>
              </a:tr>
              <a:tr h="809625">
                <a:tc>
                  <a:txBody>
                    <a:bodyPr>
                      <a:noAutofit/>
                    </a:bodyPr>
                    <a:lstStyle/>
                    <a:p>
                      <a:r>
                        <a:rPr sz="2100" b="1">
                          <a:solidFill>
                            <a:srgbClr val="102E36"/>
                          </a:solidFill>
                          <a:latin typeface="Aptos"/>
                          <a:ea typeface="Aptos"/>
                          <a:cs typeface="Aptos"/>
                        </a:rPr>
                        <a:t>Apitegromab</a:t>
                      </a:r>
                    </a:p>
                  </a:txBody>
                  <a:tcPr marL="152400" marR="152400" marT="114300" marB="114300" anchor="ctr">
                    <a:solidFill>
                      <a:srgbClr val="F6F3EC"/>
                    </a:solidFill>
                  </a:tcPr>
                </a:tc>
                <a:tc>
                  <a:txBody>
                    <a:bodyPr>
                      <a:noAutofit/>
                    </a:bodyPr>
                    <a:lstStyle/>
                    <a:p>
                      <a:r>
                        <a:rPr sz="2100" b="0">
                          <a:solidFill>
                            <a:srgbClr val="102E36"/>
                          </a:solidFill>
                          <a:latin typeface="Aptos"/>
                          <a:ea typeface="Aptos"/>
                          <a:cs typeface="Aptos"/>
                        </a:rPr>
                        <a:t>Stronger downstream muscle comparator than everolimus. MVA transfer is unknown.</a:t>
                      </a:r>
                    </a:p>
                  </a:txBody>
                  <a:tcPr marL="152400" marR="152400" marT="114300" marB="114300" anchor="ctr">
                    <a:solidFill>
                      <a:srgbClr val="F6F3EC"/>
                    </a:solidFill>
                  </a:tcPr>
                </a:tc>
              </a:tr>
              <a:tr h="809625">
                <a:tc>
                  <a:txBody>
                    <a:bodyPr>
                      <a:noAutofit/>
                    </a:bodyPr>
                    <a:lstStyle/>
                    <a:p>
                      <a:r>
                        <a:rPr sz="2100" b="1">
                          <a:solidFill>
                            <a:srgbClr val="102E36"/>
                          </a:solidFill>
                          <a:latin typeface="Aptos"/>
                          <a:ea typeface="Aptos"/>
                          <a:cs typeface="Aptos"/>
                        </a:rPr>
                        <a:t>Everolimus</a:t>
                      </a:r>
                    </a:p>
                  </a:txBody>
                  <a:tcPr marL="152400" marR="152400" marT="114300" marB="114300" anchor="ctr">
                    <a:solidFill>
                      <a:srgbClr val="F6F3EC"/>
                    </a:solidFill>
                  </a:tcPr>
                </a:tc>
                <a:tc>
                  <a:txBody>
                    <a:bodyPr>
                      <a:noAutofit/>
                    </a:bodyPr>
                    <a:lstStyle/>
                    <a:p>
                      <a:r>
                        <a:rPr sz="2100" b="0">
                          <a:solidFill>
                            <a:srgbClr val="102E36"/>
                          </a:solidFill>
                          <a:latin typeface="Aptos"/>
                          <a:ea typeface="Aptos"/>
                          <a:cs typeface="Aptos"/>
                        </a:rPr>
                        <a:t>Conditional signaling probe. Relevant pathway excess and functional benefit remain unproved.</a:t>
                      </a:r>
                    </a:p>
                  </a:txBody>
                  <a:tcPr marL="152400" marR="152400" marT="114300" marB="114300" anchor="ctr">
                    <a:solidFill>
                      <a:srgbClr val="F6F3EC"/>
                    </a:solidFill>
                  </a:tcPr>
                </a:tc>
              </a:tr>
            </a:tbl>
          </a:graphicData>
        </a:graphic>
      </p:graphicFrame>
      <p:sp>
        <p:nvSpPr>
          <p:cNvPr id="4" name="">
            <a:extLst xmlns:a="http://schemas.openxmlformats.org/drawingml/2006/main">
              <a:ext uri="{FF2B5EF4-FFF2-40B4-BE49-F238E27FC236}">
                <a16:creationId xmlns:a16="http://schemas.microsoft.com/office/drawing/2014/main" id="{A6533D6A-ED04-459C-9022-DBC5BA6630A2}"/>
              </a:ext>
            </a:extLst>
          </p:cNvPr>
          <p:cNvSpPr>
            <a:spLocks xmlns:a="http://schemas.openxmlformats.org/drawingml/2006/main" noGrp="1"/>
          </p:cNvSpPr>
          <p:nvPr/>
        </p:nvSpPr>
        <p:spPr>
          <a:xfrm xmlns:a="http://schemas.openxmlformats.org/drawingml/2006/main">
            <a:off x="685800" y="54102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175" b="1">
                <a:solidFill>
                  <a:srgbClr val="167A78"/>
                </a:solidFill>
                <a:latin typeface="Aptos"/>
                <a:ea typeface="Aptos"/>
                <a:cs typeface="Aptos"/>
              </a:defRPr>
            </a:pPr>
            <a:r>
              <a:rPr sz="2175" b="1">
                <a:solidFill>
                  <a:srgbClr val="167A78"/>
                </a:solidFill>
                <a:latin typeface="Aptos"/>
                <a:ea typeface="Aptos"/>
                <a:cs typeface="Aptos"/>
              </a:rPr>
              <a:t>Over 15,000 clinical and regulatory entries screened.
Missing evidence remains unknown.</a:t>
            </a:r>
          </a:p>
        </p:txBody>
      </p:sp>
    </p:spTree>
    <p:extLst>
      <p:ext uri="{BB962C8B-B14F-4D97-AF65-F5344CB8AC3E}">
        <p14:creationId xmlns:p14="http://schemas.microsoft.com/office/powerpoint/2010/main" val="1461233534"/>
      </p:ext>
    </p:extLst>
  </p:cSld>
</p:sld>
</file>

<file path=ppt/slides/slide8.xml><?xml version="1.0" encoding="utf-8"?>
<p:sld xmlns:p="http://schemas.openxmlformats.org/presentationml/2006/main">
  <p:cSld>
    <p:bg>
      <p:bgPr>
        <a:solidFill xmlns:a="http://schemas.openxmlformats.org/drawingml/2006/main">
          <a:srgbClr val="102E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AA55D1-2D84-4245-83BC-3648B30EAC7E}"/>
              </a:ext>
            </a:extLst>
          </p:cNvPr>
          <p:cNvSpPr>
            <a:spLocks xmlns:a="http://schemas.openxmlformats.org/drawingml/2006/main" noGrp="1"/>
          </p:cNvSpPr>
          <p:nvPr/>
        </p:nvSpPr>
        <p:spPr>
          <a:xfrm xmlns:a="http://schemas.openxmlformats.org/drawingml/2006/main">
            <a:off x="685800" y="457200"/>
            <a:ext cx="1082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450" b="1">
                <a:solidFill>
                  <a:srgbClr val="FFFFFF"/>
                </a:solidFill>
                <a:latin typeface="Aptos"/>
                <a:ea typeface="Aptos"/>
                <a:cs typeface="Aptos"/>
              </a:defRPr>
            </a:pPr>
            <a:r>
              <a:rPr sz="3450" b="1">
                <a:solidFill>
                  <a:srgbClr val="FFFFFF"/>
                </a:solidFill>
                <a:latin typeface="Aptos"/>
                <a:ea typeface="Aptos"/>
                <a:cs typeface="Aptos"/>
              </a:rPr>
              <a:t>Public reuse and the next experiment</a:t>
            </a:r>
          </a:p>
        </p:txBody>
      </p:sp>
      <p:sp>
        <p:nvSpPr>
          <p:cNvPr id="2" name="">
            <a:extLst xmlns:a="http://schemas.openxmlformats.org/drawingml/2006/main">
              <a:ext uri="{FF2B5EF4-FFF2-40B4-BE49-F238E27FC236}">
                <a16:creationId xmlns:a16="http://schemas.microsoft.com/office/drawing/2014/main" id="{C9F51134-BD28-4C3D-8FCB-20003D50C7FB}"/>
              </a:ext>
            </a:extLst>
          </p:cNvPr>
          <p:cNvSpPr>
            <a:spLocks xmlns:a="http://schemas.openxmlformats.org/drawingml/2006/main" noGrp="1"/>
          </p:cNvSpPr>
          <p:nvPr/>
        </p:nvSpPr>
        <p:spPr>
          <a:xfrm xmlns:a="http://schemas.openxmlformats.org/drawingml/2006/main">
            <a:off x="10801350" y="6305550"/>
            <a:ext cx="70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350" b="0">
                <a:solidFill>
                  <a:srgbClr val="B5CFCC"/>
                </a:solidFill>
                <a:latin typeface="Aptos"/>
                <a:ea typeface="Aptos"/>
                <a:cs typeface="Aptos"/>
              </a:defRPr>
            </a:pPr>
            <a:r>
              <a:rPr sz="1350" b="0">
                <a:solidFill>
                  <a:srgbClr val="B5CFCC"/>
                </a:solidFill>
                <a:latin typeface="Aptos"/>
                <a:ea typeface="Aptos"/>
                <a:cs typeface="Aptos"/>
              </a:rPr>
              <a:t>8 / 8</a:t>
            </a:r>
          </a:p>
        </p:txBody>
      </p:sp>
      <p:sp>
        <p:nvSpPr>
          <p:cNvPr id="3" name="">
            <a:extLst xmlns:a="http://schemas.openxmlformats.org/drawingml/2006/main">
              <a:ext uri="{FF2B5EF4-FFF2-40B4-BE49-F238E27FC236}">
                <a16:creationId xmlns:a16="http://schemas.microsoft.com/office/drawing/2014/main" id="{7FA7011D-59BE-4686-8B4B-D04438D6B368}"/>
              </a:ext>
            </a:extLst>
          </p:cNvPr>
          <p:cNvSpPr>
            <a:spLocks xmlns:a="http://schemas.openxmlformats.org/drawingml/2006/main" noGrp="1"/>
          </p:cNvSpPr>
          <p:nvPr/>
        </p:nvSpPr>
        <p:spPr>
          <a:xfrm xmlns:a="http://schemas.openxmlformats.org/drawingml/2006/main">
            <a:off x="685800" y="1828800"/>
            <a:ext cx="466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475" b="1">
                <a:solidFill>
                  <a:srgbClr val="80D2C5"/>
                </a:solidFill>
                <a:latin typeface="Aptos"/>
                <a:ea typeface="Aptos"/>
                <a:cs typeface="Aptos"/>
              </a:defRPr>
            </a:pPr>
            <a:r>
              <a:rPr sz="2475" b="1">
                <a:solidFill>
                  <a:srgbClr val="80D2C5"/>
                </a:solidFill>
                <a:latin typeface="Aptos"/>
                <a:ea typeface="Aptos"/>
                <a:cs typeface="Aptos"/>
              </a:rPr>
              <a:t>Completed</a:t>
            </a:r>
          </a:p>
        </p:txBody>
      </p:sp>
      <p:sp>
        <p:nvSpPr>
          <p:cNvPr id="4" name="">
            <a:extLst xmlns:a="http://schemas.openxmlformats.org/drawingml/2006/main">
              <a:ext uri="{FF2B5EF4-FFF2-40B4-BE49-F238E27FC236}">
                <a16:creationId xmlns:a16="http://schemas.microsoft.com/office/drawing/2014/main" id="{51118B62-6488-46D8-80E0-8FD24CF82404}"/>
              </a:ext>
            </a:extLst>
          </p:cNvPr>
          <p:cNvSpPr>
            <a:spLocks xmlns:a="http://schemas.openxmlformats.org/drawingml/2006/main" noGrp="1"/>
          </p:cNvSpPr>
          <p:nvPr/>
        </p:nvSpPr>
        <p:spPr>
          <a:xfrm xmlns:a="http://schemas.openxmlformats.org/drawingml/2006/main">
            <a:off x="685800" y="2600325"/>
            <a:ext cx="5191125"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Two sequence examples</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BUB1B and synthetic TRIP13</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Reusable output explorer</a:t>
            </a:r>
          </a:p>
        </p:txBody>
      </p:sp>
      <p:sp>
        <p:nvSpPr>
          <p:cNvPr id="5" name="">
            <a:extLst xmlns:a="http://schemas.openxmlformats.org/drawingml/2006/main">
              <a:ext uri="{FF2B5EF4-FFF2-40B4-BE49-F238E27FC236}">
                <a16:creationId xmlns:a16="http://schemas.microsoft.com/office/drawing/2014/main" id="{519C828D-A744-4785-9085-867DFAC210BB}"/>
              </a:ext>
            </a:extLst>
          </p:cNvPr>
          <p:cNvSpPr>
            <a:spLocks xmlns:a="http://schemas.openxmlformats.org/drawingml/2006/main" noGrp="1"/>
          </p:cNvSpPr>
          <p:nvPr/>
        </p:nvSpPr>
        <p:spPr>
          <a:xfrm xmlns:a="http://schemas.openxmlformats.org/drawingml/2006/main">
            <a:off x="6496050" y="1828800"/>
            <a:ext cx="4953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475" b="1">
                <a:solidFill>
                  <a:srgbClr val="EAC185"/>
                </a:solidFill>
                <a:latin typeface="Aptos"/>
                <a:ea typeface="Aptos"/>
                <a:cs typeface="Aptos"/>
              </a:defRPr>
            </a:pPr>
            <a:r>
              <a:rPr sz="2475" b="1">
                <a:solidFill>
                  <a:srgbClr val="EAC185"/>
                </a:solidFill>
                <a:latin typeface="Aptos"/>
                <a:ea typeface="Aptos"/>
                <a:cs typeface="Aptos"/>
              </a:rPr>
              <a:t>Next dependency</a:t>
            </a:r>
          </a:p>
        </p:txBody>
      </p:sp>
      <p:sp>
        <p:nvSpPr>
          <p:cNvPr id="6" name="">
            <a:extLst xmlns:a="http://schemas.openxmlformats.org/drawingml/2006/main">
              <a:ext uri="{FF2B5EF4-FFF2-40B4-BE49-F238E27FC236}">
                <a16:creationId xmlns:a16="http://schemas.microsoft.com/office/drawing/2014/main" id="{4D7EEA18-A3A9-401A-B35E-EC60FE562BF0}"/>
              </a:ext>
            </a:extLst>
          </p:cNvPr>
          <p:cNvSpPr>
            <a:spLocks xmlns:a="http://schemas.openxmlformats.org/drawingml/2006/main" noGrp="1"/>
          </p:cNvSpPr>
          <p:nvPr/>
        </p:nvSpPr>
        <p:spPr>
          <a:xfrm xmlns:a="http://schemas.openxmlformats.org/drawingml/2006/main">
            <a:off x="6496050" y="2600325"/>
            <a:ext cx="4953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A consented cell model</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and a partner laboratory</a:t>
            </a:r>
          </a:p>
          <a:p xmlns:a="http://schemas.openxmlformats.org/drawingml/2006/main">
            <a:pPr>
              <a:buNone/>
              <a:defRPr sz="2550" b="0">
                <a:solidFill>
                  <a:srgbClr val="FFFFFF"/>
                </a:solidFill>
                <a:latin typeface="Aptos"/>
                <a:ea typeface="Aptos"/>
                <a:cs typeface="Aptos"/>
              </a:defRPr>
            </a:pPr>
            <a:r>
              <a:rPr sz="2550" b="0">
                <a:solidFill>
                  <a:srgbClr val="FFFFFF"/>
                </a:solidFill>
                <a:latin typeface="Aptos"/>
                <a:ea typeface="Aptos"/>
                <a:cs typeface="Aptos"/>
              </a:rPr>
              <a:t>for functional testing</a:t>
            </a:r>
          </a:p>
        </p:txBody>
      </p:sp>
      <p:sp>
        <p:nvSpPr>
          <p:cNvPr id="7" name="">
            <a:extLst xmlns:a="http://schemas.openxmlformats.org/drawingml/2006/main">
              <a:ext uri="{FF2B5EF4-FFF2-40B4-BE49-F238E27FC236}">
                <a16:creationId xmlns:a16="http://schemas.microsoft.com/office/drawing/2014/main" id="{4E556309-0585-4C8A-A2E3-01AEC3CCA6AE}"/>
              </a:ext>
            </a:extLst>
          </p:cNvPr>
          <p:cNvSpPr>
            <a:spLocks xmlns:a="http://schemas.openxmlformats.org/drawingml/2006/main" noGrp="1"/>
          </p:cNvSpPr>
          <p:nvPr/>
        </p:nvSpPr>
        <p:spPr>
          <a:xfrm xmlns:a="http://schemas.openxmlformats.org/drawingml/2006/main">
            <a:off x="685800" y="5143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75" b="1">
                <a:solidFill>
                  <a:srgbClr val="FFFFFF"/>
                </a:solidFill>
                <a:latin typeface="Aptos"/>
                <a:ea typeface="Aptos"/>
                <a:cs typeface="Aptos"/>
              </a:defRPr>
            </a:pPr>
            <a:r>
              <a:rPr sz="2775" b="1">
                <a:solidFill>
                  <a:srgbClr val="FFFFFF"/>
                </a:solidFill>
                <a:latin typeface="Aptos"/>
                <a:ea typeface="Aptos"/>
                <a:cs typeface="Aptos"/>
              </a:rPr>
              <a:t>Niacin restoration and apitegromab muscle compensation.
Test each medicine separately.</a:t>
            </a:r>
          </a:p>
        </p:txBody>
      </p:sp>
      <p:sp>
        <p:nvSpPr>
          <p:cNvPr id="8" name="">
            <a:extLst xmlns:a="http://schemas.openxmlformats.org/drawingml/2006/main">
              <a:ext uri="{FF2B5EF4-FFF2-40B4-BE49-F238E27FC236}">
                <a16:creationId xmlns:a16="http://schemas.microsoft.com/office/drawing/2014/main" id="{59828647-250F-4AAD-BB1D-3600BD52F705}"/>
              </a:ext>
            </a:extLst>
          </p:cNvPr>
          <p:cNvSpPr>
            <a:spLocks xmlns:a="http://schemas.openxmlformats.org/drawingml/2006/main" noGrp="1"/>
          </p:cNvSpPr>
          <p:nvPr/>
        </p:nvSpPr>
        <p:spPr>
          <a:xfrm xmlns:a="http://schemas.openxmlformats.org/drawingml/2006/main">
            <a:off x="685800" y="61531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00" b="0">
                <a:solidFill>
                  <a:srgbClr val="B5CFCC"/>
                </a:solidFill>
                <a:latin typeface="Aptos"/>
                <a:ea typeface="Aptos"/>
                <a:cs typeface="Aptos"/>
              </a:defRPr>
            </a:pPr>
            <a:r>
              <a:rPr sz="1500" b="0">
                <a:solidFill>
                  <a:srgbClr val="B5CFCC"/>
                </a:solidFill>
                <a:latin typeface="Aptos"/>
                <a:ea typeface="Aptos"/>
                <a:cs typeface="Aptos"/>
              </a:rPr>
              <a:t>No biological drug experiment has run.</a:t>
            </a:r>
          </a:p>
        </p:txBody>
      </p:sp>
    </p:spTree>
    <p:extLst>
      <p:ext uri="{BB962C8B-B14F-4D97-AF65-F5344CB8AC3E}">
        <p14:creationId xmlns:p14="http://schemas.microsoft.com/office/powerpoint/2010/main" val="649585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2026-09-22T00:45:48.0560000Z</dcterms:created>
  <dcterms:modified xsi:type="dcterms:W3CDTF">2026-09-22T00:45:48.0560000Z</dcterms:modified>
</coreProperties>
</file>