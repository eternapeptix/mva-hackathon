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6b8805715442af" /><Relationship Type="http://schemas.openxmlformats.org/officeDocument/2006/relationships/extended-properties" Target="/docProps/app.xml" Id="R83a26b85fecc415d" /><Relationship Type="http://schemas.openxmlformats.org/officeDocument/2006/relationships/officeDocument" Target="/ppt/presentation.xml" Id="R805ae661e8cb4780" /></Relationships>
</file>

<file path=ppt/presentation.xml><?xml version="1.0" encoding="utf-8"?>
<p:presentation xmlns:p="http://schemas.openxmlformats.org/presentationml/2006/main">
  <p:sldMasterIdLst>
    <p:sldMasterId xmlns:r="http://schemas.openxmlformats.org/officeDocument/2006/relationships" id="2147483648" r:id="R5a651e2cc8be4ae4"/>
  </p:sldMasterIdLst>
  <p:notesMasterIdLst>
    <p:notesMasterId xmlns:r="http://schemas.openxmlformats.org/officeDocument/2006/relationships" r:id="R00c31f57320247b5"/>
  </p:notesMasterIdLst>
  <p:sldIdLst>
    <p:sldId xmlns:r="http://schemas.openxmlformats.org/officeDocument/2006/relationships" id="256" r:id="R5c49f40aa19541bc"/>
    <p:sldId xmlns:r="http://schemas.openxmlformats.org/officeDocument/2006/relationships" id="257" r:id="R0d4f3e76154049bd"/>
    <p:sldId xmlns:r="http://schemas.openxmlformats.org/officeDocument/2006/relationships" id="258" r:id="Ref02a9c6f2704ca4"/>
    <p:sldId xmlns:r="http://schemas.openxmlformats.org/officeDocument/2006/relationships" id="259" r:id="R99aabc55bfbb4c0c"/>
    <p:sldId xmlns:r="http://schemas.openxmlformats.org/officeDocument/2006/relationships" id="260" r:id="Rf90daa3f5d82406c"/>
    <p:sldId xmlns:r="http://schemas.openxmlformats.org/officeDocument/2006/relationships" id="261" r:id="R45dd65b31e47470c"/>
    <p:sldId xmlns:r="http://schemas.openxmlformats.org/officeDocument/2006/relationships" id="262" r:id="Rd3c56b7ef7bc466f"/>
    <p:sldId xmlns:r="http://schemas.openxmlformats.org/officeDocument/2006/relationships" id="263" r:id="R0573f7a4efc6475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33442aa1724414a" /><Relationship Type="http://schemas.openxmlformats.org/officeDocument/2006/relationships/slideMaster" Target="/ppt/slideMasters/slideMaster1.xml" Id="R5a651e2cc8be4ae4" /><Relationship Type="http://schemas.openxmlformats.org/officeDocument/2006/relationships/notesMaster" Target="/ppt/notesMasters/notesMaster1.xml" Id="R00c31f57320247b5" /><Relationship Type="http://schemas.openxmlformats.org/officeDocument/2006/relationships/presProps" Target="/ppt/presProps.xml" Id="Ra0b234892e734bd5" /><Relationship Type="http://schemas.openxmlformats.org/officeDocument/2006/relationships/tableStyles" Target="/ppt/tableStyles.xml" Id="Rb741ff0a937d44d5" /><Relationship Type="http://schemas.openxmlformats.org/officeDocument/2006/relationships/slide" Target="/ppt/slides/slide1.xml" Id="R5c49f40aa19541bc" /><Relationship Type="http://schemas.openxmlformats.org/officeDocument/2006/relationships/slide" Target="/ppt/slides/slide2.xml" Id="R0d4f3e76154049bd" /><Relationship Type="http://schemas.openxmlformats.org/officeDocument/2006/relationships/slide" Target="/ppt/slides/slide3.xml" Id="Ref02a9c6f2704ca4" /><Relationship Type="http://schemas.openxmlformats.org/officeDocument/2006/relationships/slide" Target="/ppt/slides/slide4.xml" Id="R99aabc55bfbb4c0c" /><Relationship Type="http://schemas.openxmlformats.org/officeDocument/2006/relationships/slide" Target="/ppt/slides/slide5.xml" Id="Rf90daa3f5d82406c" /><Relationship Type="http://schemas.openxmlformats.org/officeDocument/2006/relationships/slide" Target="/ppt/slides/slide6.xml" Id="R45dd65b31e47470c" /><Relationship Type="http://schemas.openxmlformats.org/officeDocument/2006/relationships/slide" Target="/ppt/slides/slide7.xml" Id="Rd3c56b7ef7bc466f" /><Relationship Type="http://schemas.openxmlformats.org/officeDocument/2006/relationships/slide" Target="/ppt/slides/slide8.xml" Id="R0573f7a4efc6475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7d292d7bb35479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690429605994724" /><Relationship Type="http://schemas.openxmlformats.org/officeDocument/2006/relationships/notesMaster" Target="/ppt/notesMasters/notesMaster1.xml" Id="R68e438d475fc4e6b" /></Relationships>
</file>

<file path=ppt/notesSlides/_rels/notesSlide2.xml.rels>&#65279;<?xml version="1.0" encoding="utf-8"?><Relationships xmlns="http://schemas.openxmlformats.org/package/2006/relationships"><Relationship Type="http://schemas.openxmlformats.org/officeDocument/2006/relationships/slide" Target="/ppt/slides/slide2.xml" Id="R5da8dd73e646460b" /><Relationship Type="http://schemas.openxmlformats.org/officeDocument/2006/relationships/notesMaster" Target="/ppt/notesMasters/notesMaster1.xml" Id="R5f32b826cf9e408f"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cace45f8ec429d" /><Relationship Type="http://schemas.openxmlformats.org/officeDocument/2006/relationships/notesMaster" Target="/ppt/notesMasters/notesMaster1.xml" Id="Re369908d1c5b4fc5" /></Relationships>
</file>

<file path=ppt/notesSlides/_rels/notesSlide4.xml.rels>&#65279;<?xml version="1.0" encoding="utf-8"?><Relationships xmlns="http://schemas.openxmlformats.org/package/2006/relationships"><Relationship Type="http://schemas.openxmlformats.org/officeDocument/2006/relationships/slide" Target="/ppt/slides/slide4.xml" Id="Rb5a7c69fb2a544e3" /><Relationship Type="http://schemas.openxmlformats.org/officeDocument/2006/relationships/notesMaster" Target="/ppt/notesMasters/notesMaster1.xml" Id="R21f65c4fb06841ce" /></Relationships>
</file>

<file path=ppt/notesSlides/_rels/notesSlide5.xml.rels>&#65279;<?xml version="1.0" encoding="utf-8"?><Relationships xmlns="http://schemas.openxmlformats.org/package/2006/relationships"><Relationship Type="http://schemas.openxmlformats.org/officeDocument/2006/relationships/slide" Target="/ppt/slides/slide5.xml" Id="Rbb4d7295c0a34830" /><Relationship Type="http://schemas.openxmlformats.org/officeDocument/2006/relationships/notesMaster" Target="/ppt/notesMasters/notesMaster1.xml" Id="R2d3e66aec7fb49dd" /></Relationships>
</file>

<file path=ppt/notesSlides/_rels/notesSlide6.xml.rels>&#65279;<?xml version="1.0" encoding="utf-8"?><Relationships xmlns="http://schemas.openxmlformats.org/package/2006/relationships"><Relationship Type="http://schemas.openxmlformats.org/officeDocument/2006/relationships/slide" Target="/ppt/slides/slide6.xml" Id="R20b4b1d23b884365" /><Relationship Type="http://schemas.openxmlformats.org/officeDocument/2006/relationships/notesMaster" Target="/ppt/notesMasters/notesMaster1.xml" Id="Rd1e435cb4ada4041"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6cbb74ecb44f63" /><Relationship Type="http://schemas.openxmlformats.org/officeDocument/2006/relationships/notesMaster" Target="/ppt/notesMasters/notesMaster1.xml" Id="R8a274fa1b49a4df7" /></Relationships>
</file>

<file path=ppt/notesSlides/_rels/notesSlide8.xml.rels>&#65279;<?xml version="1.0" encoding="utf-8"?><Relationships xmlns="http://schemas.openxmlformats.org/package/2006/relationships"><Relationship Type="http://schemas.openxmlformats.org/officeDocument/2006/relationships/slide" Target="/ppt/slides/slide8.xml" Id="R08a4a0ae41fe46d3" /><Relationship Type="http://schemas.openxmlformats.org/officeDocument/2006/relationships/notesMaster" Target="/ppt/notesMasters/notesMaster1.xml" Id="Re237f8d213e14ad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child has muscle wasting and mosaic variegated aneuploidy, a condition in which cells can carry different numbers of chromosomes. Our question is whether an existing medicine could improve muscle function while preserving the cells needed for growth and repair. We propose two medicines for laboratory testing.</a:t>
            </a:r>
          </a:p>
          <a:p xmlns:a="http://schemas.openxmlformats.org/drawingml/2006/main">
            <a:r>
              <a:t/>
            </a:r>
          </a:p>
          <a:p xmlns:a="http://schemas.openxmlformats.org/drawingml/2006/main">
            <a:r>
              <a:t>Sources:</a:t>
            </a:r>
          </a:p>
          <a:p xmlns:a="http://schemas.openxmlformats.org/drawingml/2006/main">
            <a:r>
              <a:t>reports/jeweled_track2_report_submission.md</a:t>
            </a:r>
          </a:p>
          <a:p xmlns:a="http://schemas.openxmlformats.org/drawingml/2006/main">
            <a:r>
              <a:t>reports/appendices/track1-case-evidence.md</a:t>
            </a:r>
          </a:p>
          <a:p xmlns:a="http://schemas.openxmlformats.org/drawingml/2006/main">
            <a:r>
              <a:t/>
            </a:r>
          </a:p>
          <a:p xmlns:a="http://schemas.openxmlformats.org/drawingml/2006/main">
            <a:r>
              <a:t>Research proposal. No biological drug experiment has run. Synthetic TRIP13 is a public transfer demonstration, not a second analyzed patient. Niacin has no demonstrated BUB1B rescue. Narration: Cartesia Sonic 3.6, stock Skylar.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Bub one B makes the checkpoint protein Bub R one. Our stop-plus-missense pair matches a reported MVA one pattern: reduced protein supply. The missense protein's stability and function remain unmeasured. Trans phase needs confirmation. Confirmed cis retires this pair as the compound-heterozygous explanation.</a:t>
            </a:r>
          </a:p>
          <a:p xmlns:a="http://schemas.openxmlformats.org/drawingml/2006/main">
            <a:r>
              <a:t/>
            </a:r>
          </a:p>
          <a:p xmlns:a="http://schemas.openxmlformats.org/drawingml/2006/main">
            <a:r>
              <a:t>Sources:</a:t>
            </a:r>
          </a:p>
          <a:p xmlns:a="http://schemas.openxmlformats.org/drawingml/2006/main">
            <a:r>
              <a:t>reports/appendices/track1-case-evidence.md</a:t>
            </a:r>
          </a:p>
          <a:p xmlns:a="http://schemas.openxmlformats.org/drawingml/2006/main">
            <a:r>
              <a:t>https://pubmed.ncbi.nlm.nih.gov/20516114/</a:t>
            </a:r>
          </a:p>
          <a:p xmlns:a="http://schemas.openxmlformats.org/drawingml/2006/main">
            <a:r>
              <a:t>https://pubmed.ncbi.nlm.nih.gov/33207204/</a:t>
            </a:r>
          </a:p>
          <a:p xmlns:a="http://schemas.openxmlformats.org/drawingml/2006/main">
            <a:r>
              <a:t>reports/appendices/causal-interpretation.md</a:t>
            </a:r>
          </a:p>
          <a:p xmlns:a="http://schemas.openxmlformats.org/drawingml/2006/main">
            <a:r>
              <a:t/>
            </a:r>
          </a:p>
          <a:p xmlns:a="http://schemas.openxmlformats.org/drawingml/2006/main">
            <a:r>
              <a:t>Research proposal. No biological drug experiment has run. Synthetic TRIP13 is a public transfer demonstration, not a second analyzed patient. Niacin has no demonstrated BUB1B rescue. Narration: Cartesia Sonic 3.6, stock Skylar.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Niacin is our lead because it targets the protein-supply hypothesis. It raised muscle N A D in another myopathy. Separate experiments connect N A D and SIRT two to Bub R one stability. Niacin has not rescued this genotype. We test whether it increases usable protein and useful muscle.</a:t>
            </a:r>
          </a:p>
          <a:p xmlns:a="http://schemas.openxmlformats.org/drawingml/2006/main">
            <a:r>
              <a:t/>
            </a:r>
          </a:p>
          <a:p xmlns:a="http://schemas.openxmlformats.org/drawingml/2006/main">
            <a:r>
              <a:t>Sources:</a:t>
            </a:r>
          </a:p>
          <a:p xmlns:a="http://schemas.openxmlformats.org/drawingml/2006/main">
            <a:r>
              <a:t>https://pubmed.ncbi.nlm.nih.gov/32386566/</a:t>
            </a:r>
          </a:p>
          <a:p xmlns:a="http://schemas.openxmlformats.org/drawingml/2006/main">
            <a:r>
              <a:t>https://pmc.ncbi.nlm.nih.gov/articles/PMC4194088/</a:t>
            </a:r>
          </a:p>
          <a:p xmlns:a="http://schemas.openxmlformats.org/drawingml/2006/main">
            <a:r>
              <a:t>https://pubmed.ncbi.nlm.nih.gov/39173541/</a:t>
            </a:r>
          </a:p>
          <a:p xmlns:a="http://schemas.openxmlformats.org/drawingml/2006/main">
            <a:r>
              <a:t/>
            </a:r>
          </a:p>
          <a:p xmlns:a="http://schemas.openxmlformats.org/drawingml/2006/main">
            <a:r>
              <a:t>Research proposal. No biological drug experiment has run. Synthetic TRIP13 is a public transfer demonstration, not a second analyzed patient. Niacin has no demonstrated BUB1B rescue. Narration: Cartesia Sonic 3.6, stock Skylar.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Everolimus is our downstream probe. It inhibits em tor complex one, a growth pathway. A small carrier-mouse blot showed stronger phosphoprotein bands, without quantified pathway activity. Rapamycin preserved stem-cell numbers in a different fly model. Neither establishes muscle rescue. We require functional benefit with preserved growth and renewal.</a:t>
            </a:r>
          </a:p>
          <a:p xmlns:a="http://schemas.openxmlformats.org/drawingml/2006/main">
            <a:r>
              <a:t/>
            </a:r>
          </a:p>
          <a:p xmlns:a="http://schemas.openxmlformats.org/drawingml/2006/main">
            <a:r>
              <a:t>Sources:</a:t>
            </a:r>
          </a:p>
          <a:p xmlns:a="http://schemas.openxmlformats.org/drawingml/2006/main">
            <a:r>
              <a:t>https://www.jci.org/articles/view/126863/version/2</a:t>
            </a:r>
          </a:p>
          <a:p xmlns:a="http://schemas.openxmlformats.org/drawingml/2006/main">
            <a:r>
              <a:t>https://dailymed.nlm.nih.gov/dailymed/fda/fdaDrugXsl.cfm?setid=2150f73a-179b-4afc-b8ce-67c85cc72f04</a:t>
            </a:r>
          </a:p>
          <a:p xmlns:a="http://schemas.openxmlformats.org/drawingml/2006/main">
            <a:r>
              <a:t>reports/appendices/track2-evidence-pipeline.md</a:t>
            </a:r>
          </a:p>
          <a:p xmlns:a="http://schemas.openxmlformats.org/drawingml/2006/main">
            <a:r>
              <a:t>https://pmc.ncbi.nlm.nih.gov/articles/PMC13121444/</a:t>
            </a:r>
          </a:p>
          <a:p xmlns:a="http://schemas.openxmlformats.org/drawingml/2006/main">
            <a:r>
              <a:t/>
            </a:r>
          </a:p>
          <a:p xmlns:a="http://schemas.openxmlformats.org/drawingml/2006/main">
            <a:r>
              <a:t>Research proposal. No biological drug experiment has run. Synthetic TRIP13 is a public transfer demonstration, not a second analyzed patient. Niacin has no demonstrated BUB1B rescue. Narration: Cartesia Sonic 3.6, stock Skylar.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cell-selection explorer exposes a misleading result. In one simulated scenario, the chromosome-normal fraction rose sixteen point eight percentage points while total differentiated-cell time fell eleven percent. Other teams can inspect this tradeoff across declared assumptions. Our proposed experiment tracks starting cells, including those that die or stop dividing.</a:t>
            </a:r>
          </a:p>
          <a:p xmlns:a="http://schemas.openxmlformats.org/drawingml/2006/main">
            <a:r>
              <a:t/>
            </a:r>
          </a:p>
          <a:p xmlns:a="http://schemas.openxmlformats.org/drawingml/2006/main">
            <a:r>
              <a:t>Sources:</a:t>
            </a:r>
          </a:p>
          <a:p xmlns:a="http://schemas.openxmlformats.org/drawingml/2006/main">
            <a:r>
              <a:t>workflow/track2-model/README.md</a:t>
            </a:r>
          </a:p>
          <a:p xmlns:a="http://schemas.openxmlformats.org/drawingml/2006/main">
            <a:r>
              <a:t>workflow/track2-model/population-results.json</a:t>
            </a:r>
          </a:p>
          <a:p xmlns:a="http://schemas.openxmlformats.org/drawingml/2006/main">
            <a:r>
              <a:t>reports/appendices/founder-ledger.md</a:t>
            </a:r>
          </a:p>
          <a:p xmlns:a="http://schemas.openxmlformats.org/drawingml/2006/main">
            <a:r>
              <a:t>workflow/track2-model/explorer/index.html</a:t>
            </a:r>
          </a:p>
          <a:p xmlns:a="http://schemas.openxmlformats.org/drawingml/2006/main">
            <a:r>
              <a:t/>
            </a:r>
          </a:p>
          <a:p xmlns:a="http://schemas.openxmlformats.org/drawingml/2006/main">
            <a:r>
              <a:t>Research proposal. No biological drug experiment has run. Synthetic TRIP13 is a public transfer demonstration, not a second analyzed patient. Niacin has no demonstrated BUB1B rescue. Narration: Cartesia Sonic 3.6, stock Skylar.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would compare affected and genetically corrected muscle models, using measured drug exposures. A medicine must improve either existing muscle or new muscle production, preserve the other, and avoid worsening chromosome errors. Independent confirmation must reproduce the result. The cancer history also requires checking that neither medicine helps tumor cells survive or interferes with cancer treatment.</a:t>
            </a:r>
          </a:p>
          <a:p xmlns:a="http://schemas.openxmlformats.org/drawingml/2006/main">
            <a:r>
              <a:t/>
            </a:r>
          </a:p>
          <a:p xmlns:a="http://schemas.openxmlformats.org/drawingml/2006/main">
            <a:r>
              <a:t>Sources:</a:t>
            </a:r>
          </a:p>
          <a:p xmlns:a="http://schemas.openxmlformats.org/drawingml/2006/main">
            <a:r>
              <a:t>reports/appendices/track2-evidence-pipeline.md</a:t>
            </a:r>
          </a:p>
          <a:p xmlns:a="http://schemas.openxmlformats.org/drawingml/2006/main">
            <a:r>
              <a:t/>
            </a:r>
          </a:p>
          <a:p xmlns:a="http://schemas.openxmlformats.org/drawingml/2006/main">
            <a:r>
              <a:t>Research proposal. No biological drug experiment has run. Synthetic TRIP13 is a public transfer demonstration, not a second analyzed patient. Niacin has no demonstrated BUB1B rescue. Narration: Cartesia Sonic 3.6, stock Skylar.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Arimoclomol remains a reserve because rescue of this protein is unproved. Removing senescent cells has strong genetic mouse evidence, but some drugs also damage repair in young muscle. We investigate that mechanism in parallel. Transcript rescue and other alternatives have explicit promotion tests in our report.</a:t>
            </a:r>
          </a:p>
          <a:p xmlns:a="http://schemas.openxmlformats.org/drawingml/2006/main">
            <a:r>
              <a:t/>
            </a:r>
          </a:p>
          <a:p xmlns:a="http://schemas.openxmlformats.org/drawingml/2006/main">
            <a:r>
              <a:t>Sources:</a:t>
            </a:r>
          </a:p>
          <a:p xmlns:a="http://schemas.openxmlformats.org/drawingml/2006/main">
            <a:r>
              <a:t>reports/appendices/track2-route-decisions.md</a:t>
            </a:r>
          </a:p>
          <a:p xmlns:a="http://schemas.openxmlformats.org/drawingml/2006/main">
            <a:r>
              <a:t>https://pmc.ncbi.nlm.nih.gov/articles/PMC3468323/</a:t>
            </a:r>
          </a:p>
          <a:p xmlns:a="http://schemas.openxmlformats.org/drawingml/2006/main">
            <a:r>
              <a:t>https://pubmed.ncbi.nlm.nih.gov/34904366/</a:t>
            </a:r>
          </a:p>
          <a:p xmlns:a="http://schemas.openxmlformats.org/drawingml/2006/main">
            <a:r>
              <a:t/>
            </a:r>
          </a:p>
          <a:p xmlns:a="http://schemas.openxmlformats.org/drawingml/2006/main">
            <a:r>
              <a:t>Research proposal. No biological drug experiment has run. Synthetic TRIP13 is a public transfer demonstration, not a second analyzed patient. Niacin has no demonstrated BUB1B rescue. Narration: Cartesia Sonic 3.6, stock Skylar.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also ran the workflow on a public, synthetic TRIP thirteen example. It shows why a Bub R one restoration hypothesis cannot simply transfer to another gene. That demonstrates reuse, not treatment validation. Next we need a consented muscle model and laboratory partner to test niacin, with everolimus as comparator.</a:t>
            </a:r>
          </a:p>
          <a:p xmlns:a="http://schemas.openxmlformats.org/drawingml/2006/main">
            <a:r>
              <a:t/>
            </a:r>
          </a:p>
          <a:p xmlns:a="http://schemas.openxmlformats.org/drawingml/2006/main">
            <a:r>
              <a:t>Sources:</a:t>
            </a:r>
          </a:p>
          <a:p xmlns:a="http://schemas.openxmlformats.org/drawingml/2006/main">
            <a:r>
              <a:t>reports/jeweled_track2_report_submission.md</a:t>
            </a:r>
          </a:p>
          <a:p xmlns:a="http://schemas.openxmlformats.org/drawingml/2006/main">
            <a:r>
              <a:t>reports/appendices/track2-evidence-pipeline.md</a:t>
            </a:r>
          </a:p>
          <a:p xmlns:a="http://schemas.openxmlformats.org/drawingml/2006/main">
            <a:r>
              <a:t>workflow/track2-transfer/README.md</a:t>
            </a:r>
          </a:p>
          <a:p xmlns:a="http://schemas.openxmlformats.org/drawingml/2006/main">
            <a:r>
              <a:t/>
            </a:r>
          </a:p>
          <a:p xmlns:a="http://schemas.openxmlformats.org/drawingml/2006/main">
            <a:r>
              <a:t>Research proposal. No biological drug experiment has run. Synthetic TRIP13 is a public transfer demonstration, not a second analyzed patient. Niacin has no demonstrated BUB1B rescue. Narration: Cartesia Sonic 3.6, stock Skylar.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24b7b314e1e405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729fdc84bbb47db" /><Relationship Type="http://schemas.openxmlformats.org/officeDocument/2006/relationships/slideLayout" Target="/ppt/slideLayouts/slideLayout1.xml" Id="R36b2a6ad9b224e9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6b2a6ad9b224e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825326d8a3048f0" /><Relationship Type="http://schemas.openxmlformats.org/officeDocument/2006/relationships/image" Target="/ppt/media/image.png" Id="R043c97924d484d44" /><Relationship Type="http://schemas.openxmlformats.org/officeDocument/2006/relationships/notesSlide" Target="/ppt/notesSlides/notesSlide1.xml" Id="Rd48457c99d474c5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9817bf0ca4f4231" /><Relationship Type="http://schemas.openxmlformats.org/officeDocument/2006/relationships/notesSlide" Target="/ppt/notesSlides/notesSlide2.xml" Id="Rff0f5af53e3941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777d5f5069340d8" /><Relationship Type="http://schemas.openxmlformats.org/officeDocument/2006/relationships/notesSlide" Target="/ppt/notesSlides/notesSlide3.xml" Id="Rbe9bafeba51c41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06ea7164f5e4d74" /><Relationship Type="http://schemas.openxmlformats.org/officeDocument/2006/relationships/notesSlide" Target="/ppt/notesSlides/notesSlide4.xml" Id="Rc5a1134c478b481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65a239b7831428c" /><Relationship Type="http://schemas.openxmlformats.org/officeDocument/2006/relationships/notesSlide" Target="/ppt/notesSlides/notesSlide5.xml" Id="R1890567d4ff248f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91598898c9f4dfa" /><Relationship Type="http://schemas.openxmlformats.org/officeDocument/2006/relationships/notesSlide" Target="/ppt/notesSlides/notesSlide6.xml" Id="Rc7d8c6f6682240c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39f67b9e0f34f03" /><Relationship Type="http://schemas.openxmlformats.org/officeDocument/2006/relationships/notesSlide" Target="/ppt/notesSlides/notesSlide7.xml" Id="R4c558081d3ae4b7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c7fff3285164e82" /><Relationship Type="http://schemas.openxmlformats.org/officeDocument/2006/relationships/notesSlide" Target="/ppt/notesSlides/notesSlide8.xml" Id="R611eedf4950d4d48" /></Relationships>
</file>

<file path=ppt/slides/slide1.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9107EFD-48E8-4B25-91E4-63BC0FA22891}"/>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48636A"/>
                </a:solidFill>
                <a:latin typeface="Aptos"/>
                <a:ea typeface="Aptos"/>
                <a:cs typeface="Aptos"/>
              </a:defRPr>
            </a:pPr>
            <a:r>
              <a:rPr sz="1350" b="0">
                <a:solidFill>
                  <a:srgbClr val="48636A"/>
                </a:solidFill>
                <a:latin typeface="Aptos"/>
                <a:ea typeface="Aptos"/>
                <a:cs typeface="Aptos"/>
              </a:rPr>
              <a:t>1 / 8</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43c97924d484d4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B1B1C9D-0703-4208-B667-548AEE0FF7D0}"/>
              </a:ext>
            </a:extLst>
          </p:cNvPr>
          <p:cNvSpPr>
            <a:spLocks xmlns:a="http://schemas.openxmlformats.org/drawingml/2006/main" noGrp="1"/>
          </p:cNvSpPr>
          <p:nvPr/>
        </p:nvSpPr>
        <p:spPr>
          <a:xfrm xmlns:a="http://schemas.openxmlformats.org/drawingml/2006/main">
            <a:off x="685800" y="1485900"/>
            <a:ext cx="685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4950" b="1">
                <a:solidFill>
                  <a:srgbClr val="102E36"/>
                </a:solidFill>
                <a:latin typeface="Aptos"/>
                <a:ea typeface="Aptos"/>
                <a:cs typeface="Aptos"/>
              </a:defRPr>
            </a:pPr>
            <a:r>
              <a:rPr sz="4950" b="1">
                <a:solidFill>
                  <a:srgbClr val="102E36"/>
                </a:solidFill>
                <a:latin typeface="Aptos"/>
                <a:ea typeface="Aptos"/>
                <a:cs typeface="Aptos"/>
              </a:rPr>
              <a:t>Preserving muscle</a:t>
            </a:r>
          </a:p>
          <a:p xmlns:a="http://schemas.openxmlformats.org/drawingml/2006/main">
            <a:pPr>
              <a:buNone/>
              <a:defRPr sz="4950" b="1">
                <a:solidFill>
                  <a:srgbClr val="102E36"/>
                </a:solidFill>
                <a:latin typeface="Aptos"/>
                <a:ea typeface="Aptos"/>
                <a:cs typeface="Aptos"/>
              </a:defRPr>
            </a:pPr>
            <a:r>
              <a:rPr sz="4950" b="1">
                <a:solidFill>
                  <a:srgbClr val="102E36"/>
                </a:solidFill>
                <a:latin typeface="Aptos"/>
                <a:ea typeface="Aptos"/>
                <a:cs typeface="Aptos"/>
              </a:rPr>
              <a:t>in MVA</a:t>
            </a:r>
          </a:p>
        </p:txBody>
      </p:sp>
      <p:sp>
        <p:nvSpPr>
          <p:cNvPr id="4" name="">
            <a:extLst xmlns:a="http://schemas.openxmlformats.org/drawingml/2006/main">
              <a:ext uri="{FF2B5EF4-FFF2-40B4-BE49-F238E27FC236}">
                <a16:creationId xmlns:a16="http://schemas.microsoft.com/office/drawing/2014/main" id="{860C483D-E35D-4DB4-B41D-86B9AB284890}"/>
              </a:ext>
            </a:extLst>
          </p:cNvPr>
          <p:cNvSpPr>
            <a:spLocks xmlns:a="http://schemas.openxmlformats.org/drawingml/2006/main" noGrp="1"/>
          </p:cNvSpPr>
          <p:nvPr/>
        </p:nvSpPr>
        <p:spPr>
          <a:xfrm xmlns:a="http://schemas.openxmlformats.org/drawingml/2006/main">
            <a:off x="723900" y="3429000"/>
            <a:ext cx="50482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625" b="0">
                <a:solidFill>
                  <a:srgbClr val="102E36"/>
                </a:solidFill>
                <a:latin typeface="Aptos"/>
                <a:ea typeface="Aptos"/>
                <a:cs typeface="Aptos"/>
              </a:defRPr>
            </a:pPr>
            <a:r>
              <a:rPr sz="2625" b="0">
                <a:solidFill>
                  <a:srgbClr val="102E36"/>
                </a:solidFill>
                <a:latin typeface="Aptos"/>
                <a:ea typeface="Aptos"/>
                <a:cs typeface="Aptos"/>
              </a:rPr>
              <a:t>Two medicines for</a:t>
            </a:r>
          </a:p>
          <a:p xmlns:a="http://schemas.openxmlformats.org/drawingml/2006/main">
            <a:pPr>
              <a:buNone/>
              <a:defRPr sz="2625" b="0">
                <a:solidFill>
                  <a:srgbClr val="102E36"/>
                </a:solidFill>
                <a:latin typeface="Aptos"/>
                <a:ea typeface="Aptos"/>
                <a:cs typeface="Aptos"/>
              </a:defRPr>
            </a:pPr>
            <a:r>
              <a:rPr sz="2625" b="0">
                <a:solidFill>
                  <a:srgbClr val="102E36"/>
                </a:solidFill>
                <a:latin typeface="Aptos"/>
                <a:ea typeface="Aptos"/>
                <a:cs typeface="Aptos"/>
              </a:rPr>
              <a:t>laboratory testing</a:t>
            </a:r>
          </a:p>
        </p:txBody>
      </p:sp>
      <p:sp>
        <p:nvSpPr>
          <p:cNvPr id="5" name="">
            <a:extLst xmlns:a="http://schemas.openxmlformats.org/drawingml/2006/main">
              <a:ext uri="{FF2B5EF4-FFF2-40B4-BE49-F238E27FC236}">
                <a16:creationId xmlns:a16="http://schemas.microsoft.com/office/drawing/2014/main" id="{4A6BBB63-0D97-45DC-8F04-465CFD4726D3}"/>
              </a:ext>
            </a:extLst>
          </p:cNvPr>
          <p:cNvSpPr>
            <a:spLocks xmlns:a="http://schemas.openxmlformats.org/drawingml/2006/main" noGrp="1"/>
          </p:cNvSpPr>
          <p:nvPr/>
        </p:nvSpPr>
        <p:spPr>
          <a:xfrm xmlns:a="http://schemas.openxmlformats.org/drawingml/2006/main">
            <a:off x="723900" y="5334000"/>
            <a:ext cx="590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00" b="0">
                <a:solidFill>
                  <a:srgbClr val="48636A"/>
                </a:solidFill>
                <a:latin typeface="Aptos"/>
                <a:ea typeface="Aptos"/>
                <a:cs typeface="Aptos"/>
              </a:defRPr>
            </a:pPr>
            <a:r>
              <a:rPr sz="1800" b="0">
                <a:solidFill>
                  <a:srgbClr val="48636A"/>
                </a:solidFill>
                <a:latin typeface="Aptos"/>
                <a:ea typeface="Aptos"/>
                <a:cs typeface="Aptos"/>
              </a:rPr>
              <a:t>EternaPeptix / jeweled</a:t>
            </a:r>
          </a:p>
          <a:p xmlns:a="http://schemas.openxmlformats.org/drawingml/2006/main">
            <a:pPr>
              <a:buNone/>
              <a:defRPr sz="1800" b="0">
                <a:solidFill>
                  <a:srgbClr val="48636A"/>
                </a:solidFill>
                <a:latin typeface="Aptos"/>
                <a:ea typeface="Aptos"/>
                <a:cs typeface="Aptos"/>
              </a:defRPr>
            </a:pPr>
            <a:r>
              <a:rPr sz="1800" b="0">
                <a:solidFill>
                  <a:srgbClr val="48636A"/>
                </a:solidFill>
                <a:latin typeface="Aptos"/>
                <a:ea typeface="Aptos"/>
                <a:cs typeface="Aptos"/>
              </a:rPr>
              <a:t>Track 2 research proposal</a:t>
            </a:r>
          </a:p>
        </p:txBody>
      </p:sp>
    </p:spTree>
    <p:extLst>
      <p:ext uri="{BB962C8B-B14F-4D97-AF65-F5344CB8AC3E}">
        <p14:creationId xmlns:p14="http://schemas.microsoft.com/office/powerpoint/2010/main" val="1507416994"/>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7AF03FE-CB9A-4AA0-B778-FC61B372C931}"/>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102E36"/>
                </a:solidFill>
                <a:latin typeface="Aptos"/>
                <a:ea typeface="Aptos"/>
                <a:cs typeface="Aptos"/>
              </a:defRPr>
            </a:pPr>
            <a:r>
              <a:rPr sz="3450" b="1">
                <a:solidFill>
                  <a:srgbClr val="102E36"/>
                </a:solidFill>
                <a:latin typeface="Aptos"/>
                <a:ea typeface="Aptos"/>
                <a:cs typeface="Aptos"/>
              </a:rPr>
              <a:t>Protein supply is a testable mechanism</a:t>
            </a:r>
          </a:p>
        </p:txBody>
      </p:sp>
      <p:sp>
        <p:nvSpPr>
          <p:cNvPr id="2" name="">
            <a:extLst xmlns:a="http://schemas.openxmlformats.org/drawingml/2006/main">
              <a:ext uri="{FF2B5EF4-FFF2-40B4-BE49-F238E27FC236}">
                <a16:creationId xmlns:a16="http://schemas.microsoft.com/office/drawing/2014/main" id="{EE865D98-086A-421B-B4B9-7A0C0F8BDE73}"/>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48636A"/>
                </a:solidFill>
                <a:latin typeface="Aptos"/>
                <a:ea typeface="Aptos"/>
                <a:cs typeface="Aptos"/>
              </a:defRPr>
            </a:pPr>
            <a:r>
              <a:rPr sz="1350" b="0">
                <a:solidFill>
                  <a:srgbClr val="48636A"/>
                </a:solidFill>
                <a:latin typeface="Aptos"/>
                <a:ea typeface="Aptos"/>
                <a:cs typeface="Aptos"/>
              </a:rPr>
              <a:t>2 / 8</a:t>
            </a:r>
          </a:p>
        </p:txBody>
      </p:sp>
      <p:sp>
        <p:nvSpPr>
          <p:cNvPr id="3" name="">
            <a:extLst xmlns:a="http://schemas.openxmlformats.org/drawingml/2006/main">
              <a:ext uri="{FF2B5EF4-FFF2-40B4-BE49-F238E27FC236}">
                <a16:creationId xmlns:a16="http://schemas.microsoft.com/office/drawing/2014/main" id="{A1C524AE-E60D-4F77-A22A-9EBFB3294755}"/>
              </a:ext>
            </a:extLst>
          </p:cNvPr>
          <p:cNvSpPr>
            <a:spLocks xmlns:a="http://schemas.openxmlformats.org/drawingml/2006/main" noGrp="1"/>
          </p:cNvSpPr>
          <p:nvPr/>
        </p:nvSpPr>
        <p:spPr>
          <a:xfrm xmlns:a="http://schemas.openxmlformats.org/drawingml/2006/main">
            <a:off x="685800" y="1600200"/>
            <a:ext cx="10715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0">
                <a:solidFill>
                  <a:srgbClr val="102E36"/>
                </a:solidFill>
                <a:latin typeface="Aptos"/>
                <a:ea typeface="Aptos"/>
                <a:cs typeface="Aptos"/>
              </a:defRPr>
            </a:pPr>
            <a:r>
              <a:rPr sz="2325" b="0">
                <a:solidFill>
                  <a:srgbClr val="102E36"/>
                </a:solidFill>
                <a:latin typeface="Aptos"/>
                <a:ea typeface="Aptos"/>
                <a:cs typeface="Aptos"/>
              </a:rPr>
              <a:t>A stop plus a kinase-region missense change matches a reported MVA1 pattern.</a:t>
            </a:r>
          </a:p>
        </p:txBody>
      </p:sp>
      <p:graphicFrame>
        <p:nvGraphicFramePr>
          <p:cNvPr id="11" name=""/>
          <p:cNvGraphicFramePr/>
          <p:nvPr/>
        </p:nvGraphicFramePr>
        <p:xfrm>
          <a:off xmlns:a="http://schemas.openxmlformats.org/drawingml/2006/main" x="685800" y="2714625"/>
          <a:ext xmlns:a="http://schemas.openxmlformats.org/drawingml/2006/main" cx="10820400" cy="2286000"/>
        </p:xfrm>
        <a:graphic xmlns:a="http://schemas.openxmlformats.org/drawingml/2006/main">
          <a:graphicData uri="http://schemas.openxmlformats.org/drawingml/2006/table">
            <a:tbl>
              <a:tblPr/>
              <a:tblGrid>
                <a:gridCol w="4095750"/>
                <a:gridCol w="6724650"/>
              </a:tblGrid>
              <a:tr h="762000">
                <a:tc>
                  <a:txBody>
                    <a:bodyPr>
                      <a:noAutofit/>
                    </a:bodyPr>
                    <a:lstStyle/>
                    <a:p>
                      <a:r>
                        <a:rPr sz="1800" b="1">
                          <a:solidFill>
                            <a:srgbClr val="FFFFFF"/>
                          </a:solidFill>
                          <a:latin typeface="Aptos"/>
                          <a:ea typeface="Aptos"/>
                          <a:cs typeface="Aptos"/>
                        </a:rPr>
                        <a:t>Gene change</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Working interpretation</a:t>
                      </a:r>
                    </a:p>
                  </a:txBody>
                  <a:tcPr marL="152400" marR="152400" marT="114300" marB="114300" anchor="ctr">
                    <a:solidFill>
                      <a:srgbClr val="167A78"/>
                    </a:solidFill>
                  </a:tcPr>
                </a:tc>
              </a:tr>
              <a:tr h="762000">
                <a:tc>
                  <a:txBody>
                    <a:bodyPr>
                      <a:noAutofit/>
                    </a:bodyPr>
                    <a:lstStyle/>
                    <a:p>
                      <a:r>
                        <a:rPr sz="2025" b="1">
                          <a:solidFill>
                            <a:srgbClr val="102E36"/>
                          </a:solidFill>
                          <a:latin typeface="Aptos"/>
                          <a:ea typeface="Aptos"/>
                          <a:cs typeface="Aptos"/>
                        </a:rPr>
                        <a:t>p.Leu737Ter</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An early stop, predicted to reduce usable protein</a:t>
                      </a:r>
                    </a:p>
                  </a:txBody>
                  <a:tcPr marL="152400" marR="152400" marT="114300" marB="114300" anchor="ctr">
                    <a:solidFill>
                      <a:srgbClr val="F6F3EC"/>
                    </a:solidFill>
                  </a:tcPr>
                </a:tc>
              </a:tr>
              <a:tr h="762000">
                <a:tc>
                  <a:txBody>
                    <a:bodyPr>
                      <a:noAutofit/>
                    </a:bodyPr>
                    <a:lstStyle/>
                    <a:p>
                      <a:r>
                        <a:rPr sz="2025" b="1">
                          <a:solidFill>
                            <a:srgbClr val="102E36"/>
                          </a:solidFill>
                          <a:latin typeface="Aptos"/>
                          <a:ea typeface="Aptos"/>
                          <a:cs typeface="Aptos"/>
                        </a:rPr>
                        <a:t>p.Asn1002Lys (N1002K)</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Kinase-region change. Stability and function unmeasured</a:t>
                      </a:r>
                    </a:p>
                  </a:txBody>
                  <a:tcPr marL="152400" marR="152400" marT="114300" marB="114300" anchor="ctr">
                    <a:solidFill>
                      <a:srgbClr val="F6F3EC"/>
                    </a:solidFill>
                  </a:tcPr>
                </a:tc>
              </a:tr>
            </a:tbl>
          </a:graphicData>
        </a:graphic>
      </p:graphicFrame>
      <p:sp>
        <p:nvSpPr>
          <p:cNvPr id="5" name="">
            <a:extLst xmlns:a="http://schemas.openxmlformats.org/drawingml/2006/main">
              <a:ext uri="{FF2B5EF4-FFF2-40B4-BE49-F238E27FC236}">
                <a16:creationId xmlns:a16="http://schemas.microsoft.com/office/drawing/2014/main" id="{660B1C57-2577-4D2F-BAB6-C91848F3054B}"/>
              </a:ext>
            </a:extLst>
          </p:cNvPr>
          <p:cNvSpPr>
            <a:spLocks xmlns:a="http://schemas.openxmlformats.org/drawingml/2006/main" noGrp="1"/>
          </p:cNvSpPr>
          <p:nvPr/>
        </p:nvSpPr>
        <p:spPr>
          <a:xfrm xmlns:a="http://schemas.openxmlformats.org/drawingml/2006/main">
            <a:off x="685800" y="5248275"/>
            <a:ext cx="108204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67A78"/>
                </a:solidFill>
                <a:latin typeface="Aptos"/>
                <a:ea typeface="Aptos"/>
                <a:cs typeface="Aptos"/>
              </a:defRPr>
            </a:pPr>
            <a:r>
              <a:rPr sz="2025" b="1">
                <a:solidFill>
                  <a:srgbClr val="167A78"/>
                </a:solidFill>
                <a:latin typeface="Aptos"/>
                <a:ea typeface="Aptos"/>
                <a:cs typeface="Aptos"/>
              </a:rPr>
              <a:t>Trans remains unobserved. Confirmed cis retires this</a:t>
            </a:r>
          </a:p>
          <a:p xmlns:a="http://schemas.openxmlformats.org/drawingml/2006/main">
            <a:pPr>
              <a:buNone/>
              <a:defRPr sz="2025" b="1">
                <a:solidFill>
                  <a:srgbClr val="167A78"/>
                </a:solidFill>
                <a:latin typeface="Aptos"/>
                <a:ea typeface="Aptos"/>
                <a:cs typeface="Aptos"/>
              </a:defRPr>
            </a:pPr>
            <a:r>
              <a:rPr sz="2025" b="1">
                <a:solidFill>
                  <a:srgbClr val="167A78"/>
                </a:solidFill>
                <a:latin typeface="Aptos"/>
                <a:ea typeface="Aptos"/>
                <a:cs typeface="Aptos"/>
              </a:rPr>
              <a:t>compound-heterozygous explanation.</a:t>
            </a:r>
          </a:p>
        </p:txBody>
      </p:sp>
    </p:spTree>
    <p:extLst>
      <p:ext uri="{BB962C8B-B14F-4D97-AF65-F5344CB8AC3E}">
        <p14:creationId xmlns:p14="http://schemas.microsoft.com/office/powerpoint/2010/main" val="691428534"/>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DA0E73E-41D3-4099-9AA3-28EC736ADBF0}"/>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102E36"/>
                </a:solidFill>
                <a:latin typeface="Aptos"/>
                <a:ea typeface="Aptos"/>
                <a:cs typeface="Aptos"/>
              </a:defRPr>
            </a:pPr>
            <a:r>
              <a:rPr sz="3450" b="1">
                <a:solidFill>
                  <a:srgbClr val="102E36"/>
                </a:solidFill>
                <a:latin typeface="Aptos"/>
                <a:ea typeface="Aptos"/>
                <a:cs typeface="Aptos"/>
              </a:rPr>
              <a:t>Niacin tests usable protein restoration</a:t>
            </a:r>
          </a:p>
        </p:txBody>
      </p:sp>
      <p:sp>
        <p:nvSpPr>
          <p:cNvPr id="2" name="">
            <a:extLst xmlns:a="http://schemas.openxmlformats.org/drawingml/2006/main">
              <a:ext uri="{FF2B5EF4-FFF2-40B4-BE49-F238E27FC236}">
                <a16:creationId xmlns:a16="http://schemas.microsoft.com/office/drawing/2014/main" id="{580E203D-117B-4514-A8D8-06ADAE25428D}"/>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48636A"/>
                </a:solidFill>
                <a:latin typeface="Aptos"/>
                <a:ea typeface="Aptos"/>
                <a:cs typeface="Aptos"/>
              </a:defRPr>
            </a:pPr>
            <a:r>
              <a:rPr sz="1350" b="0">
                <a:solidFill>
                  <a:srgbClr val="48636A"/>
                </a:solidFill>
                <a:latin typeface="Aptos"/>
                <a:ea typeface="Aptos"/>
                <a:cs typeface="Aptos"/>
              </a:rPr>
              <a:t>3 / 8</a:t>
            </a:r>
          </a:p>
        </p:txBody>
      </p:sp>
      <p:sp>
        <p:nvSpPr>
          <p:cNvPr id="3" name="">
            <a:extLst xmlns:a="http://schemas.openxmlformats.org/drawingml/2006/main">
              <a:ext uri="{FF2B5EF4-FFF2-40B4-BE49-F238E27FC236}">
                <a16:creationId xmlns:a16="http://schemas.microsoft.com/office/drawing/2014/main" id="{319E84BC-8AD4-4FF7-A0F5-9E40EBAE9E73}"/>
              </a:ext>
            </a:extLst>
          </p:cNvPr>
          <p:cNvSpPr>
            <a:spLocks xmlns:a="http://schemas.openxmlformats.org/drawingml/2006/main" noGrp="1"/>
          </p:cNvSpPr>
          <p:nvPr/>
        </p:nvSpPr>
        <p:spPr>
          <a:xfrm xmlns:a="http://schemas.openxmlformats.org/drawingml/2006/main">
            <a:off x="685800" y="1685925"/>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225" b="1">
                <a:solidFill>
                  <a:srgbClr val="167A78"/>
                </a:solidFill>
                <a:latin typeface="Aptos"/>
                <a:ea typeface="Aptos"/>
                <a:cs typeface="Aptos"/>
              </a:defRPr>
            </a:pPr>
            <a:r>
              <a:rPr sz="3225" b="1">
                <a:solidFill>
                  <a:srgbClr val="167A78"/>
                </a:solidFill>
                <a:latin typeface="Aptos"/>
                <a:ea typeface="Aptos"/>
                <a:cs typeface="Aptos"/>
              </a:rPr>
              <a:t>Research lead: nicotinic acid</a:t>
            </a:r>
          </a:p>
        </p:txBody>
      </p:sp>
      <p:graphicFrame>
        <p:nvGraphicFramePr>
          <p:cNvPr id="11" name=""/>
          <p:cNvGraphicFramePr/>
          <p:nvPr/>
        </p:nvGraphicFramePr>
        <p:xfrm>
          <a:off xmlns:a="http://schemas.openxmlformats.org/drawingml/2006/main" x="685800" y="2533650"/>
          <a:ext xmlns:a="http://schemas.openxmlformats.org/drawingml/2006/main" cx="10820400" cy="3143250"/>
        </p:xfrm>
        <a:graphic xmlns:a="http://schemas.openxmlformats.org/drawingml/2006/main">
          <a:graphicData uri="http://schemas.openxmlformats.org/drawingml/2006/table">
            <a:tbl>
              <a:tblPr/>
              <a:tblGrid>
                <a:gridCol w="3000375"/>
                <a:gridCol w="7820025"/>
              </a:tblGrid>
              <a:tr h="785813">
                <a:tc>
                  <a:txBody>
                    <a:bodyPr>
                      <a:noAutofit/>
                    </a:bodyPr>
                    <a:lstStyle/>
                    <a:p>
                      <a:r>
                        <a:rPr sz="1800" b="1">
                          <a:solidFill>
                            <a:srgbClr val="FFFFFF"/>
                          </a:solidFill>
                          <a:latin typeface="Aptos"/>
                          <a:ea typeface="Aptos"/>
                          <a:cs typeface="Aptos"/>
                        </a:rPr>
                        <a:t>Evidence step</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What we know</a:t>
                      </a:r>
                    </a:p>
                  </a:txBody>
                  <a:tcPr marL="152400" marR="152400" marT="114300" marB="114300" anchor="ctr">
                    <a:solidFill>
                      <a:srgbClr val="167A78"/>
                    </a:solidFill>
                  </a:tcPr>
                </a:tc>
              </a:tr>
              <a:tr h="785813">
                <a:tc>
                  <a:txBody>
                    <a:bodyPr>
                      <a:noAutofit/>
                    </a:bodyPr>
                    <a:lstStyle/>
                    <a:p>
                      <a:r>
                        <a:rPr sz="1950" b="1">
                          <a:solidFill>
                            <a:srgbClr val="102E36"/>
                          </a:solidFill>
                          <a:latin typeface="Aptos"/>
                          <a:ea typeface="Aptos"/>
                          <a:cs typeface="Aptos"/>
                        </a:rPr>
                        <a:t>Human muscle</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Niacin raised NAD in five patients with another myopathy</a:t>
                      </a:r>
                    </a:p>
                  </a:txBody>
                  <a:tcPr marL="152400" marR="152400" marT="114300" marB="114300" anchor="ctr">
                    <a:solidFill>
                      <a:srgbClr val="F6F3EC"/>
                    </a:solidFill>
                  </a:tcPr>
                </a:tc>
              </a:tr>
              <a:tr h="785813">
                <a:tc>
                  <a:txBody>
                    <a:bodyPr>
                      <a:noAutofit/>
                    </a:bodyPr>
                    <a:lstStyle/>
                    <a:p>
                      <a:r>
                        <a:rPr sz="1950" b="1">
                          <a:solidFill>
                            <a:srgbClr val="102E36"/>
                          </a:solidFill>
                          <a:latin typeface="Aptos"/>
                          <a:ea typeface="Aptos"/>
                          <a:cs typeface="Aptos"/>
                        </a:rPr>
                        <a:t>Protein mechanism</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Separate precursor / SIRT2 studies support BUBR1 stability</a:t>
                      </a:r>
                    </a:p>
                  </a:txBody>
                  <a:tcPr marL="152400" marR="152400" marT="114300" marB="114300" anchor="ctr">
                    <a:solidFill>
                      <a:srgbClr val="F6F3EC"/>
                    </a:solidFill>
                  </a:tcPr>
                </a:tc>
              </a:tr>
              <a:tr h="785813">
                <a:tc>
                  <a:txBody>
                    <a:bodyPr>
                      <a:noAutofit/>
                    </a:bodyPr>
                    <a:lstStyle/>
                    <a:p>
                      <a:r>
                        <a:rPr sz="1950" b="1">
                          <a:solidFill>
                            <a:srgbClr val="102E36"/>
                          </a:solidFill>
                          <a:latin typeface="Aptos"/>
                          <a:ea typeface="Aptos"/>
                          <a:cs typeface="Aptos"/>
                        </a:rPr>
                        <a:t>Missing connection</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Niacin rescue of this genotype’s protein and muscle</a:t>
                      </a:r>
                    </a:p>
                  </a:txBody>
                  <a:tcPr marL="152400" marR="152400" marT="114300" marB="114300" anchor="ctr">
                    <a:solidFill>
                      <a:srgbClr val="F6F3EC"/>
                    </a:solidFill>
                  </a:tcPr>
                </a:tc>
              </a:tr>
            </a:tbl>
          </a:graphicData>
        </a:graphic>
      </p:graphicFrame>
      <p:sp>
        <p:nvSpPr>
          <p:cNvPr id="5" name="">
            <a:extLst xmlns:a="http://schemas.openxmlformats.org/drawingml/2006/main">
              <a:ext uri="{FF2B5EF4-FFF2-40B4-BE49-F238E27FC236}">
                <a16:creationId xmlns:a16="http://schemas.microsoft.com/office/drawing/2014/main" id="{4E014A0C-D8ED-4E3F-9278-AAE684B32C52}"/>
              </a:ext>
            </a:extLst>
          </p:cNvPr>
          <p:cNvSpPr>
            <a:spLocks xmlns:a="http://schemas.openxmlformats.org/drawingml/2006/main" noGrp="1"/>
          </p:cNvSpPr>
          <p:nvPr/>
        </p:nvSpPr>
        <p:spPr>
          <a:xfrm xmlns:a="http://schemas.openxmlformats.org/drawingml/2006/main">
            <a:off x="685800" y="584835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725" b="0">
                <a:solidFill>
                  <a:srgbClr val="48636A"/>
                </a:solidFill>
                <a:latin typeface="Aptos"/>
                <a:ea typeface="Aptos"/>
                <a:cs typeface="Aptos"/>
              </a:defRPr>
            </a:pPr>
            <a:r>
              <a:rPr sz="1725" b="0">
                <a:solidFill>
                  <a:srgbClr val="48636A"/>
                </a:solidFill>
                <a:latin typeface="Aptos"/>
                <a:ea typeface="Aptos"/>
                <a:cs typeface="Aptos"/>
              </a:rPr>
              <a:t>Strength gains also occurred in treated controls. MVA rescue remains untested.</a:t>
            </a:r>
          </a:p>
        </p:txBody>
      </p:sp>
    </p:spTree>
    <p:extLst>
      <p:ext uri="{BB962C8B-B14F-4D97-AF65-F5344CB8AC3E}">
        <p14:creationId xmlns:p14="http://schemas.microsoft.com/office/powerpoint/2010/main" val="1345422072"/>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DEE6D5E-595D-4C3B-9829-4BFBA424E893}"/>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102E36"/>
                </a:solidFill>
                <a:latin typeface="Aptos"/>
                <a:ea typeface="Aptos"/>
                <a:cs typeface="Aptos"/>
              </a:defRPr>
            </a:pPr>
            <a:r>
              <a:rPr sz="3450" b="1">
                <a:solidFill>
                  <a:srgbClr val="102E36"/>
                </a:solidFill>
                <a:latin typeface="Aptos"/>
                <a:ea typeface="Aptos"/>
                <a:cs typeface="Aptos"/>
              </a:rPr>
              <a:t>Everolimus is a downstream probe</a:t>
            </a:r>
          </a:p>
        </p:txBody>
      </p:sp>
      <p:sp>
        <p:nvSpPr>
          <p:cNvPr id="2" name="">
            <a:extLst xmlns:a="http://schemas.openxmlformats.org/drawingml/2006/main">
              <a:ext uri="{FF2B5EF4-FFF2-40B4-BE49-F238E27FC236}">
                <a16:creationId xmlns:a16="http://schemas.microsoft.com/office/drawing/2014/main" id="{75610479-4D6B-4AD8-B5BC-6DE7869B5935}"/>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48636A"/>
                </a:solidFill>
                <a:latin typeface="Aptos"/>
                <a:ea typeface="Aptos"/>
                <a:cs typeface="Aptos"/>
              </a:defRPr>
            </a:pPr>
            <a:r>
              <a:rPr sz="1350" b="0">
                <a:solidFill>
                  <a:srgbClr val="48636A"/>
                </a:solidFill>
                <a:latin typeface="Aptos"/>
                <a:ea typeface="Aptos"/>
                <a:cs typeface="Aptos"/>
              </a:rPr>
              <a:t>4 / 8</a:t>
            </a:r>
          </a:p>
        </p:txBody>
      </p:sp>
      <p:sp>
        <p:nvSpPr>
          <p:cNvPr id="3" name="">
            <a:extLst xmlns:a="http://schemas.openxmlformats.org/drawingml/2006/main">
              <a:ext uri="{FF2B5EF4-FFF2-40B4-BE49-F238E27FC236}">
                <a16:creationId xmlns:a16="http://schemas.microsoft.com/office/drawing/2014/main" id="{AE2F4C86-A8A0-4EE9-BF6A-CE7D269C0CF5}"/>
              </a:ext>
            </a:extLst>
          </p:cNvPr>
          <p:cNvSpPr>
            <a:spLocks xmlns:a="http://schemas.openxmlformats.org/drawingml/2006/main" noGrp="1"/>
          </p:cNvSpPr>
          <p:nvPr/>
        </p:nvSpPr>
        <p:spPr>
          <a:xfrm xmlns:a="http://schemas.openxmlformats.org/drawingml/2006/main">
            <a:off x="685800" y="190500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5400" b="1">
                <a:solidFill>
                  <a:srgbClr val="167A78"/>
                </a:solidFill>
                <a:latin typeface="Aptos"/>
                <a:ea typeface="Aptos"/>
                <a:cs typeface="Aptos"/>
              </a:defRPr>
            </a:pPr>
            <a:r>
              <a:rPr sz="5400" b="1">
                <a:solidFill>
                  <a:srgbClr val="167A78"/>
                </a:solidFill>
                <a:latin typeface="Aptos"/>
                <a:ea typeface="Aptos"/>
                <a:cs typeface="Aptos"/>
              </a:rPr>
              <a:t>mTORC1</a:t>
            </a:r>
          </a:p>
        </p:txBody>
      </p:sp>
      <p:sp>
        <p:nvSpPr>
          <p:cNvPr id="4" name="">
            <a:extLst xmlns:a="http://schemas.openxmlformats.org/drawingml/2006/main">
              <a:ext uri="{FF2B5EF4-FFF2-40B4-BE49-F238E27FC236}">
                <a16:creationId xmlns:a16="http://schemas.microsoft.com/office/drawing/2014/main" id="{10CD5A01-4553-4751-B921-AD1CB456D429}"/>
              </a:ext>
            </a:extLst>
          </p:cNvPr>
          <p:cNvSpPr>
            <a:spLocks xmlns:a="http://schemas.openxmlformats.org/drawingml/2006/main" noGrp="1"/>
          </p:cNvSpPr>
          <p:nvPr/>
        </p:nvSpPr>
        <p:spPr>
          <a:xfrm xmlns:a="http://schemas.openxmlformats.org/drawingml/2006/main">
            <a:off x="723900" y="2857500"/>
            <a:ext cx="4667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475" b="0">
                <a:solidFill>
                  <a:srgbClr val="102E36"/>
                </a:solidFill>
                <a:latin typeface="Aptos"/>
                <a:ea typeface="Aptos"/>
                <a:cs typeface="Aptos"/>
              </a:defRPr>
            </a:pPr>
            <a:r>
              <a:rPr sz="2475" b="0">
                <a:solidFill>
                  <a:srgbClr val="102E36"/>
                </a:solidFill>
                <a:latin typeface="Aptos"/>
                <a:ea typeface="Aptos"/>
                <a:cs typeface="Aptos"/>
              </a:rPr>
              <a:t>A pathway that regulates cell growth</a:t>
            </a:r>
          </a:p>
        </p:txBody>
      </p:sp>
      <p:sp>
        <p:nvSpPr>
          <p:cNvPr id="5" name="">
            <a:extLst xmlns:a="http://schemas.openxmlformats.org/drawingml/2006/main">
              <a:ext uri="{FF2B5EF4-FFF2-40B4-BE49-F238E27FC236}">
                <a16:creationId xmlns:a16="http://schemas.microsoft.com/office/drawing/2014/main" id="{525D8CBD-3710-465A-A024-C7DF5F5424C4}"/>
              </a:ext>
            </a:extLst>
          </p:cNvPr>
          <p:cNvSpPr>
            <a:spLocks xmlns:a="http://schemas.openxmlformats.org/drawingml/2006/main" noGrp="1"/>
          </p:cNvSpPr>
          <p:nvPr/>
        </p:nvSpPr>
        <p:spPr>
          <a:xfrm xmlns:a="http://schemas.openxmlformats.org/drawingml/2006/main">
            <a:off x="6286500" y="182880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67A78"/>
                </a:solidFill>
                <a:latin typeface="Aptos"/>
                <a:ea typeface="Aptos"/>
                <a:cs typeface="Aptos"/>
              </a:defRPr>
            </a:pPr>
            <a:r>
              <a:rPr sz="2025" b="1">
                <a:solidFill>
                  <a:srgbClr val="167A78"/>
                </a:solidFill>
                <a:latin typeface="Aptos"/>
                <a:ea typeface="Aptos"/>
                <a:cs typeface="Aptos"/>
              </a:rPr>
              <a:t>Evidence</a:t>
            </a:r>
          </a:p>
        </p:txBody>
      </p:sp>
      <p:sp>
        <p:nvSpPr>
          <p:cNvPr id="6" name="">
            <a:extLst xmlns:a="http://schemas.openxmlformats.org/drawingml/2006/main">
              <a:ext uri="{FF2B5EF4-FFF2-40B4-BE49-F238E27FC236}">
                <a16:creationId xmlns:a16="http://schemas.microsoft.com/office/drawing/2014/main" id="{6B65E5EB-60B3-4D4E-A857-083847F15C47}"/>
              </a:ext>
            </a:extLst>
          </p:cNvPr>
          <p:cNvSpPr>
            <a:spLocks xmlns:a="http://schemas.openxmlformats.org/drawingml/2006/main" noGrp="1"/>
          </p:cNvSpPr>
          <p:nvPr/>
        </p:nvSpPr>
        <p:spPr>
          <a:xfrm xmlns:a="http://schemas.openxmlformats.org/drawingml/2006/main">
            <a:off x="6286500" y="2314575"/>
            <a:ext cx="504825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250" b="0">
                <a:solidFill>
                  <a:srgbClr val="102E36"/>
                </a:solidFill>
                <a:latin typeface="Aptos"/>
                <a:ea typeface="Aptos"/>
                <a:cs typeface="Aptos"/>
              </a:defRPr>
            </a:pPr>
            <a:r>
              <a:rPr sz="2250" b="0">
                <a:solidFill>
                  <a:srgbClr val="102E36"/>
                </a:solidFill>
                <a:latin typeface="Aptos"/>
                <a:ea typeface="Aptos"/>
                <a:cs typeface="Aptos"/>
              </a:rPr>
              <a:t>Qualitative carrier-mouse blot</a:t>
            </a:r>
          </a:p>
          <a:p xmlns:a="http://schemas.openxmlformats.org/drawingml/2006/main">
            <a:pPr>
              <a:buNone/>
              <a:defRPr sz="2250" b="0">
                <a:solidFill>
                  <a:srgbClr val="102E36"/>
                </a:solidFill>
                <a:latin typeface="Aptos"/>
                <a:ea typeface="Aptos"/>
                <a:cs typeface="Aptos"/>
              </a:defRPr>
            </a:pPr>
            <a:r>
              <a:rPr sz="2250" b="0">
                <a:solidFill>
                  <a:srgbClr val="102E36"/>
                </a:solidFill>
                <a:latin typeface="Aptos"/>
                <a:ea typeface="Aptos"/>
                <a:cs typeface="Aptos"/>
              </a:rPr>
              <a:t>Two mice per genotype</a:t>
            </a:r>
          </a:p>
          <a:p xmlns:a="http://schemas.openxmlformats.org/drawingml/2006/main">
            <a:pPr>
              <a:buNone/>
              <a:defRPr sz="2250" b="0">
                <a:solidFill>
                  <a:srgbClr val="102E36"/>
                </a:solidFill>
                <a:latin typeface="Aptos"/>
                <a:ea typeface="Aptos"/>
                <a:cs typeface="Aptos"/>
              </a:defRPr>
            </a:pPr>
            <a:r>
              <a:rPr sz="2250" b="0">
                <a:solidFill>
                  <a:srgbClr val="102E36"/>
                </a:solidFill>
                <a:latin typeface="Aptos"/>
                <a:ea typeface="Aptos"/>
                <a:cs typeface="Aptos"/>
              </a:rPr>
              <a:t>No phospho/total or statistics</a:t>
            </a:r>
          </a:p>
        </p:txBody>
      </p:sp>
      <p:sp>
        <p:nvSpPr>
          <p:cNvPr id="7" name="">
            <a:extLst xmlns:a="http://schemas.openxmlformats.org/drawingml/2006/main">
              <a:ext uri="{FF2B5EF4-FFF2-40B4-BE49-F238E27FC236}">
                <a16:creationId xmlns:a16="http://schemas.microsoft.com/office/drawing/2014/main" id="{C6AAF6BA-2CB7-4692-A1EE-56D61490A9EC}"/>
              </a:ext>
            </a:extLst>
          </p:cNvPr>
          <p:cNvSpPr>
            <a:spLocks xmlns:a="http://schemas.openxmlformats.org/drawingml/2006/main" noGrp="1"/>
          </p:cNvSpPr>
          <p:nvPr/>
        </p:nvSpPr>
        <p:spPr>
          <a:xfrm xmlns:a="http://schemas.openxmlformats.org/drawingml/2006/main">
            <a:off x="6286500" y="400050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B07827"/>
                </a:solidFill>
                <a:latin typeface="Aptos"/>
                <a:ea typeface="Aptos"/>
                <a:cs typeface="Aptos"/>
              </a:defRPr>
            </a:pPr>
            <a:r>
              <a:rPr sz="2025" b="1">
                <a:solidFill>
                  <a:srgbClr val="B07827"/>
                </a:solidFill>
                <a:latin typeface="Aptos"/>
                <a:ea typeface="Aptos"/>
                <a:cs typeface="Aptos"/>
              </a:rPr>
              <a:t>Missing</a:t>
            </a:r>
          </a:p>
        </p:txBody>
      </p:sp>
      <p:sp>
        <p:nvSpPr>
          <p:cNvPr id="8" name="">
            <a:extLst xmlns:a="http://schemas.openxmlformats.org/drawingml/2006/main">
              <a:ext uri="{FF2B5EF4-FFF2-40B4-BE49-F238E27FC236}">
                <a16:creationId xmlns:a16="http://schemas.microsoft.com/office/drawing/2014/main" id="{9D180964-4EDC-40BB-89BA-11A5EB08A0CA}"/>
              </a:ext>
            </a:extLst>
          </p:cNvPr>
          <p:cNvSpPr>
            <a:spLocks xmlns:a="http://schemas.openxmlformats.org/drawingml/2006/main" noGrp="1"/>
          </p:cNvSpPr>
          <p:nvPr/>
        </p:nvSpPr>
        <p:spPr>
          <a:xfrm xmlns:a="http://schemas.openxmlformats.org/drawingml/2006/main">
            <a:off x="6286500" y="4486275"/>
            <a:ext cx="504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250" b="0">
                <a:solidFill>
                  <a:srgbClr val="102E36"/>
                </a:solidFill>
                <a:latin typeface="Aptos"/>
                <a:ea typeface="Aptos"/>
                <a:cs typeface="Aptos"/>
              </a:defRPr>
            </a:pPr>
            <a:r>
              <a:rPr sz="2250" b="0">
                <a:solidFill>
                  <a:srgbClr val="102E36"/>
                </a:solidFill>
                <a:latin typeface="Aptos"/>
                <a:ea typeface="Aptos"/>
                <a:cs typeface="Aptos"/>
              </a:rPr>
              <a:t>Muscle pathway excess and useful output remain unproved</a:t>
            </a:r>
          </a:p>
        </p:txBody>
      </p:sp>
      <p:sp>
        <p:nvSpPr>
          <p:cNvPr id="9" name="">
            <a:extLst xmlns:a="http://schemas.openxmlformats.org/drawingml/2006/main">
              <a:ext uri="{FF2B5EF4-FFF2-40B4-BE49-F238E27FC236}">
                <a16:creationId xmlns:a16="http://schemas.microsoft.com/office/drawing/2014/main" id="{02678E2D-02C6-4C36-8167-03523F2B3B6C}"/>
              </a:ext>
            </a:extLst>
          </p:cNvPr>
          <p:cNvSpPr>
            <a:spLocks xmlns:a="http://schemas.openxmlformats.org/drawingml/2006/main" noGrp="1"/>
          </p:cNvSpPr>
          <p:nvPr/>
        </p:nvSpPr>
        <p:spPr>
          <a:xfrm xmlns:a="http://schemas.openxmlformats.org/drawingml/2006/main">
            <a:off x="685800" y="606742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0">
                <a:solidFill>
                  <a:srgbClr val="48636A"/>
                </a:solidFill>
                <a:latin typeface="Aptos"/>
                <a:ea typeface="Aptos"/>
                <a:cs typeface="Aptos"/>
              </a:defRPr>
            </a:pPr>
            <a:r>
              <a:rPr sz="1650" b="0">
                <a:solidFill>
                  <a:srgbClr val="48636A"/>
                </a:solidFill>
                <a:latin typeface="Aptos"/>
                <a:ea typeface="Aptos"/>
                <a:cs typeface="Aptos"/>
              </a:rPr>
              <a:t>Rapamycin retained fly stem cells. Functional tissue rescue remains unestablished.</a:t>
            </a:r>
          </a:p>
        </p:txBody>
      </p:sp>
    </p:spTree>
    <p:extLst>
      <p:ext uri="{BB962C8B-B14F-4D97-AF65-F5344CB8AC3E}">
        <p14:creationId xmlns:p14="http://schemas.microsoft.com/office/powerpoint/2010/main" val="2020503096"/>
      </p:ext>
    </p:extLst>
  </p:cSld>
</p:sld>
</file>

<file path=ppt/slides/slide5.xml><?xml version="1.0" encoding="utf-8"?>
<p:sld xmlns:p="http://schemas.openxmlformats.org/presentationml/2006/main">
  <p:cSld>
    <p:bg>
      <p:bgPr>
        <a:solidFill xmlns:a="http://schemas.openxmlformats.org/drawingml/2006/main">
          <a:srgbClr val="102E3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0785C2E-6576-4B04-B962-766A78A6FB8E}"/>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FFFFFF"/>
                </a:solidFill>
                <a:latin typeface="Aptos"/>
                <a:ea typeface="Aptos"/>
                <a:cs typeface="Aptos"/>
              </a:defRPr>
            </a:pPr>
            <a:r>
              <a:rPr sz="3450" b="1">
                <a:solidFill>
                  <a:srgbClr val="FFFFFF"/>
                </a:solidFill>
                <a:latin typeface="Aptos"/>
                <a:ea typeface="Aptos"/>
                <a:cs typeface="Aptos"/>
              </a:rPr>
              <a:t>Cell selection and tissue output</a:t>
            </a:r>
          </a:p>
        </p:txBody>
      </p:sp>
      <p:sp>
        <p:nvSpPr>
          <p:cNvPr id="2" name="">
            <a:extLst xmlns:a="http://schemas.openxmlformats.org/drawingml/2006/main">
              <a:ext uri="{FF2B5EF4-FFF2-40B4-BE49-F238E27FC236}">
                <a16:creationId xmlns:a16="http://schemas.microsoft.com/office/drawing/2014/main" id="{9AC1AB03-0EC0-4342-A625-7B7D9583E920}"/>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B5CFCC"/>
                </a:solidFill>
                <a:latin typeface="Aptos"/>
                <a:ea typeface="Aptos"/>
                <a:cs typeface="Aptos"/>
              </a:defRPr>
            </a:pPr>
            <a:r>
              <a:rPr sz="1350" b="0">
                <a:solidFill>
                  <a:srgbClr val="B5CFCC"/>
                </a:solidFill>
                <a:latin typeface="Aptos"/>
                <a:ea typeface="Aptos"/>
                <a:cs typeface="Aptos"/>
              </a:rPr>
              <a:t>5 / 8</a:t>
            </a:r>
          </a:p>
        </p:txBody>
      </p:sp>
      <p:sp>
        <p:nvSpPr>
          <p:cNvPr id="3" name="">
            <a:extLst xmlns:a="http://schemas.openxmlformats.org/drawingml/2006/main">
              <a:ext uri="{FF2B5EF4-FFF2-40B4-BE49-F238E27FC236}">
                <a16:creationId xmlns:a16="http://schemas.microsoft.com/office/drawing/2014/main" id="{22766A22-A616-47CE-AFCA-C54B893DC61F}"/>
              </a:ext>
            </a:extLst>
          </p:cNvPr>
          <p:cNvSpPr>
            <a:spLocks xmlns:a="http://schemas.openxmlformats.org/drawingml/2006/main" noGrp="1"/>
          </p:cNvSpPr>
          <p:nvPr/>
        </p:nvSpPr>
        <p:spPr>
          <a:xfrm xmlns:a="http://schemas.openxmlformats.org/drawingml/2006/main">
            <a:off x="685800" y="1724025"/>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725" b="0">
                <a:solidFill>
                  <a:srgbClr val="B5CFCC"/>
                </a:solidFill>
                <a:latin typeface="Aptos"/>
                <a:ea typeface="Aptos"/>
                <a:cs typeface="Aptos"/>
              </a:defRPr>
            </a:pPr>
            <a:r>
              <a:rPr sz="1725" b="0">
                <a:solidFill>
                  <a:srgbClr val="B5CFCC"/>
                </a:solidFill>
                <a:latin typeface="Aptos"/>
                <a:ea typeface="Aptos"/>
                <a:cs typeface="Aptos"/>
              </a:rPr>
              <a:t>ONE ASSUMED COMPUTER SCENARIO</a:t>
            </a:r>
          </a:p>
        </p:txBody>
      </p:sp>
      <p:sp>
        <p:nvSpPr>
          <p:cNvPr id="4" name="">
            <a:extLst xmlns:a="http://schemas.openxmlformats.org/drawingml/2006/main">
              <a:ext uri="{FF2B5EF4-FFF2-40B4-BE49-F238E27FC236}">
                <a16:creationId xmlns:a16="http://schemas.microsoft.com/office/drawing/2014/main" id="{849301B9-66BE-401B-B21E-19D2361E4D17}"/>
              </a:ext>
            </a:extLst>
          </p:cNvPr>
          <p:cNvSpPr>
            <a:spLocks xmlns:a="http://schemas.openxmlformats.org/drawingml/2006/main" noGrp="1"/>
          </p:cNvSpPr>
          <p:nvPr/>
        </p:nvSpPr>
        <p:spPr>
          <a:xfrm xmlns:a="http://schemas.openxmlformats.org/drawingml/2006/main">
            <a:off x="685800" y="2543175"/>
            <a:ext cx="461962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6900" b="1">
                <a:solidFill>
                  <a:srgbClr val="80D2C5"/>
                </a:solidFill>
                <a:latin typeface="Aptos"/>
                <a:ea typeface="Aptos"/>
                <a:cs typeface="Aptos"/>
              </a:defRPr>
            </a:pPr>
            <a:r>
              <a:rPr sz="6900" b="1">
                <a:solidFill>
                  <a:srgbClr val="80D2C5"/>
                </a:solidFill>
                <a:latin typeface="Aptos"/>
                <a:ea typeface="Aptos"/>
                <a:cs typeface="Aptos"/>
              </a:rPr>
              <a:t>+16.8</a:t>
            </a:r>
          </a:p>
        </p:txBody>
      </p:sp>
      <p:sp>
        <p:nvSpPr>
          <p:cNvPr id="5" name="">
            <a:extLst xmlns:a="http://schemas.openxmlformats.org/drawingml/2006/main">
              <a:ext uri="{FF2B5EF4-FFF2-40B4-BE49-F238E27FC236}">
                <a16:creationId xmlns:a16="http://schemas.microsoft.com/office/drawing/2014/main" id="{9B66BB43-D8EE-4542-860D-21EAE4170EAB}"/>
              </a:ext>
            </a:extLst>
          </p:cNvPr>
          <p:cNvSpPr>
            <a:spLocks xmlns:a="http://schemas.openxmlformats.org/drawingml/2006/main" noGrp="1"/>
          </p:cNvSpPr>
          <p:nvPr/>
        </p:nvSpPr>
        <p:spPr>
          <a:xfrm xmlns:a="http://schemas.openxmlformats.org/drawingml/2006/main">
            <a:off x="742950" y="3886200"/>
            <a:ext cx="4857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0">
                <a:solidFill>
                  <a:srgbClr val="FFFFFF"/>
                </a:solidFill>
                <a:latin typeface="Aptos"/>
                <a:ea typeface="Aptos"/>
                <a:cs typeface="Aptos"/>
              </a:defRPr>
            </a:pPr>
            <a:r>
              <a:rPr sz="2325" b="0">
                <a:solidFill>
                  <a:srgbClr val="FFFFFF"/>
                </a:solidFill>
                <a:latin typeface="Aptos"/>
                <a:ea typeface="Aptos"/>
                <a:cs typeface="Aptos"/>
              </a:rPr>
              <a:t>percentage points</a:t>
            </a:r>
          </a:p>
          <a:p xmlns:a="http://schemas.openxmlformats.org/drawingml/2006/main">
            <a:pPr>
              <a:buNone/>
              <a:defRPr sz="2325" b="0">
                <a:solidFill>
                  <a:srgbClr val="FFFFFF"/>
                </a:solidFill>
                <a:latin typeface="Aptos"/>
                <a:ea typeface="Aptos"/>
                <a:cs typeface="Aptos"/>
              </a:defRPr>
            </a:pPr>
            <a:r>
              <a:rPr sz="2325" b="0">
                <a:solidFill>
                  <a:srgbClr val="FFFFFF"/>
                </a:solidFill>
                <a:latin typeface="Aptos"/>
                <a:ea typeface="Aptos"/>
                <a:cs typeface="Aptos"/>
              </a:rPr>
              <a:t>in chromosome-normal fraction</a:t>
            </a:r>
          </a:p>
        </p:txBody>
      </p:sp>
      <p:sp>
        <p:nvSpPr>
          <p:cNvPr id="6" name="">
            <a:extLst xmlns:a="http://schemas.openxmlformats.org/drawingml/2006/main">
              <a:ext uri="{FF2B5EF4-FFF2-40B4-BE49-F238E27FC236}">
                <a16:creationId xmlns:a16="http://schemas.microsoft.com/office/drawing/2014/main" id="{0C493782-5AF7-4FA0-92B0-59223DBD7ADD}"/>
              </a:ext>
            </a:extLst>
          </p:cNvPr>
          <p:cNvSpPr>
            <a:spLocks xmlns:a="http://schemas.openxmlformats.org/drawingml/2006/main" noGrp="1"/>
          </p:cNvSpPr>
          <p:nvPr/>
        </p:nvSpPr>
        <p:spPr>
          <a:xfrm xmlns:a="http://schemas.openxmlformats.org/drawingml/2006/main">
            <a:off x="6496050" y="2543175"/>
            <a:ext cx="4572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6900" b="1">
                <a:solidFill>
                  <a:srgbClr val="EAC185"/>
                </a:solidFill>
                <a:latin typeface="Aptos"/>
                <a:ea typeface="Aptos"/>
                <a:cs typeface="Aptos"/>
              </a:defRPr>
            </a:pPr>
            <a:r>
              <a:rPr sz="6900" b="1">
                <a:solidFill>
                  <a:srgbClr val="EAC185"/>
                </a:solidFill>
                <a:latin typeface="Aptos"/>
                <a:ea typeface="Aptos"/>
                <a:cs typeface="Aptos"/>
              </a:rPr>
              <a:t>−11.0%</a:t>
            </a:r>
          </a:p>
        </p:txBody>
      </p:sp>
      <p:sp>
        <p:nvSpPr>
          <p:cNvPr id="7" name="">
            <a:extLst xmlns:a="http://schemas.openxmlformats.org/drawingml/2006/main">
              <a:ext uri="{FF2B5EF4-FFF2-40B4-BE49-F238E27FC236}">
                <a16:creationId xmlns:a16="http://schemas.microsoft.com/office/drawing/2014/main" id="{185FDE1E-5086-4515-85BF-49A67142321E}"/>
              </a:ext>
            </a:extLst>
          </p:cNvPr>
          <p:cNvSpPr>
            <a:spLocks xmlns:a="http://schemas.openxmlformats.org/drawingml/2006/main" noGrp="1"/>
          </p:cNvSpPr>
          <p:nvPr/>
        </p:nvSpPr>
        <p:spPr>
          <a:xfrm xmlns:a="http://schemas.openxmlformats.org/drawingml/2006/main">
            <a:off x="6553200" y="3886200"/>
            <a:ext cx="4857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0">
                <a:solidFill>
                  <a:srgbClr val="FFFFFF"/>
                </a:solidFill>
                <a:latin typeface="Aptos"/>
                <a:ea typeface="Aptos"/>
                <a:cs typeface="Aptos"/>
              </a:defRPr>
            </a:pPr>
            <a:r>
              <a:rPr sz="2325" b="0">
                <a:solidFill>
                  <a:srgbClr val="FFFFFF"/>
                </a:solidFill>
                <a:latin typeface="Aptos"/>
                <a:ea typeface="Aptos"/>
                <a:cs typeface="Aptos"/>
              </a:rPr>
              <a:t>in total differentiated-cell time</a:t>
            </a:r>
          </a:p>
          <a:p xmlns:a="http://schemas.openxmlformats.org/drawingml/2006/main">
            <a:pPr>
              <a:buNone/>
              <a:defRPr sz="2325" b="0">
                <a:solidFill>
                  <a:srgbClr val="FFFFFF"/>
                </a:solidFill>
                <a:latin typeface="Aptos"/>
                <a:ea typeface="Aptos"/>
                <a:cs typeface="Aptos"/>
              </a:defRPr>
            </a:pPr>
            <a:r>
              <a:rPr sz="2325" b="0">
                <a:solidFill>
                  <a:srgbClr val="FFFFFF"/>
                </a:solidFill>
                <a:latin typeface="Aptos"/>
                <a:ea typeface="Aptos"/>
                <a:cs typeface="Aptos"/>
              </a:rPr>
              <a:t>(a model measure of output)</a:t>
            </a:r>
          </a:p>
        </p:txBody>
      </p:sp>
      <p:sp>
        <p:nvSpPr>
          <p:cNvPr id="8" name="">
            <a:extLst xmlns:a="http://schemas.openxmlformats.org/drawingml/2006/main">
              <a:ext uri="{FF2B5EF4-FFF2-40B4-BE49-F238E27FC236}">
                <a16:creationId xmlns:a16="http://schemas.microsoft.com/office/drawing/2014/main" id="{6392F509-BF21-4FDF-A96B-ACCC04FC0C29}"/>
              </a:ext>
            </a:extLst>
          </p:cNvPr>
          <p:cNvSpPr>
            <a:spLocks xmlns:a="http://schemas.openxmlformats.org/drawingml/2006/main" noGrp="1"/>
          </p:cNvSpPr>
          <p:nvPr/>
        </p:nvSpPr>
        <p:spPr>
          <a:xfrm xmlns:a="http://schemas.openxmlformats.org/drawingml/2006/main">
            <a:off x="685800" y="53435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FFFFFF"/>
                </a:solidFill>
                <a:latin typeface="Aptos"/>
                <a:ea typeface="Aptos"/>
                <a:cs typeface="Aptos"/>
              </a:defRPr>
            </a:pPr>
            <a:r>
              <a:rPr sz="2025" b="1">
                <a:solidFill>
                  <a:srgbClr val="FFFFFF"/>
                </a:solidFill>
                <a:latin typeface="Aptos"/>
                <a:ea typeface="Aptos"/>
                <a:cs typeface="Aptos"/>
              </a:rPr>
              <a:t>An interactive tool for checking percentage gains against absolute output.</a:t>
            </a:r>
          </a:p>
        </p:txBody>
      </p:sp>
      <p:sp>
        <p:nvSpPr>
          <p:cNvPr id="9" name="">
            <a:extLst xmlns:a="http://schemas.openxmlformats.org/drawingml/2006/main">
              <a:ext uri="{FF2B5EF4-FFF2-40B4-BE49-F238E27FC236}">
                <a16:creationId xmlns:a16="http://schemas.microsoft.com/office/drawing/2014/main" id="{2107304E-0FB3-49E6-B657-6A13FF68A6F4}"/>
              </a:ext>
            </a:extLst>
          </p:cNvPr>
          <p:cNvSpPr>
            <a:spLocks xmlns:a="http://schemas.openxmlformats.org/drawingml/2006/main" noGrp="1"/>
          </p:cNvSpPr>
          <p:nvPr/>
        </p:nvSpPr>
        <p:spPr>
          <a:xfrm xmlns:a="http://schemas.openxmlformats.org/drawingml/2006/main">
            <a:off x="685800" y="6048375"/>
            <a:ext cx="10334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0">
                <a:solidFill>
                  <a:srgbClr val="B5CFCC"/>
                </a:solidFill>
                <a:latin typeface="Aptos"/>
                <a:ea typeface="Aptos"/>
                <a:cs typeface="Aptos"/>
              </a:defRPr>
            </a:pPr>
            <a:r>
              <a:rPr sz="1650" b="0">
                <a:solidFill>
                  <a:srgbClr val="B5CFCC"/>
                </a:solidFill>
                <a:latin typeface="Aptos"/>
                <a:ea typeface="Aptos"/>
                <a:cs typeface="Aptos"/>
              </a:rPr>
              <a:t>Assay-design result. These are not patient measurements or drug effects.</a:t>
            </a:r>
          </a:p>
        </p:txBody>
      </p:sp>
    </p:spTree>
    <p:extLst>
      <p:ext uri="{BB962C8B-B14F-4D97-AF65-F5344CB8AC3E}">
        <p14:creationId xmlns:p14="http://schemas.microsoft.com/office/powerpoint/2010/main" val="661779105"/>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FAEB073-1540-41D5-8A1D-9F0C6BD8C368}"/>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102E36"/>
                </a:solidFill>
                <a:latin typeface="Aptos"/>
                <a:ea typeface="Aptos"/>
                <a:cs typeface="Aptos"/>
              </a:defRPr>
            </a:pPr>
            <a:r>
              <a:rPr sz="3450" b="1">
                <a:solidFill>
                  <a:srgbClr val="102E36"/>
                </a:solidFill>
                <a:latin typeface="Aptos"/>
                <a:ea typeface="Aptos"/>
                <a:cs typeface="Aptos"/>
              </a:rPr>
              <a:t>The experiment must show useful muscle</a:t>
            </a:r>
          </a:p>
        </p:txBody>
      </p:sp>
      <p:sp>
        <p:nvSpPr>
          <p:cNvPr id="2" name="">
            <a:extLst xmlns:a="http://schemas.openxmlformats.org/drawingml/2006/main">
              <a:ext uri="{FF2B5EF4-FFF2-40B4-BE49-F238E27FC236}">
                <a16:creationId xmlns:a16="http://schemas.microsoft.com/office/drawing/2014/main" id="{9DBA6A9D-5FB2-4ACD-8120-20A65E289D66}"/>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48636A"/>
                </a:solidFill>
                <a:latin typeface="Aptos"/>
                <a:ea typeface="Aptos"/>
                <a:cs typeface="Aptos"/>
              </a:defRPr>
            </a:pPr>
            <a:r>
              <a:rPr sz="1350" b="0">
                <a:solidFill>
                  <a:srgbClr val="48636A"/>
                </a:solidFill>
                <a:latin typeface="Aptos"/>
                <a:ea typeface="Aptos"/>
                <a:cs typeface="Aptos"/>
              </a:rPr>
              <a:t>6 / 8</a:t>
            </a:r>
          </a:p>
        </p:txBody>
      </p:sp>
      <p:graphicFrame>
        <p:nvGraphicFramePr>
          <p:cNvPr id="10" name=""/>
          <p:cNvGraphicFramePr/>
          <p:nvPr/>
        </p:nvGraphicFramePr>
        <p:xfrm>
          <a:off xmlns:a="http://schemas.openxmlformats.org/drawingml/2006/main" x="685800" y="1876425"/>
          <a:ext xmlns:a="http://schemas.openxmlformats.org/drawingml/2006/main" cx="10820400" cy="3171825"/>
        </p:xfrm>
        <a:graphic xmlns:a="http://schemas.openxmlformats.org/drawingml/2006/main">
          <a:graphicData uri="http://schemas.openxmlformats.org/drawingml/2006/table">
            <a:tbl>
              <a:tblPr/>
              <a:tblGrid>
                <a:gridCol w="3571875"/>
                <a:gridCol w="7248525"/>
              </a:tblGrid>
              <a:tr h="792956">
                <a:tc>
                  <a:txBody>
                    <a:bodyPr>
                      <a:noAutofit/>
                    </a:bodyPr>
                    <a:lstStyle/>
                    <a:p>
                      <a:r>
                        <a:rPr sz="1800" b="1">
                          <a:solidFill>
                            <a:srgbClr val="FFFFFF"/>
                          </a:solidFill>
                          <a:latin typeface="Aptos"/>
                          <a:ea typeface="Aptos"/>
                          <a:cs typeface="Aptos"/>
                        </a:rPr>
                        <a:t>Required result</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How we would judge it</a:t>
                      </a:r>
                    </a:p>
                  </a:txBody>
                  <a:tcPr marL="152400" marR="152400" marT="114300" marB="114300" anchor="ctr">
                    <a:solidFill>
                      <a:srgbClr val="167A78"/>
                    </a:solidFill>
                  </a:tcPr>
                </a:tc>
              </a:tr>
              <a:tr h="792956">
                <a:tc>
                  <a:txBody>
                    <a:bodyPr>
                      <a:noAutofit/>
                    </a:bodyPr>
                    <a:lstStyle/>
                    <a:p>
                      <a:r>
                        <a:rPr sz="1950" b="1">
                          <a:solidFill>
                            <a:srgbClr val="102E36"/>
                          </a:solidFill>
                          <a:latin typeface="Aptos"/>
                          <a:ea typeface="Aptos"/>
                          <a:cs typeface="Aptos"/>
                        </a:rPr>
                        <a:t>Useful function</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More force in established muscle OR more new muscle output</a:t>
                      </a:r>
                    </a:p>
                  </a:txBody>
                  <a:tcPr marL="152400" marR="152400" marT="114300" marB="114300" anchor="ctr">
                    <a:solidFill>
                      <a:srgbClr val="F6F3EC"/>
                    </a:solidFill>
                  </a:tcPr>
                </a:tc>
              </a:tr>
              <a:tr h="792956">
                <a:tc>
                  <a:txBody>
                    <a:bodyPr>
                      <a:noAutofit/>
                    </a:bodyPr>
                    <a:lstStyle/>
                    <a:p>
                      <a:r>
                        <a:rPr sz="1950" b="1">
                          <a:solidFill>
                            <a:srgbClr val="102E36"/>
                          </a:solidFill>
                          <a:latin typeface="Aptos"/>
                          <a:ea typeface="Aptos"/>
                          <a:cs typeface="Aptos"/>
                        </a:rPr>
                        <a:t>Preserved capacity</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The other muscle cohort and its renewable cell reserve remain intact</a:t>
                      </a:r>
                    </a:p>
                  </a:txBody>
                  <a:tcPr marL="152400" marR="152400" marT="114300" marB="114300" anchor="ctr">
                    <a:solidFill>
                      <a:srgbClr val="F6F3EC"/>
                    </a:solidFill>
                  </a:tcPr>
                </a:tc>
              </a:tr>
              <a:tr h="792956">
                <a:tc>
                  <a:txBody>
                    <a:bodyPr>
                      <a:noAutofit/>
                    </a:bodyPr>
                    <a:lstStyle/>
                    <a:p>
                      <a:r>
                        <a:rPr sz="1950" b="1">
                          <a:solidFill>
                            <a:srgbClr val="102E36"/>
                          </a:solidFill>
                          <a:latin typeface="Aptos"/>
                          <a:ea typeface="Aptos"/>
                          <a:cs typeface="Aptos"/>
                        </a:rPr>
                        <a:t>Chromosome fidelity</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Errors do not worsen; restoration needs its own causal evidence</a:t>
                      </a:r>
                    </a:p>
                  </a:txBody>
                  <a:tcPr marL="152400" marR="152400" marT="114300" marB="114300" anchor="ctr">
                    <a:solidFill>
                      <a:srgbClr val="F6F3EC"/>
                    </a:solidFill>
                  </a:tcPr>
                </a:tc>
              </a:tr>
            </a:tbl>
          </a:graphicData>
        </a:graphic>
      </p:graphicFrame>
      <p:sp>
        <p:nvSpPr>
          <p:cNvPr id="4" name="">
            <a:extLst xmlns:a="http://schemas.openxmlformats.org/drawingml/2006/main">
              <a:ext uri="{FF2B5EF4-FFF2-40B4-BE49-F238E27FC236}">
                <a16:creationId xmlns:a16="http://schemas.microsoft.com/office/drawing/2014/main" id="{2D688475-E2F2-4361-B596-F5F5FD51F3F1}"/>
              </a:ext>
            </a:extLst>
          </p:cNvPr>
          <p:cNvSpPr>
            <a:spLocks xmlns:a="http://schemas.openxmlformats.org/drawingml/2006/main" noGrp="1"/>
          </p:cNvSpPr>
          <p:nvPr/>
        </p:nvSpPr>
        <p:spPr>
          <a:xfrm xmlns:a="http://schemas.openxmlformats.org/drawingml/2006/main">
            <a:off x="685800" y="53340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67A78"/>
                </a:solidFill>
                <a:latin typeface="Aptos"/>
                <a:ea typeface="Aptos"/>
                <a:cs typeface="Aptos"/>
              </a:defRPr>
            </a:pPr>
            <a:r>
              <a:rPr sz="2025" b="1">
                <a:solidFill>
                  <a:srgbClr val="167A78"/>
                </a:solidFill>
                <a:latin typeface="Aptos"/>
                <a:ea typeface="Aptos"/>
                <a:cs typeface="Aptos"/>
              </a:rPr>
              <a:t>Affected and genetically corrected models. Separate drug arms.</a:t>
            </a:r>
          </a:p>
        </p:txBody>
      </p:sp>
      <p:sp>
        <p:nvSpPr>
          <p:cNvPr id="5" name="">
            <a:extLst xmlns:a="http://schemas.openxmlformats.org/drawingml/2006/main">
              <a:ext uri="{FF2B5EF4-FFF2-40B4-BE49-F238E27FC236}">
                <a16:creationId xmlns:a16="http://schemas.microsoft.com/office/drawing/2014/main" id="{714B80F6-394C-4981-B9FA-5BED85A15294}"/>
              </a:ext>
            </a:extLst>
          </p:cNvPr>
          <p:cNvSpPr>
            <a:spLocks xmlns:a="http://schemas.openxmlformats.org/drawingml/2006/main" noGrp="1"/>
          </p:cNvSpPr>
          <p:nvPr/>
        </p:nvSpPr>
        <p:spPr>
          <a:xfrm xmlns:a="http://schemas.openxmlformats.org/drawingml/2006/main">
            <a:off x="685800" y="584835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00" b="0">
                <a:solidFill>
                  <a:srgbClr val="48636A"/>
                </a:solidFill>
                <a:latin typeface="Aptos"/>
                <a:ea typeface="Aptos"/>
                <a:cs typeface="Aptos"/>
              </a:defRPr>
            </a:pPr>
            <a:r>
              <a:rPr sz="1800" b="0">
                <a:solidFill>
                  <a:srgbClr val="48636A"/>
                </a:solidFill>
                <a:latin typeface="Aptos"/>
                <a:ea typeface="Aptos"/>
                <a:cs typeface="Aptos"/>
              </a:rPr>
              <a:t>Independent confirmation, then tumor and cancer-treatment compatibility.</a:t>
            </a:r>
          </a:p>
        </p:txBody>
      </p:sp>
    </p:spTree>
    <p:extLst>
      <p:ext uri="{BB962C8B-B14F-4D97-AF65-F5344CB8AC3E}">
        <p14:creationId xmlns:p14="http://schemas.microsoft.com/office/powerpoint/2010/main" val="1341361264"/>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57F913F-581C-4198-9C53-01FA4D95D26A}"/>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102E36"/>
                </a:solidFill>
                <a:latin typeface="Aptos"/>
                <a:ea typeface="Aptos"/>
                <a:cs typeface="Aptos"/>
              </a:defRPr>
            </a:pPr>
            <a:r>
              <a:rPr sz="3450" b="1">
                <a:solidFill>
                  <a:srgbClr val="102E36"/>
                </a:solidFill>
                <a:latin typeface="Aptos"/>
                <a:ea typeface="Aptos"/>
                <a:cs typeface="Aptos"/>
              </a:rPr>
              <a:t>Other routes have defined tests for advancement</a:t>
            </a:r>
          </a:p>
        </p:txBody>
      </p:sp>
      <p:sp>
        <p:nvSpPr>
          <p:cNvPr id="2" name="">
            <a:extLst xmlns:a="http://schemas.openxmlformats.org/drawingml/2006/main">
              <a:ext uri="{FF2B5EF4-FFF2-40B4-BE49-F238E27FC236}">
                <a16:creationId xmlns:a16="http://schemas.microsoft.com/office/drawing/2014/main" id="{2070F33B-0965-48EB-B5D5-3F6C0B226090}"/>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48636A"/>
                </a:solidFill>
                <a:latin typeface="Aptos"/>
                <a:ea typeface="Aptos"/>
                <a:cs typeface="Aptos"/>
              </a:defRPr>
            </a:pPr>
            <a:r>
              <a:rPr sz="1350" b="0">
                <a:solidFill>
                  <a:srgbClr val="48636A"/>
                </a:solidFill>
                <a:latin typeface="Aptos"/>
                <a:ea typeface="Aptos"/>
                <a:cs typeface="Aptos"/>
              </a:rPr>
              <a:t>7 / 8</a:t>
            </a:r>
          </a:p>
        </p:txBody>
      </p:sp>
      <p:graphicFrame>
        <p:nvGraphicFramePr>
          <p:cNvPr id="9" name=""/>
          <p:cNvGraphicFramePr/>
          <p:nvPr/>
        </p:nvGraphicFramePr>
        <p:xfrm>
          <a:off xmlns:a="http://schemas.openxmlformats.org/drawingml/2006/main" x="685800" y="1885950"/>
          <a:ext xmlns:a="http://schemas.openxmlformats.org/drawingml/2006/main" cx="10820400" cy="3238500"/>
        </p:xfrm>
        <a:graphic xmlns:a="http://schemas.openxmlformats.org/drawingml/2006/main">
          <a:graphicData uri="http://schemas.openxmlformats.org/drawingml/2006/table">
            <a:tbl>
              <a:tblPr/>
              <a:tblGrid>
                <a:gridCol w="3429000"/>
                <a:gridCol w="7391400"/>
              </a:tblGrid>
              <a:tr h="809625">
                <a:tc>
                  <a:txBody>
                    <a:bodyPr>
                      <a:noAutofit/>
                    </a:bodyPr>
                    <a:lstStyle/>
                    <a:p>
                      <a:r>
                        <a:rPr sz="1800" b="1">
                          <a:solidFill>
                            <a:srgbClr val="FFFFFF"/>
                          </a:solidFill>
                          <a:latin typeface="Aptos"/>
                          <a:ea typeface="Aptos"/>
                          <a:cs typeface="Aptos"/>
                        </a:rPr>
                        <a:t>Route</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Decision and reason</a:t>
                      </a:r>
                    </a:p>
                  </a:txBody>
                  <a:tcPr marL="152400" marR="152400" marT="114300" marB="114300" anchor="ctr">
                    <a:solidFill>
                      <a:srgbClr val="167A78"/>
                    </a:solidFill>
                  </a:tcPr>
                </a:tc>
              </a:tr>
              <a:tr h="809625">
                <a:tc>
                  <a:txBody>
                    <a:bodyPr>
                      <a:noAutofit/>
                    </a:bodyPr>
                    <a:lstStyle/>
                    <a:p>
                      <a:r>
                        <a:rPr sz="2025" b="1">
                          <a:solidFill>
                            <a:srgbClr val="102E36"/>
                          </a:solidFill>
                          <a:latin typeface="Aptos"/>
                          <a:ea typeface="Aptos"/>
                          <a:cs typeface="Aptos"/>
                        </a:rPr>
                        <a:t>Arimoclomol</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Reserve: useful BUBR1 rescue and relevant exposure remain unproved</a:t>
                      </a:r>
                    </a:p>
                  </a:txBody>
                  <a:tcPr marL="152400" marR="152400" marT="114300" marB="114300" anchor="ctr">
                    <a:solidFill>
                      <a:srgbClr val="F6F3EC"/>
                    </a:solidFill>
                  </a:tcPr>
                </a:tc>
              </a:tr>
              <a:tr h="809625">
                <a:tc>
                  <a:txBody>
                    <a:bodyPr>
                      <a:noAutofit/>
                    </a:bodyPr>
                    <a:lstStyle/>
                    <a:p>
                      <a:r>
                        <a:rPr sz="2025" b="1">
                          <a:solidFill>
                            <a:srgbClr val="102E36"/>
                          </a:solidFill>
                          <a:latin typeface="Aptos"/>
                          <a:ea typeface="Aptos"/>
                          <a:cs typeface="Aptos"/>
                        </a:rPr>
                        <a:t>Senolytic medicines</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Reserve: clearing damaged cells can also impair young-muscle repair</a:t>
                      </a:r>
                    </a:p>
                  </a:txBody>
                  <a:tcPr marL="152400" marR="152400" marT="114300" marB="114300" anchor="ctr">
                    <a:solidFill>
                      <a:srgbClr val="F6F3EC"/>
                    </a:solidFill>
                  </a:tcPr>
                </a:tc>
              </a:tr>
              <a:tr h="809625">
                <a:tc>
                  <a:txBody>
                    <a:bodyPr>
                      <a:noAutofit/>
                    </a:bodyPr>
                    <a:lstStyle/>
                    <a:p>
                      <a:r>
                        <a:rPr sz="2025" b="1">
                          <a:solidFill>
                            <a:srgbClr val="102E36"/>
                          </a:solidFill>
                          <a:latin typeface="Aptos"/>
                          <a:ea typeface="Aptos"/>
                          <a:cs typeface="Aptos"/>
                        </a:rPr>
                        <a:t>Transcript / protein rescue</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Measure the actual allele products before selecting an intervention</a:t>
                      </a:r>
                    </a:p>
                  </a:txBody>
                  <a:tcPr marL="152400" marR="152400" marT="114300" marB="114300" anchor="ctr">
                    <a:solidFill>
                      <a:srgbClr val="F6F3EC"/>
                    </a:solidFill>
                  </a:tcPr>
                </a:tc>
              </a:tr>
            </a:tbl>
          </a:graphicData>
        </a:graphic>
      </p:graphicFrame>
      <p:sp>
        <p:nvSpPr>
          <p:cNvPr id="4" name="">
            <a:extLst xmlns:a="http://schemas.openxmlformats.org/drawingml/2006/main">
              <a:ext uri="{FF2B5EF4-FFF2-40B4-BE49-F238E27FC236}">
                <a16:creationId xmlns:a16="http://schemas.microsoft.com/office/drawing/2014/main" id="{A6533D6A-ED04-459C-9022-DBC5BA6630A2}"/>
              </a:ext>
            </a:extLst>
          </p:cNvPr>
          <p:cNvSpPr>
            <a:spLocks xmlns:a="http://schemas.openxmlformats.org/drawingml/2006/main" noGrp="1"/>
          </p:cNvSpPr>
          <p:nvPr/>
        </p:nvSpPr>
        <p:spPr>
          <a:xfrm xmlns:a="http://schemas.openxmlformats.org/drawingml/2006/main">
            <a:off x="685800" y="5410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175" b="1">
                <a:solidFill>
                  <a:srgbClr val="167A78"/>
                </a:solidFill>
                <a:latin typeface="Aptos"/>
                <a:ea typeface="Aptos"/>
                <a:cs typeface="Aptos"/>
              </a:defRPr>
            </a:pPr>
            <a:r>
              <a:rPr sz="2175" b="1">
                <a:solidFill>
                  <a:srgbClr val="167A78"/>
                </a:solidFill>
                <a:latin typeface="Aptos"/>
                <a:ea typeface="Aptos"/>
                <a:cs typeface="Aptos"/>
              </a:rPr>
              <a:t>The report compares every route and specifies what would change each decision.</a:t>
            </a:r>
          </a:p>
        </p:txBody>
      </p:sp>
    </p:spTree>
    <p:extLst>
      <p:ext uri="{BB962C8B-B14F-4D97-AF65-F5344CB8AC3E}">
        <p14:creationId xmlns:p14="http://schemas.microsoft.com/office/powerpoint/2010/main" val="1461233534"/>
      </p:ext>
    </p:extLst>
  </p:cSld>
</p:sld>
</file>

<file path=ppt/slides/slide8.xml><?xml version="1.0" encoding="utf-8"?>
<p:sld xmlns:p="http://schemas.openxmlformats.org/presentationml/2006/main">
  <p:cSld>
    <p:bg>
      <p:bgPr>
        <a:solidFill xmlns:a="http://schemas.openxmlformats.org/drawingml/2006/main">
          <a:srgbClr val="102E3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AA55D1-2D84-4245-83BC-3648B30EAC7E}"/>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FFFFFF"/>
                </a:solidFill>
                <a:latin typeface="Aptos"/>
                <a:ea typeface="Aptos"/>
                <a:cs typeface="Aptos"/>
              </a:defRPr>
            </a:pPr>
            <a:r>
              <a:rPr sz="3450" b="1">
                <a:solidFill>
                  <a:srgbClr val="FFFFFF"/>
                </a:solidFill>
                <a:latin typeface="Aptos"/>
                <a:ea typeface="Aptos"/>
                <a:cs typeface="Aptos"/>
              </a:rPr>
              <a:t>Public reuse and the next experiment</a:t>
            </a:r>
          </a:p>
        </p:txBody>
      </p:sp>
      <p:sp>
        <p:nvSpPr>
          <p:cNvPr id="2" name="">
            <a:extLst xmlns:a="http://schemas.openxmlformats.org/drawingml/2006/main">
              <a:ext uri="{FF2B5EF4-FFF2-40B4-BE49-F238E27FC236}">
                <a16:creationId xmlns:a16="http://schemas.microsoft.com/office/drawing/2014/main" id="{C9F51134-BD28-4C3D-8FCB-20003D50C7FB}"/>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B5CFCC"/>
                </a:solidFill>
                <a:latin typeface="Aptos"/>
                <a:ea typeface="Aptos"/>
                <a:cs typeface="Aptos"/>
              </a:defRPr>
            </a:pPr>
            <a:r>
              <a:rPr sz="1350" b="0">
                <a:solidFill>
                  <a:srgbClr val="B5CFCC"/>
                </a:solidFill>
                <a:latin typeface="Aptos"/>
                <a:ea typeface="Aptos"/>
                <a:cs typeface="Aptos"/>
              </a:rPr>
              <a:t>8 / 8</a:t>
            </a:r>
          </a:p>
        </p:txBody>
      </p:sp>
      <p:sp>
        <p:nvSpPr>
          <p:cNvPr id="3" name="">
            <a:extLst xmlns:a="http://schemas.openxmlformats.org/drawingml/2006/main">
              <a:ext uri="{FF2B5EF4-FFF2-40B4-BE49-F238E27FC236}">
                <a16:creationId xmlns:a16="http://schemas.microsoft.com/office/drawing/2014/main" id="{7FA7011D-59BE-4686-8B4B-D04438D6B368}"/>
              </a:ext>
            </a:extLst>
          </p:cNvPr>
          <p:cNvSpPr>
            <a:spLocks xmlns:a="http://schemas.openxmlformats.org/drawingml/2006/main" noGrp="1"/>
          </p:cNvSpPr>
          <p:nvPr/>
        </p:nvSpPr>
        <p:spPr>
          <a:xfrm xmlns:a="http://schemas.openxmlformats.org/drawingml/2006/main">
            <a:off x="685800" y="1828800"/>
            <a:ext cx="4667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475" b="1">
                <a:solidFill>
                  <a:srgbClr val="80D2C5"/>
                </a:solidFill>
                <a:latin typeface="Aptos"/>
                <a:ea typeface="Aptos"/>
                <a:cs typeface="Aptos"/>
              </a:defRPr>
            </a:pPr>
            <a:r>
              <a:rPr sz="2475" b="1">
                <a:solidFill>
                  <a:srgbClr val="80D2C5"/>
                </a:solidFill>
                <a:latin typeface="Aptos"/>
                <a:ea typeface="Aptos"/>
                <a:cs typeface="Aptos"/>
              </a:rPr>
              <a:t>Completed</a:t>
            </a:r>
          </a:p>
        </p:txBody>
      </p:sp>
      <p:sp>
        <p:nvSpPr>
          <p:cNvPr id="4" name="">
            <a:extLst xmlns:a="http://schemas.openxmlformats.org/drawingml/2006/main">
              <a:ext uri="{FF2B5EF4-FFF2-40B4-BE49-F238E27FC236}">
                <a16:creationId xmlns:a16="http://schemas.microsoft.com/office/drawing/2014/main" id="{51118B62-6488-46D8-80E0-8FD24CF82404}"/>
              </a:ext>
            </a:extLst>
          </p:cNvPr>
          <p:cNvSpPr>
            <a:spLocks xmlns:a="http://schemas.openxmlformats.org/drawingml/2006/main" noGrp="1"/>
          </p:cNvSpPr>
          <p:nvPr/>
        </p:nvSpPr>
        <p:spPr>
          <a:xfrm xmlns:a="http://schemas.openxmlformats.org/drawingml/2006/main">
            <a:off x="685800" y="2600325"/>
            <a:ext cx="5191125"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550" b="0">
                <a:solidFill>
                  <a:srgbClr val="FFFFFF"/>
                </a:solidFill>
                <a:latin typeface="Aptos"/>
                <a:ea typeface="Aptos"/>
                <a:cs typeface="Aptos"/>
              </a:defRPr>
            </a:pPr>
            <a:r>
              <a:rPr sz="2550" b="0">
                <a:solidFill>
                  <a:srgbClr val="FFFFFF"/>
                </a:solidFill>
                <a:latin typeface="Aptos"/>
                <a:ea typeface="Aptos"/>
                <a:cs typeface="Aptos"/>
              </a:rPr>
              <a:t>Two sequence examples</a:t>
            </a:r>
          </a:p>
          <a:p xmlns:a="http://schemas.openxmlformats.org/drawingml/2006/main">
            <a:pPr>
              <a:buNone/>
              <a:defRPr sz="2550" b="0">
                <a:solidFill>
                  <a:srgbClr val="FFFFFF"/>
                </a:solidFill>
                <a:latin typeface="Aptos"/>
                <a:ea typeface="Aptos"/>
                <a:cs typeface="Aptos"/>
              </a:defRPr>
            </a:pPr>
            <a:r>
              <a:rPr sz="2550" b="0">
                <a:solidFill>
                  <a:srgbClr val="FFFFFF"/>
                </a:solidFill>
                <a:latin typeface="Aptos"/>
                <a:ea typeface="Aptos"/>
                <a:cs typeface="Aptos"/>
              </a:rPr>
              <a:t>BUB1B and synthetic TRIP13</a:t>
            </a:r>
          </a:p>
          <a:p xmlns:a="http://schemas.openxmlformats.org/drawingml/2006/main">
            <a:pPr>
              <a:buNone/>
              <a:defRPr sz="2550" b="0">
                <a:solidFill>
                  <a:srgbClr val="FFFFFF"/>
                </a:solidFill>
                <a:latin typeface="Aptos"/>
                <a:ea typeface="Aptos"/>
                <a:cs typeface="Aptos"/>
              </a:defRPr>
            </a:pPr>
            <a:r>
              <a:rPr sz="2550" b="0">
                <a:solidFill>
                  <a:srgbClr val="FFFFFF"/>
                </a:solidFill>
                <a:latin typeface="Aptos"/>
                <a:ea typeface="Aptos"/>
                <a:cs typeface="Aptos"/>
              </a:rPr>
              <a:t>Reusable output explorer</a:t>
            </a:r>
          </a:p>
        </p:txBody>
      </p:sp>
      <p:sp>
        <p:nvSpPr>
          <p:cNvPr id="5" name="">
            <a:extLst xmlns:a="http://schemas.openxmlformats.org/drawingml/2006/main">
              <a:ext uri="{FF2B5EF4-FFF2-40B4-BE49-F238E27FC236}">
                <a16:creationId xmlns:a16="http://schemas.microsoft.com/office/drawing/2014/main" id="{519C828D-A744-4785-9085-867DFAC210BB}"/>
              </a:ext>
            </a:extLst>
          </p:cNvPr>
          <p:cNvSpPr>
            <a:spLocks xmlns:a="http://schemas.openxmlformats.org/drawingml/2006/main" noGrp="1"/>
          </p:cNvSpPr>
          <p:nvPr/>
        </p:nvSpPr>
        <p:spPr>
          <a:xfrm xmlns:a="http://schemas.openxmlformats.org/drawingml/2006/main">
            <a:off x="6496050" y="1828800"/>
            <a:ext cx="4953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475" b="1">
                <a:solidFill>
                  <a:srgbClr val="EAC185"/>
                </a:solidFill>
                <a:latin typeface="Aptos"/>
                <a:ea typeface="Aptos"/>
                <a:cs typeface="Aptos"/>
              </a:defRPr>
            </a:pPr>
            <a:r>
              <a:rPr sz="2475" b="1">
                <a:solidFill>
                  <a:srgbClr val="EAC185"/>
                </a:solidFill>
                <a:latin typeface="Aptos"/>
                <a:ea typeface="Aptos"/>
                <a:cs typeface="Aptos"/>
              </a:rPr>
              <a:t>Next dependency</a:t>
            </a:r>
          </a:p>
        </p:txBody>
      </p:sp>
      <p:sp>
        <p:nvSpPr>
          <p:cNvPr id="6" name="">
            <a:extLst xmlns:a="http://schemas.openxmlformats.org/drawingml/2006/main">
              <a:ext uri="{FF2B5EF4-FFF2-40B4-BE49-F238E27FC236}">
                <a16:creationId xmlns:a16="http://schemas.microsoft.com/office/drawing/2014/main" id="{4D7EEA18-A3A9-401A-B35E-EC60FE562BF0}"/>
              </a:ext>
            </a:extLst>
          </p:cNvPr>
          <p:cNvSpPr>
            <a:spLocks xmlns:a="http://schemas.openxmlformats.org/drawingml/2006/main" noGrp="1"/>
          </p:cNvSpPr>
          <p:nvPr/>
        </p:nvSpPr>
        <p:spPr>
          <a:xfrm xmlns:a="http://schemas.openxmlformats.org/drawingml/2006/main">
            <a:off x="6496050" y="2600325"/>
            <a:ext cx="49530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550" b="0">
                <a:solidFill>
                  <a:srgbClr val="FFFFFF"/>
                </a:solidFill>
                <a:latin typeface="Aptos"/>
                <a:ea typeface="Aptos"/>
                <a:cs typeface="Aptos"/>
              </a:defRPr>
            </a:pPr>
            <a:r>
              <a:rPr sz="2550" b="0">
                <a:solidFill>
                  <a:srgbClr val="FFFFFF"/>
                </a:solidFill>
                <a:latin typeface="Aptos"/>
                <a:ea typeface="Aptos"/>
                <a:cs typeface="Aptos"/>
              </a:rPr>
              <a:t>A consented cell model</a:t>
            </a:r>
          </a:p>
          <a:p xmlns:a="http://schemas.openxmlformats.org/drawingml/2006/main">
            <a:pPr>
              <a:buNone/>
              <a:defRPr sz="2550" b="0">
                <a:solidFill>
                  <a:srgbClr val="FFFFFF"/>
                </a:solidFill>
                <a:latin typeface="Aptos"/>
                <a:ea typeface="Aptos"/>
                <a:cs typeface="Aptos"/>
              </a:defRPr>
            </a:pPr>
            <a:r>
              <a:rPr sz="2550" b="0">
                <a:solidFill>
                  <a:srgbClr val="FFFFFF"/>
                </a:solidFill>
                <a:latin typeface="Aptos"/>
                <a:ea typeface="Aptos"/>
                <a:cs typeface="Aptos"/>
              </a:rPr>
              <a:t>and a partner laboratory</a:t>
            </a:r>
          </a:p>
          <a:p xmlns:a="http://schemas.openxmlformats.org/drawingml/2006/main">
            <a:pPr>
              <a:buNone/>
              <a:defRPr sz="2550" b="0">
                <a:solidFill>
                  <a:srgbClr val="FFFFFF"/>
                </a:solidFill>
                <a:latin typeface="Aptos"/>
                <a:ea typeface="Aptos"/>
                <a:cs typeface="Aptos"/>
              </a:defRPr>
            </a:pPr>
            <a:r>
              <a:rPr sz="2550" b="0">
                <a:solidFill>
                  <a:srgbClr val="FFFFFF"/>
                </a:solidFill>
                <a:latin typeface="Aptos"/>
                <a:ea typeface="Aptos"/>
                <a:cs typeface="Aptos"/>
              </a:rPr>
              <a:t>for functional testing</a:t>
            </a:r>
          </a:p>
        </p:txBody>
      </p:sp>
      <p:sp>
        <p:nvSpPr>
          <p:cNvPr id="7" name="">
            <a:extLst xmlns:a="http://schemas.openxmlformats.org/drawingml/2006/main">
              <a:ext uri="{FF2B5EF4-FFF2-40B4-BE49-F238E27FC236}">
                <a16:creationId xmlns:a16="http://schemas.microsoft.com/office/drawing/2014/main" id="{4E556309-0585-4C8A-A2E3-01AEC3CCA6AE}"/>
              </a:ext>
            </a:extLst>
          </p:cNvPr>
          <p:cNvSpPr>
            <a:spLocks xmlns:a="http://schemas.openxmlformats.org/drawingml/2006/main" noGrp="1"/>
          </p:cNvSpPr>
          <p:nvPr/>
        </p:nvSpPr>
        <p:spPr>
          <a:xfrm xmlns:a="http://schemas.openxmlformats.org/drawingml/2006/main">
            <a:off x="685800" y="51435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775" b="1">
                <a:solidFill>
                  <a:srgbClr val="FFFFFF"/>
                </a:solidFill>
                <a:latin typeface="Aptos"/>
                <a:ea typeface="Aptos"/>
                <a:cs typeface="Aptos"/>
              </a:defRPr>
            </a:pPr>
            <a:r>
              <a:rPr sz="2775" b="1">
                <a:solidFill>
                  <a:srgbClr val="FFFFFF"/>
                </a:solidFill>
                <a:latin typeface="Aptos"/>
                <a:ea typeface="Aptos"/>
                <a:cs typeface="Aptos"/>
              </a:rPr>
              <a:t>Niacin leads. Useful muscle and preserved renewal decide advancement.</a:t>
            </a:r>
          </a:p>
        </p:txBody>
      </p:sp>
      <p:sp>
        <p:nvSpPr>
          <p:cNvPr id="8" name="">
            <a:extLst xmlns:a="http://schemas.openxmlformats.org/drawingml/2006/main">
              <a:ext uri="{FF2B5EF4-FFF2-40B4-BE49-F238E27FC236}">
                <a16:creationId xmlns:a16="http://schemas.microsoft.com/office/drawing/2014/main" id="{59828647-250F-4AAD-BB1D-3600BD52F705}"/>
              </a:ext>
            </a:extLst>
          </p:cNvPr>
          <p:cNvSpPr>
            <a:spLocks xmlns:a="http://schemas.openxmlformats.org/drawingml/2006/main" noGrp="1"/>
          </p:cNvSpPr>
          <p:nvPr/>
        </p:nvSpPr>
        <p:spPr>
          <a:xfrm xmlns:a="http://schemas.openxmlformats.org/drawingml/2006/main">
            <a:off x="685800" y="61531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00" b="0">
                <a:solidFill>
                  <a:srgbClr val="B5CFCC"/>
                </a:solidFill>
                <a:latin typeface="Aptos"/>
                <a:ea typeface="Aptos"/>
                <a:cs typeface="Aptos"/>
              </a:defRPr>
            </a:pPr>
            <a:r>
              <a:rPr sz="1500" b="0">
                <a:solidFill>
                  <a:srgbClr val="B5CFCC"/>
                </a:solidFill>
                <a:latin typeface="Aptos"/>
                <a:ea typeface="Aptos"/>
                <a:cs typeface="Aptos"/>
              </a:rPr>
              <a:t>No biological drug experiment has run. Synthetic narration: Cartesia Skylar.</a:t>
            </a:r>
          </a:p>
        </p:txBody>
      </p:sp>
    </p:spTree>
    <p:extLst>
      <p:ext uri="{BB962C8B-B14F-4D97-AF65-F5344CB8AC3E}">
        <p14:creationId xmlns:p14="http://schemas.microsoft.com/office/powerpoint/2010/main" val="6495852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2026-09-21T23:17:25.3440000Z</dcterms:created>
  <dcterms:modified xsi:type="dcterms:W3CDTF">2026-09-21T23:17:25.3440000Z</dcterms:modified>
</coreProperties>
</file>