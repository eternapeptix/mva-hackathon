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45e1f3ccaa46d7" /><Relationship Type="http://schemas.openxmlformats.org/officeDocument/2006/relationships/extended-properties" Target="/docProps/app.xml" Id="R9689cf0df3594bfa" /><Relationship Type="http://schemas.openxmlformats.org/officeDocument/2006/relationships/officeDocument" Target="/ppt/presentation.xml" Id="Rd2e1ba975f164db6" /></Relationships>
</file>

<file path=ppt/presentation.xml><?xml version="1.0" encoding="utf-8"?>
<p:presentation xmlns:p="http://schemas.openxmlformats.org/presentationml/2006/main">
  <p:sldMasterIdLst>
    <p:sldMasterId xmlns:r="http://schemas.openxmlformats.org/officeDocument/2006/relationships" id="2147483648" r:id="R8e4f1940dbd44954"/>
  </p:sldMasterIdLst>
  <p:notesMasterIdLst>
    <p:notesMasterId xmlns:r="http://schemas.openxmlformats.org/officeDocument/2006/relationships" r:id="Rb90c22404b26411b"/>
  </p:notesMasterIdLst>
  <p:sldIdLst>
    <p:sldId xmlns:r="http://schemas.openxmlformats.org/officeDocument/2006/relationships" id="256" r:id="R537a987eca35469f"/>
    <p:sldId xmlns:r="http://schemas.openxmlformats.org/officeDocument/2006/relationships" id="257" r:id="Rea22d91b60b548e0"/>
    <p:sldId xmlns:r="http://schemas.openxmlformats.org/officeDocument/2006/relationships" id="258" r:id="Rdb70a9f803cf4cbf"/>
    <p:sldId xmlns:r="http://schemas.openxmlformats.org/officeDocument/2006/relationships" id="259" r:id="Rbb26451c96f94af3"/>
    <p:sldId xmlns:r="http://schemas.openxmlformats.org/officeDocument/2006/relationships" id="260" r:id="Re1cfc4bee8c24799"/>
    <p:sldId xmlns:r="http://schemas.openxmlformats.org/officeDocument/2006/relationships" id="261" r:id="Re0a0512db2314f75"/>
    <p:sldId xmlns:r="http://schemas.openxmlformats.org/officeDocument/2006/relationships" id="262" r:id="Rcbdb1b7908f742f6"/>
    <p:sldId xmlns:r="http://schemas.openxmlformats.org/officeDocument/2006/relationships" id="263" r:id="Re03566e08fad4e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6b121435d84ded" /><Relationship Type="http://schemas.openxmlformats.org/officeDocument/2006/relationships/slideMaster" Target="/ppt/slideMasters/slideMaster1.xml" Id="R8e4f1940dbd44954" /><Relationship Type="http://schemas.openxmlformats.org/officeDocument/2006/relationships/notesMaster" Target="/ppt/notesMasters/notesMaster1.xml" Id="Rb90c22404b26411b" /><Relationship Type="http://schemas.openxmlformats.org/officeDocument/2006/relationships/presProps" Target="/ppt/presProps.xml" Id="R5942be59dfc248fd" /><Relationship Type="http://schemas.openxmlformats.org/officeDocument/2006/relationships/tableStyles" Target="/ppt/tableStyles.xml" Id="Rea0919a95d14405a" /><Relationship Type="http://schemas.openxmlformats.org/officeDocument/2006/relationships/slide" Target="/ppt/slides/slide1.xml" Id="R537a987eca35469f" /><Relationship Type="http://schemas.openxmlformats.org/officeDocument/2006/relationships/slide" Target="/ppt/slides/slide2.xml" Id="Rea22d91b60b548e0" /><Relationship Type="http://schemas.openxmlformats.org/officeDocument/2006/relationships/slide" Target="/ppt/slides/slide3.xml" Id="Rdb70a9f803cf4cbf" /><Relationship Type="http://schemas.openxmlformats.org/officeDocument/2006/relationships/slide" Target="/ppt/slides/slide4.xml" Id="Rbb26451c96f94af3" /><Relationship Type="http://schemas.openxmlformats.org/officeDocument/2006/relationships/slide" Target="/ppt/slides/slide5.xml" Id="Re1cfc4bee8c24799" /><Relationship Type="http://schemas.openxmlformats.org/officeDocument/2006/relationships/slide" Target="/ppt/slides/slide6.xml" Id="Re0a0512db2314f75" /><Relationship Type="http://schemas.openxmlformats.org/officeDocument/2006/relationships/slide" Target="/ppt/slides/slide7.xml" Id="Rcbdb1b7908f742f6" /><Relationship Type="http://schemas.openxmlformats.org/officeDocument/2006/relationships/slide" Target="/ppt/slides/slide8.xml" Id="Re03566e08fad4e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aea25c53bc44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9d20110f524b1c" /><Relationship Type="http://schemas.openxmlformats.org/officeDocument/2006/relationships/notesMaster" Target="/ppt/notesMasters/notesMaster1.xml" Id="R8281379b593b4b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61549b53fa40fe" /><Relationship Type="http://schemas.openxmlformats.org/officeDocument/2006/relationships/notesMaster" Target="/ppt/notesMasters/notesMaster1.xml" Id="Rec54450fe7b948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d805e65e5a4136" /><Relationship Type="http://schemas.openxmlformats.org/officeDocument/2006/relationships/notesMaster" Target="/ppt/notesMasters/notesMaster1.xml" Id="R91398bc2703743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f9c206ffb34947" /><Relationship Type="http://schemas.openxmlformats.org/officeDocument/2006/relationships/notesMaster" Target="/ppt/notesMasters/notesMaster1.xml" Id="R9b82abec43f5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d425661634dfd" /><Relationship Type="http://schemas.openxmlformats.org/officeDocument/2006/relationships/notesMaster" Target="/ppt/notesMasters/notesMaster1.xml" Id="Re94e32766e7e40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5de148a644137" /><Relationship Type="http://schemas.openxmlformats.org/officeDocument/2006/relationships/notesMaster" Target="/ppt/notesMasters/notesMaster1.xml" Id="Rba618405aa3247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84ca3d745470a" /><Relationship Type="http://schemas.openxmlformats.org/officeDocument/2006/relationships/notesMaster" Target="/ppt/notesMasters/notesMaster1.xml" Id="R13c414342eaf46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8880a4ea284389" /><Relationship Type="http://schemas.openxmlformats.org/officeDocument/2006/relationships/notesMaster" Target="/ppt/notesMasters/notesMaster1.xml" Id="R9868475fb54947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child has muscle wasting and mosaic variegated aneuploidy, a condition in which cells can carry different numbers of chromosomes. Our question is whether an existing medicine could improve muscle function while preserving the cells needed for growth and repair. We propose two medicines for laboratory testing.</a:t>
            </a:r>
          </a:p>
          <a:p xmlns:a="http://schemas.openxmlformats.org/drawingml/2006/main">
            <a:r>
              <a:t/>
            </a:r>
          </a:p>
          <a:p xmlns:a="http://schemas.openxmlformats.org/drawingml/2006/main">
            <a:r>
              <a:t>Sources:</a:t>
            </a:r>
          </a:p>
          <a:p xmlns:a="http://schemas.openxmlformats.org/drawingml/2006/main">
            <a:r>
              <a:t>reports/jeweled_track2_report_submission.md</a:t>
            </a:r>
          </a:p>
          <a:p xmlns:a="http://schemas.openxmlformats.org/drawingml/2006/main">
            <a:r>
              <a:t>reports/appendices/track1-case-evidence.md</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leading genetic explanation involves Bub one B, the gene that makes the chromosome-checking protein Bub R one. One change creates an early stop. The other changes one amino acid. We still need to establish whether they occupy opposite gene copies, and whether the altered protein retains useful function.</a:t>
            </a:r>
          </a:p>
          <a:p xmlns:a="http://schemas.openxmlformats.org/drawingml/2006/main">
            <a:r>
              <a:t/>
            </a:r>
          </a:p>
          <a:p xmlns:a="http://schemas.openxmlformats.org/drawingml/2006/main">
            <a:r>
              <a:t>Sources:</a:t>
            </a:r>
          </a:p>
          <a:p xmlns:a="http://schemas.openxmlformats.org/drawingml/2006/main">
            <a:r>
              <a:t>reports/appendices/track1-case-evidence.md</a:t>
            </a:r>
          </a:p>
          <a:p xmlns:a="http://schemas.openxmlformats.org/drawingml/2006/main">
            <a:r>
              <a:t>https://pubmed.ncbi.nlm.nih.gov/20516114/</a:t>
            </a:r>
          </a:p>
          <a:p xmlns:a="http://schemas.openxmlformats.org/drawingml/2006/main">
            <a:r>
              <a:t>https://pubmed.ncbi.nlm.nih.gov/33207204/</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hypothesis is everolimus. It inhibits em tor complex one, a pathway that regulates cell growth. Its established target and pediatric use make it practical to investigate. A different Bub one B mouse model showed increased pathway activity, but tested no drug rescue. We must establish harmful excess signaling and useful muscle benefit.</a:t>
            </a:r>
          </a:p>
          <a:p xmlns:a="http://schemas.openxmlformats.org/drawingml/2006/main">
            <a:r>
              <a:t/>
            </a:r>
          </a:p>
          <a:p xmlns:a="http://schemas.openxmlformats.org/drawingml/2006/main">
            <a:r>
              <a:t>Sources:</a:t>
            </a:r>
          </a:p>
          <a:p xmlns:a="http://schemas.openxmlformats.org/drawingml/2006/main">
            <a:r>
              <a:t>https://www.jci.org/articles/view/126863/version/2</a:t>
            </a:r>
          </a:p>
          <a:p xmlns:a="http://schemas.openxmlformats.org/drawingml/2006/main">
            <a:r>
              <a:t>https://dailymed.nlm.nih.gov/dailymed/fda/fdaDrugXsl.cfm?setid=2150f73a-179b-4afc-b8ce-67c85cc72f04</a:t>
            </a:r>
          </a:p>
          <a:p xmlns:a="http://schemas.openxmlformats.org/drawingml/2006/main">
            <a:r>
              <a:t>reports/appendices/track2-evidence-pipeline.md</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challenger is niacin, the nicotinic acid medicine. It increased muscle N A D in a small study of another disease. Separate experiments connect N A D and the enzyme SIRT two to Bub R one stability. The missing link is whether niacin restores useful protein and muscle function in this genotype. We test the medicines separately.</a:t>
            </a:r>
          </a:p>
          <a:p xmlns:a="http://schemas.openxmlformats.org/drawingml/2006/main">
            <a:r>
              <a:t/>
            </a:r>
          </a:p>
          <a:p xmlns:a="http://schemas.openxmlformats.org/drawingml/2006/main">
            <a:r>
              <a:t>Sources:</a:t>
            </a:r>
          </a:p>
          <a:p xmlns:a="http://schemas.openxmlformats.org/drawingml/2006/main">
            <a:r>
              <a:t>https://pubmed.ncbi.nlm.nih.gov/32386566/</a:t>
            </a:r>
          </a:p>
          <a:p xmlns:a="http://schemas.openxmlformats.org/drawingml/2006/main">
            <a:r>
              <a:t>https://pmc.ncbi.nlm.nih.gov/articles/PMC4194088/</a:t>
            </a:r>
          </a:p>
          <a:p xmlns:a="http://schemas.openxmlformats.org/drawingml/2006/main">
            <a:r>
              <a:t>https://pubmed.ncbi.nlm.nih.gov/39173541/</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completed computer model shows why percentages can mislead. In one assumed scenario, removing abnormal cells improved the chromosome-normal fraction while reducing total muscle-cell output over time. These are simulated results, not drug effects. Our experiment therefore follows each starting cell, including those that die or stop dividing.</a:t>
            </a:r>
          </a:p>
          <a:p xmlns:a="http://schemas.openxmlformats.org/drawingml/2006/main">
            <a:r>
              <a:t/>
            </a:r>
          </a:p>
          <a:p xmlns:a="http://schemas.openxmlformats.org/drawingml/2006/main">
            <a:r>
              <a:t>Sources:</a:t>
            </a:r>
          </a:p>
          <a:p xmlns:a="http://schemas.openxmlformats.org/drawingml/2006/main">
            <a:r>
              <a:t>workflow/track2-model/README.md</a:t>
            </a:r>
          </a:p>
          <a:p xmlns:a="http://schemas.openxmlformats.org/drawingml/2006/main">
            <a:r>
              <a:t>workflow/track2-model/population-results.json</a:t>
            </a:r>
          </a:p>
          <a:p xmlns:a="http://schemas.openxmlformats.org/drawingml/2006/main">
            <a:r>
              <a:t>reports/appendices/founder-ledger.md</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would compare affected and genetically corrected muscle models, using measured drug exposures. A medicine must improve either existing muscle or new muscle production, preserve the other, and avoid worsening chromosome errors. Independent confirmation must reproduce the result. The cancer history also requires checking that neither medicine helps tumor cells survive or interferes with cancer treatment.</a:t>
            </a:r>
          </a:p>
          <a:p xmlns:a="http://schemas.openxmlformats.org/drawingml/2006/main">
            <a:r>
              <a:t/>
            </a:r>
          </a:p>
          <a:p xmlns:a="http://schemas.openxmlformats.org/drawingml/2006/main">
            <a:r>
              <a:t>Sources:</a:t>
            </a:r>
          </a:p>
          <a:p xmlns:a="http://schemas.openxmlformats.org/drawingml/2006/main">
            <a:r>
              <a:t>reports/appendices/track2-evidence-pipeline.md</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Arimoclomol remains a reserve because rescue of this protein is unproved. Removing senescent cells has strong genetic mouse evidence, but some drugs also damage repair in young muscle. We investigate that mechanism in parallel. Transcript rescue and other alternatives have explicit promotion tests in our report.</a:t>
            </a:r>
          </a:p>
          <a:p xmlns:a="http://schemas.openxmlformats.org/drawingml/2006/main">
            <a:r>
              <a:t/>
            </a:r>
          </a:p>
          <a:p xmlns:a="http://schemas.openxmlformats.org/drawingml/2006/main">
            <a:r>
              <a:t>Sources:</a:t>
            </a:r>
          </a:p>
          <a:p xmlns:a="http://schemas.openxmlformats.org/drawingml/2006/main">
            <a:r>
              <a:t>reports/appendices/track2-route-decisions.md</a:t>
            </a:r>
          </a:p>
          <a:p xmlns:a="http://schemas.openxmlformats.org/drawingml/2006/main">
            <a:r>
              <a:t>https://pmc.ncbi.nlm.nih.gov/articles/PMC3468323/</a:t>
            </a:r>
          </a:p>
          <a:p xmlns:a="http://schemas.openxmlformats.org/drawingml/2006/main">
            <a:r>
              <a:t>https://pubmed.ncbi.nlm.nih.gov/34904366/</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completed sequence review, evidence review and computational study design. No biological drug experiment has run. We seek a consented cell model and laboratory partner. The deliverable is a reproducible decision: advance a medicine with measured functional benefit, or explain why none passes. The method can then be tested in other chromosome-instability disorders.</a:t>
            </a:r>
          </a:p>
          <a:p xmlns:a="http://schemas.openxmlformats.org/drawingml/2006/main">
            <a:r>
              <a:t/>
            </a:r>
          </a:p>
          <a:p xmlns:a="http://schemas.openxmlformats.org/drawingml/2006/main">
            <a:r>
              <a:t>Sources:</a:t>
            </a:r>
          </a:p>
          <a:p xmlns:a="http://schemas.openxmlformats.org/drawingml/2006/main">
            <a:r>
              <a:t>reports/jeweled_track2_report_submission.md</a:t>
            </a:r>
          </a:p>
          <a:p xmlns:a="http://schemas.openxmlformats.org/drawingml/2006/main">
            <a:r>
              <a:t>reports/appendices/track2-evidence-pipeline.md</a:t>
            </a:r>
          </a:p>
          <a:p xmlns:a="http://schemas.openxmlformats.org/drawingml/2006/main">
            <a:r>
              <a:t/>
            </a:r>
          </a:p>
          <a:p xmlns:a="http://schemas.openxmlformats.org/drawingml/2006/main">
            <a:r>
              <a:t>Research proposal. No biological drug experiment has been performed. Narration: Cartesia Sonic 3.6, stock Skylar. Image on cover is AI-generated conceptual artwork, not biological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3c230d1e444b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d8b1746404a96" /><Relationship Type="http://schemas.openxmlformats.org/officeDocument/2006/relationships/slideLayout" Target="/ppt/slideLayouts/slideLayout1.xml" Id="R48084e54d78941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084e54d78941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cb859d07d74ff9" /><Relationship Type="http://schemas.openxmlformats.org/officeDocument/2006/relationships/image" Target="/ppt/media/image.png" Id="R6b87a7c1ca98479d" /><Relationship Type="http://schemas.openxmlformats.org/officeDocument/2006/relationships/notesSlide" Target="/ppt/notesSlides/notesSlide1.xml" Id="R15029f134cf54c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be3c1a4ee146b6" /><Relationship Type="http://schemas.openxmlformats.org/officeDocument/2006/relationships/notesSlide" Target="/ppt/notesSlides/notesSlide2.xml" Id="R9406e2ed426644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4bdebee6f14869" /><Relationship Type="http://schemas.openxmlformats.org/officeDocument/2006/relationships/notesSlide" Target="/ppt/notesSlides/notesSlide3.xml" Id="R88cc69d9564a47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c973d3708f4f1d" /><Relationship Type="http://schemas.openxmlformats.org/officeDocument/2006/relationships/notesSlide" Target="/ppt/notesSlides/notesSlide4.xml" Id="Rfa89ce2498c54b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e5f6b81f664ae2" /><Relationship Type="http://schemas.openxmlformats.org/officeDocument/2006/relationships/notesSlide" Target="/ppt/notesSlides/notesSlide5.xml" Id="R2c453b397e9443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6e7e472cce4e69" /><Relationship Type="http://schemas.openxmlformats.org/officeDocument/2006/relationships/notesSlide" Target="/ppt/notesSlides/notesSlide6.xml" Id="R9176c216e6c045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a61c5ab91d458d" /><Relationship Type="http://schemas.openxmlformats.org/officeDocument/2006/relationships/notesSlide" Target="/ppt/notesSlides/notesSlide7.xml" Id="R3728b1877c234b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225081743b4070" /><Relationship Type="http://schemas.openxmlformats.org/officeDocument/2006/relationships/notesSlide" Target="/ppt/notesSlides/notesSlide8.xml" Id="Re8f7df6c6e4b4610" /></Relationships>
</file>

<file path=ppt/slides/slide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107EFD-48E8-4B25-91E4-63BC0FA22891}"/>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1 / 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b87a7c1ca9847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1B1C9D-0703-4208-B667-548AEE0FF7D0}"/>
              </a:ext>
            </a:extLst>
          </p:cNvPr>
          <p:cNvSpPr>
            <a:spLocks xmlns:a="http://schemas.openxmlformats.org/drawingml/2006/main" noGrp="1"/>
          </p:cNvSpPr>
          <p:nvPr/>
        </p:nvSpPr>
        <p:spPr>
          <a:xfrm xmlns:a="http://schemas.openxmlformats.org/drawingml/2006/main">
            <a:off x="685800" y="1485900"/>
            <a:ext cx="685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102E36"/>
                </a:solidFill>
                <a:latin typeface="Aptos"/>
                <a:ea typeface="Aptos"/>
                <a:cs typeface="Aptos"/>
              </a:defRPr>
            </a:pPr>
            <a:r>
              <a:rPr sz="4950" b="1">
                <a:solidFill>
                  <a:srgbClr val="102E36"/>
                </a:solidFill>
                <a:latin typeface="Aptos"/>
                <a:ea typeface="Aptos"/>
                <a:cs typeface="Aptos"/>
              </a:rPr>
              <a:t>Preserving muscle</a:t>
            </a:r>
          </a:p>
          <a:p xmlns:a="http://schemas.openxmlformats.org/drawingml/2006/main">
            <a:pPr>
              <a:defRPr sz="4950" b="1">
                <a:solidFill>
                  <a:srgbClr val="102E36"/>
                </a:solidFill>
                <a:latin typeface="Aptos"/>
                <a:ea typeface="Aptos"/>
                <a:cs typeface="Aptos"/>
              </a:defRPr>
            </a:pPr>
            <a:r>
              <a:rPr sz="4950" b="1">
                <a:solidFill>
                  <a:srgbClr val="102E36"/>
                </a:solidFill>
                <a:latin typeface="Aptos"/>
                <a:ea typeface="Aptos"/>
                <a:cs typeface="Aptos"/>
              </a:rPr>
              <a:t>in MVA</a:t>
            </a:r>
          </a:p>
        </p:txBody>
      </p:sp>
      <p:sp>
        <p:nvSpPr>
          <p:cNvPr id="4" name="">
            <a:extLst xmlns:a="http://schemas.openxmlformats.org/drawingml/2006/main">
              <a:ext uri="{FF2B5EF4-FFF2-40B4-BE49-F238E27FC236}">
                <a16:creationId xmlns:a16="http://schemas.microsoft.com/office/drawing/2014/main" id="{860C483D-E35D-4DB4-B41D-86B9AB284890}"/>
              </a:ext>
            </a:extLst>
          </p:cNvPr>
          <p:cNvSpPr>
            <a:spLocks xmlns:a="http://schemas.openxmlformats.org/drawingml/2006/main" noGrp="1"/>
          </p:cNvSpPr>
          <p:nvPr/>
        </p:nvSpPr>
        <p:spPr>
          <a:xfrm xmlns:a="http://schemas.openxmlformats.org/drawingml/2006/main">
            <a:off x="723900" y="3429000"/>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102E36"/>
                </a:solidFill>
                <a:latin typeface="Aptos"/>
                <a:ea typeface="Aptos"/>
                <a:cs typeface="Aptos"/>
              </a:defRPr>
            </a:pPr>
            <a:r>
              <a:rPr sz="2625" b="0">
                <a:solidFill>
                  <a:srgbClr val="102E36"/>
                </a:solidFill>
                <a:latin typeface="Aptos"/>
                <a:ea typeface="Aptos"/>
                <a:cs typeface="Aptos"/>
              </a:rPr>
              <a:t>Two medicines for</a:t>
            </a:r>
          </a:p>
          <a:p xmlns:a="http://schemas.openxmlformats.org/drawingml/2006/main">
            <a:pPr>
              <a:defRPr sz="2625" b="0">
                <a:solidFill>
                  <a:srgbClr val="102E36"/>
                </a:solidFill>
                <a:latin typeface="Aptos"/>
                <a:ea typeface="Aptos"/>
                <a:cs typeface="Aptos"/>
              </a:defRPr>
            </a:pPr>
            <a:r>
              <a:rPr sz="2625" b="0">
                <a:solidFill>
                  <a:srgbClr val="102E36"/>
                </a:solidFill>
                <a:latin typeface="Aptos"/>
                <a:ea typeface="Aptos"/>
                <a:cs typeface="Aptos"/>
              </a:rPr>
              <a:t>laboratory testing</a:t>
            </a:r>
          </a:p>
        </p:txBody>
      </p:sp>
      <p:sp>
        <p:nvSpPr>
          <p:cNvPr id="5" name="">
            <a:extLst xmlns:a="http://schemas.openxmlformats.org/drawingml/2006/main">
              <a:ext uri="{FF2B5EF4-FFF2-40B4-BE49-F238E27FC236}">
                <a16:creationId xmlns:a16="http://schemas.microsoft.com/office/drawing/2014/main" id="{4A6BBB63-0D97-45DC-8F04-465CFD4726D3}"/>
              </a:ext>
            </a:extLst>
          </p:cNvPr>
          <p:cNvSpPr>
            <a:spLocks xmlns:a="http://schemas.openxmlformats.org/drawingml/2006/main" noGrp="1"/>
          </p:cNvSpPr>
          <p:nvPr/>
        </p:nvSpPr>
        <p:spPr>
          <a:xfrm xmlns:a="http://schemas.openxmlformats.org/drawingml/2006/main">
            <a:off x="723900" y="53340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8636A"/>
                </a:solidFill>
                <a:latin typeface="Aptos"/>
                <a:ea typeface="Aptos"/>
                <a:cs typeface="Aptos"/>
              </a:defRPr>
            </a:pPr>
            <a:r>
              <a:rPr sz="1800" b="0">
                <a:solidFill>
                  <a:srgbClr val="48636A"/>
                </a:solidFill>
                <a:latin typeface="Aptos"/>
                <a:ea typeface="Aptos"/>
                <a:cs typeface="Aptos"/>
              </a:rPr>
              <a:t>EternaPeptix / jeweled</a:t>
            </a:r>
          </a:p>
          <a:p xmlns:a="http://schemas.openxmlformats.org/drawingml/2006/main">
            <a:pPr>
              <a:defRPr sz="1800" b="0">
                <a:solidFill>
                  <a:srgbClr val="48636A"/>
                </a:solidFill>
                <a:latin typeface="Aptos"/>
                <a:ea typeface="Aptos"/>
                <a:cs typeface="Aptos"/>
              </a:defRPr>
            </a:pPr>
            <a:r>
              <a:rPr sz="1800" b="0">
                <a:solidFill>
                  <a:srgbClr val="48636A"/>
                </a:solidFill>
                <a:latin typeface="Aptos"/>
                <a:ea typeface="Aptos"/>
                <a:cs typeface="Aptos"/>
              </a:rPr>
              <a:t>Track 2 research proposal</a:t>
            </a:r>
          </a:p>
        </p:txBody>
      </p:sp>
    </p:spTree>
    <p:extLst>
      <p:ext uri="{BB962C8B-B14F-4D97-AF65-F5344CB8AC3E}">
        <p14:creationId xmlns:p14="http://schemas.microsoft.com/office/powerpoint/2010/main" val="1507416994"/>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6BC8A4-A392-48AE-94D2-8B9F21CB9D8B}"/>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02E36"/>
                </a:solidFill>
                <a:latin typeface="Aptos"/>
                <a:ea typeface="Aptos"/>
                <a:cs typeface="Aptos"/>
              </a:defRPr>
            </a:pPr>
            <a:r>
              <a:rPr sz="3450" b="1">
                <a:solidFill>
                  <a:srgbClr val="102E36"/>
                </a:solidFill>
                <a:latin typeface="Aptos"/>
                <a:ea typeface="Aptos"/>
                <a:cs typeface="Aptos"/>
              </a:rPr>
              <a:t>The gene points to a cell-division problem</a:t>
            </a:r>
          </a:p>
        </p:txBody>
      </p:sp>
      <p:sp>
        <p:nvSpPr>
          <p:cNvPr id="2" name="">
            <a:extLst xmlns:a="http://schemas.openxmlformats.org/drawingml/2006/main">
              <a:ext uri="{FF2B5EF4-FFF2-40B4-BE49-F238E27FC236}">
                <a16:creationId xmlns:a16="http://schemas.microsoft.com/office/drawing/2014/main" id="{14786E67-FC2B-4380-B8FB-A10A39262A7E}"/>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2 / 8</a:t>
            </a:r>
          </a:p>
        </p:txBody>
      </p:sp>
      <p:sp>
        <p:nvSpPr>
          <p:cNvPr id="3" name="">
            <a:extLst xmlns:a="http://schemas.openxmlformats.org/drawingml/2006/main">
              <a:ext uri="{FF2B5EF4-FFF2-40B4-BE49-F238E27FC236}">
                <a16:creationId xmlns:a16="http://schemas.microsoft.com/office/drawing/2014/main" id="{AB215A93-F0CB-43B3-A012-6F810A1C0E23}"/>
              </a:ext>
            </a:extLst>
          </p:cNvPr>
          <p:cNvSpPr>
            <a:spLocks xmlns:a="http://schemas.openxmlformats.org/drawingml/2006/main" noGrp="1"/>
          </p:cNvSpPr>
          <p:nvPr/>
        </p:nvSpPr>
        <p:spPr>
          <a:xfrm xmlns:a="http://schemas.openxmlformats.org/drawingml/2006/main">
            <a:off x="685800" y="1600200"/>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02E36"/>
                </a:solidFill>
                <a:latin typeface="Aptos"/>
                <a:ea typeface="Aptos"/>
                <a:cs typeface="Aptos"/>
              </a:defRPr>
            </a:pPr>
            <a:r>
              <a:rPr sz="2325" b="0">
                <a:solidFill>
                  <a:srgbClr val="102E36"/>
                </a:solidFill>
                <a:latin typeface="Aptos"/>
                <a:ea typeface="Aptos"/>
                <a:cs typeface="Aptos"/>
              </a:rPr>
              <a:t>BUB1B is the gene. BUBR1 is the protein that helps cells divide accurately.</a:t>
            </a:r>
          </a:p>
        </p:txBody>
      </p:sp>
      <p:graphicFrame>
        <p:nvGraphicFramePr>
          <p:cNvPr id="9" name=""/>
          <p:cNvGraphicFramePr/>
          <p:nvPr/>
        </p:nvGraphicFramePr>
        <p:xfrm>
          <a:off xmlns:a="http://schemas.openxmlformats.org/drawingml/2006/main" x="685800" y="2714625"/>
          <a:ext xmlns:a="http://schemas.openxmlformats.org/drawingml/2006/main" cx="10820400" cy="2286000"/>
        </p:xfrm>
        <a:graphic xmlns:a="http://schemas.openxmlformats.org/drawingml/2006/main">
          <a:graphicData uri="http://schemas.openxmlformats.org/drawingml/2006/table">
            <a:tbl>
              <a:tblPr/>
              <a:tblGrid>
                <a:gridCol w="4095750"/>
                <a:gridCol w="6724650"/>
              </a:tblGrid>
              <a:tr h="762000">
                <a:tc>
                  <a:txBody>
                    <a:bodyPr>
                      <a:noAutofit/>
                    </a:bodyPr>
                    <a:lstStyle/>
                    <a:p>
                      <a:r>
                        <a:rPr sz="1800" b="1">
                          <a:solidFill>
                            <a:srgbClr val="FFFFFF"/>
                          </a:solidFill>
                          <a:latin typeface="Aptos"/>
                          <a:ea typeface="Aptos"/>
                          <a:cs typeface="Aptos"/>
                        </a:rPr>
                        <a:t>Gene change</a:t>
                      </a:r>
                    </a:p>
                  </a:txBody>
                  <a:tcPr marL="152400" marR="152400" marT="114300" marB="114300" anchor="ctr">
                    <a:solidFill>
                      <a:srgbClr val="167A78"/>
                    </a:solidFill>
                  </a:tcPr>
                </a:tc>
                <a:tc>
                  <a:txBody>
                    <a:bodyPr>
                      <a:noAutofit/>
                    </a:bodyPr>
                    <a:lstStyle/>
                    <a:p>
                      <a:r>
                        <a:rPr sz="1800" b="1">
                          <a:solidFill>
                            <a:srgbClr val="FFFFFF"/>
                          </a:solidFill>
                          <a:latin typeface="Aptos"/>
                          <a:ea typeface="Aptos"/>
                          <a:cs typeface="Aptos"/>
                        </a:rPr>
                        <a:t>Working interpretation</a:t>
                      </a:r>
                    </a:p>
                  </a:txBody>
                  <a:tcPr marL="152400" marR="152400" marT="114300" marB="114300" anchor="ctr">
                    <a:solidFill>
                      <a:srgbClr val="167A78"/>
                    </a:solidFill>
                  </a:tcPr>
                </a:tc>
              </a:tr>
              <a:tr h="762000">
                <a:tc>
                  <a:txBody>
                    <a:bodyPr>
                      <a:noAutofit/>
                    </a:bodyPr>
                    <a:lstStyle/>
                    <a:p>
                      <a:r>
                        <a:rPr sz="2025" b="1">
                          <a:solidFill>
                            <a:srgbClr val="102E36"/>
                          </a:solidFill>
                          <a:latin typeface="Aptos"/>
                          <a:ea typeface="Aptos"/>
                          <a:cs typeface="Aptos"/>
                        </a:rPr>
                        <a:t>p.Leu737Ter</a:t>
                      </a:r>
                    </a:p>
                  </a:txBody>
                  <a:tcPr marL="152400" marR="152400" marT="114300" marB="114300" anchor="ctr">
                    <a:solidFill>
                      <a:srgbClr val="F6F3EC"/>
                    </a:solidFill>
                  </a:tcPr>
                </a:tc>
                <a:tc>
                  <a:txBody>
                    <a:bodyPr>
                      <a:noAutofit/>
                    </a:bodyPr>
                    <a:lstStyle/>
                    <a:p>
                      <a:r>
                        <a:rPr sz="2025" b="0">
                          <a:solidFill>
                            <a:srgbClr val="102E36"/>
                          </a:solidFill>
                          <a:latin typeface="Aptos"/>
                          <a:ea typeface="Aptos"/>
                          <a:cs typeface="Aptos"/>
                        </a:rPr>
                        <a:t>An early stop, predicted to reduce usable protein</a:t>
                      </a:r>
                    </a:p>
                  </a:txBody>
                  <a:tcPr marL="152400" marR="152400" marT="114300" marB="114300" anchor="ctr">
                    <a:solidFill>
                      <a:srgbClr val="F6F3EC"/>
                    </a:solidFill>
                  </a:tcPr>
                </a:tc>
              </a:tr>
              <a:tr h="762000">
                <a:tc>
                  <a:txBody>
                    <a:bodyPr>
                      <a:noAutofit/>
                    </a:bodyPr>
                    <a:lstStyle/>
                    <a:p>
                      <a:r>
                        <a:rPr sz="2025" b="1">
                          <a:solidFill>
                            <a:srgbClr val="102E36"/>
                          </a:solidFill>
                          <a:latin typeface="Aptos"/>
                          <a:ea typeface="Aptos"/>
                          <a:cs typeface="Aptos"/>
                        </a:rPr>
                        <a:t>p.Asn1002Lys (N1002K)</a:t>
                      </a:r>
                    </a:p>
                  </a:txBody>
                  <a:tcPr marL="152400" marR="152400" marT="114300" marB="114300" anchor="ctr">
                    <a:solidFill>
                      <a:srgbClr val="F6F3EC"/>
                    </a:solidFill>
                  </a:tcPr>
                </a:tc>
                <a:tc>
                  <a:txBody>
                    <a:bodyPr>
                      <a:noAutofit/>
                    </a:bodyPr>
                    <a:lstStyle/>
                    <a:p>
                      <a:r>
                        <a:rPr sz="2025" b="0">
                          <a:solidFill>
                            <a:srgbClr val="102E36"/>
                          </a:solidFill>
                          <a:latin typeface="Aptos"/>
                          <a:ea typeface="Aptos"/>
                          <a:cs typeface="Aptos"/>
                        </a:rPr>
                        <a:t>A protein change whose function remains uncertain</a:t>
                      </a:r>
                    </a:p>
                  </a:txBody>
                  <a:tcPr marL="152400" marR="152400" marT="114300" marB="114300" anchor="ctr">
                    <a:solidFill>
                      <a:srgbClr val="F6F3EC"/>
                    </a:solidFill>
                  </a:tcPr>
                </a:tc>
              </a:tr>
            </a:tbl>
          </a:graphicData>
        </a:graphic>
      </p:graphicFrame>
      <p:sp>
        <p:nvSpPr>
          <p:cNvPr id="5" name="">
            <a:extLst xmlns:a="http://schemas.openxmlformats.org/drawingml/2006/main">
              <a:ext uri="{FF2B5EF4-FFF2-40B4-BE49-F238E27FC236}">
                <a16:creationId xmlns:a16="http://schemas.microsoft.com/office/drawing/2014/main" id="{03ACBD0B-6ABE-473A-8CD7-1F71BAB84AF9}"/>
              </a:ext>
            </a:extLst>
          </p:cNvPr>
          <p:cNvSpPr>
            <a:spLocks xmlns:a="http://schemas.openxmlformats.org/drawingml/2006/main" noGrp="1"/>
          </p:cNvSpPr>
          <p:nvPr/>
        </p:nvSpPr>
        <p:spPr>
          <a:xfrm xmlns:a="http://schemas.openxmlformats.org/drawingml/2006/main">
            <a:off x="685800" y="53435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7A78"/>
                </a:solidFill>
                <a:latin typeface="Aptos"/>
                <a:ea typeface="Aptos"/>
                <a:cs typeface="Aptos"/>
              </a:defRPr>
            </a:pPr>
            <a:r>
              <a:rPr sz="2025" b="1">
                <a:solidFill>
                  <a:srgbClr val="167A78"/>
                </a:solidFill>
                <a:latin typeface="Aptos"/>
                <a:ea typeface="Aptos"/>
                <a:cs typeface="Aptos"/>
              </a:rPr>
              <a:t>Unresolved: opposite gene copies, residual protein and actual function.</a:t>
            </a:r>
          </a:p>
        </p:txBody>
      </p:sp>
    </p:spTree>
    <p:extLst>
      <p:ext uri="{BB962C8B-B14F-4D97-AF65-F5344CB8AC3E}">
        <p14:creationId xmlns:p14="http://schemas.microsoft.com/office/powerpoint/2010/main" val="17162104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C92F766-FCC1-4BD6-9302-B0B4F103E6E0}"/>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02E36"/>
                </a:solidFill>
                <a:latin typeface="Aptos"/>
                <a:ea typeface="Aptos"/>
                <a:cs typeface="Aptos"/>
              </a:defRPr>
            </a:pPr>
            <a:r>
              <a:rPr sz="3450" b="1">
                <a:solidFill>
                  <a:srgbClr val="102E36"/>
                </a:solidFill>
                <a:latin typeface="Aptos"/>
                <a:ea typeface="Aptos"/>
                <a:cs typeface="Aptos"/>
              </a:rPr>
              <a:t>Everolimus tests excess growth signaling</a:t>
            </a:r>
          </a:p>
        </p:txBody>
      </p:sp>
      <p:sp>
        <p:nvSpPr>
          <p:cNvPr id="2" name="">
            <a:extLst xmlns:a="http://schemas.openxmlformats.org/drawingml/2006/main">
              <a:ext uri="{FF2B5EF4-FFF2-40B4-BE49-F238E27FC236}">
                <a16:creationId xmlns:a16="http://schemas.microsoft.com/office/drawing/2014/main" id="{460510D7-5A6F-4C33-B8B6-52579B6B4D9D}"/>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3 / 8</a:t>
            </a:r>
          </a:p>
        </p:txBody>
      </p:sp>
      <p:sp>
        <p:nvSpPr>
          <p:cNvPr id="3" name="">
            <a:extLst xmlns:a="http://schemas.openxmlformats.org/drawingml/2006/main">
              <a:ext uri="{FF2B5EF4-FFF2-40B4-BE49-F238E27FC236}">
                <a16:creationId xmlns:a16="http://schemas.microsoft.com/office/drawing/2014/main" id="{C27753E7-4A53-4B9A-8809-8883B61F5984}"/>
              </a:ext>
            </a:extLst>
          </p:cNvPr>
          <p:cNvSpPr>
            <a:spLocks xmlns:a="http://schemas.openxmlformats.org/drawingml/2006/main" noGrp="1"/>
          </p:cNvSpPr>
          <p:nvPr/>
        </p:nvSpPr>
        <p:spPr>
          <a:xfrm xmlns:a="http://schemas.openxmlformats.org/drawingml/2006/main">
            <a:off x="685800" y="19050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67A78"/>
                </a:solidFill>
                <a:latin typeface="Aptos"/>
                <a:ea typeface="Aptos"/>
                <a:cs typeface="Aptos"/>
              </a:defRPr>
            </a:pPr>
            <a:r>
              <a:rPr sz="5400" b="1">
                <a:solidFill>
                  <a:srgbClr val="167A78"/>
                </a:solidFill>
                <a:latin typeface="Aptos"/>
                <a:ea typeface="Aptos"/>
                <a:cs typeface="Aptos"/>
              </a:rPr>
              <a:t>mTORC1</a:t>
            </a:r>
          </a:p>
        </p:txBody>
      </p:sp>
      <p:sp>
        <p:nvSpPr>
          <p:cNvPr id="4" name="">
            <a:extLst xmlns:a="http://schemas.openxmlformats.org/drawingml/2006/main">
              <a:ext uri="{FF2B5EF4-FFF2-40B4-BE49-F238E27FC236}">
                <a16:creationId xmlns:a16="http://schemas.microsoft.com/office/drawing/2014/main" id="{FC4FD5D0-209E-426D-822E-11ED755A373D}"/>
              </a:ext>
            </a:extLst>
          </p:cNvPr>
          <p:cNvSpPr>
            <a:spLocks xmlns:a="http://schemas.openxmlformats.org/drawingml/2006/main" noGrp="1"/>
          </p:cNvSpPr>
          <p:nvPr/>
        </p:nvSpPr>
        <p:spPr>
          <a:xfrm xmlns:a="http://schemas.openxmlformats.org/drawingml/2006/main">
            <a:off x="723900" y="2857500"/>
            <a:ext cx="4667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02E36"/>
                </a:solidFill>
                <a:latin typeface="Aptos"/>
                <a:ea typeface="Aptos"/>
                <a:cs typeface="Aptos"/>
              </a:defRPr>
            </a:pPr>
            <a:r>
              <a:rPr sz="2475" b="0">
                <a:solidFill>
                  <a:srgbClr val="102E36"/>
                </a:solidFill>
                <a:latin typeface="Aptos"/>
                <a:ea typeface="Aptos"/>
                <a:cs typeface="Aptos"/>
              </a:rPr>
              <a:t>A pathway that regulates cell growth</a:t>
            </a:r>
          </a:p>
        </p:txBody>
      </p:sp>
      <p:sp>
        <p:nvSpPr>
          <p:cNvPr id="5" name="">
            <a:extLst xmlns:a="http://schemas.openxmlformats.org/drawingml/2006/main">
              <a:ext uri="{FF2B5EF4-FFF2-40B4-BE49-F238E27FC236}">
                <a16:creationId xmlns:a16="http://schemas.microsoft.com/office/drawing/2014/main" id="{76D74D4A-A192-4304-9719-55C3BCDFD079}"/>
              </a:ext>
            </a:extLst>
          </p:cNvPr>
          <p:cNvSpPr>
            <a:spLocks xmlns:a="http://schemas.openxmlformats.org/drawingml/2006/main" noGrp="1"/>
          </p:cNvSpPr>
          <p:nvPr/>
        </p:nvSpPr>
        <p:spPr>
          <a:xfrm xmlns:a="http://schemas.openxmlformats.org/drawingml/2006/main">
            <a:off x="6286500" y="18288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7A78"/>
                </a:solidFill>
                <a:latin typeface="Aptos"/>
                <a:ea typeface="Aptos"/>
                <a:cs typeface="Aptos"/>
              </a:defRPr>
            </a:pPr>
            <a:r>
              <a:rPr sz="2025" b="1">
                <a:solidFill>
                  <a:srgbClr val="167A78"/>
                </a:solidFill>
                <a:latin typeface="Aptos"/>
                <a:ea typeface="Aptos"/>
                <a:cs typeface="Aptos"/>
              </a:rPr>
              <a:t>Evidence</a:t>
            </a:r>
          </a:p>
        </p:txBody>
      </p:sp>
      <p:sp>
        <p:nvSpPr>
          <p:cNvPr id="6" name="">
            <a:extLst xmlns:a="http://schemas.openxmlformats.org/drawingml/2006/main">
              <a:ext uri="{FF2B5EF4-FFF2-40B4-BE49-F238E27FC236}">
                <a16:creationId xmlns:a16="http://schemas.microsoft.com/office/drawing/2014/main" id="{1A76908B-3E01-4BF6-B265-A75BD3CDB476}"/>
              </a:ext>
            </a:extLst>
          </p:cNvPr>
          <p:cNvSpPr>
            <a:spLocks xmlns:a="http://schemas.openxmlformats.org/drawingml/2006/main" noGrp="1"/>
          </p:cNvSpPr>
          <p:nvPr/>
        </p:nvSpPr>
        <p:spPr>
          <a:xfrm xmlns:a="http://schemas.openxmlformats.org/drawingml/2006/main">
            <a:off x="6286500" y="2381250"/>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02E36"/>
                </a:solidFill>
                <a:latin typeface="Aptos"/>
                <a:ea typeface="Aptos"/>
                <a:cs typeface="Aptos"/>
              </a:defRPr>
            </a:pPr>
            <a:r>
              <a:rPr sz="2400" b="0">
                <a:solidFill>
                  <a:srgbClr val="102E36"/>
                </a:solidFill>
                <a:latin typeface="Aptos"/>
                <a:ea typeface="Aptos"/>
                <a:cs typeface="Aptos"/>
              </a:rPr>
              <a:t>Increased muscle pathway activity in a different BUB1B mouse model</a:t>
            </a:r>
          </a:p>
        </p:txBody>
      </p:sp>
      <p:sp>
        <p:nvSpPr>
          <p:cNvPr id="7" name="">
            <a:extLst xmlns:a="http://schemas.openxmlformats.org/drawingml/2006/main">
              <a:ext uri="{FF2B5EF4-FFF2-40B4-BE49-F238E27FC236}">
                <a16:creationId xmlns:a16="http://schemas.microsoft.com/office/drawing/2014/main" id="{BFA5066F-500F-4C5F-B259-53EEDE4D1D76}"/>
              </a:ext>
            </a:extLst>
          </p:cNvPr>
          <p:cNvSpPr>
            <a:spLocks xmlns:a="http://schemas.openxmlformats.org/drawingml/2006/main" noGrp="1"/>
          </p:cNvSpPr>
          <p:nvPr/>
        </p:nvSpPr>
        <p:spPr>
          <a:xfrm xmlns:a="http://schemas.openxmlformats.org/drawingml/2006/main">
            <a:off x="6286500" y="40005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B07827"/>
                </a:solidFill>
                <a:latin typeface="Aptos"/>
                <a:ea typeface="Aptos"/>
                <a:cs typeface="Aptos"/>
              </a:defRPr>
            </a:pPr>
            <a:r>
              <a:rPr sz="2025" b="1">
                <a:solidFill>
                  <a:srgbClr val="B07827"/>
                </a:solidFill>
                <a:latin typeface="Aptos"/>
                <a:ea typeface="Aptos"/>
                <a:cs typeface="Aptos"/>
              </a:rPr>
              <a:t>Missing</a:t>
            </a:r>
          </a:p>
        </p:txBody>
      </p:sp>
      <p:sp>
        <p:nvSpPr>
          <p:cNvPr id="8" name="">
            <a:extLst xmlns:a="http://schemas.openxmlformats.org/drawingml/2006/main">
              <a:ext uri="{FF2B5EF4-FFF2-40B4-BE49-F238E27FC236}">
                <a16:creationId xmlns:a16="http://schemas.microsoft.com/office/drawing/2014/main" id="{2A07E321-0352-49C2-8B5C-E9D44E89B138}"/>
              </a:ext>
            </a:extLst>
          </p:cNvPr>
          <p:cNvSpPr>
            <a:spLocks xmlns:a="http://schemas.openxmlformats.org/drawingml/2006/main" noGrp="1"/>
          </p:cNvSpPr>
          <p:nvPr/>
        </p:nvSpPr>
        <p:spPr>
          <a:xfrm xmlns:a="http://schemas.openxmlformats.org/drawingml/2006/main">
            <a:off x="6286500" y="4552950"/>
            <a:ext cx="5048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02E36"/>
                </a:solidFill>
                <a:latin typeface="Aptos"/>
                <a:ea typeface="Aptos"/>
                <a:cs typeface="Aptos"/>
              </a:defRPr>
            </a:pPr>
            <a:r>
              <a:rPr sz="2250" b="0">
                <a:solidFill>
                  <a:srgbClr val="102E36"/>
                </a:solidFill>
                <a:latin typeface="Aptos"/>
                <a:ea typeface="Aptos"/>
                <a:cs typeface="Aptos"/>
              </a:rPr>
              <a:t>Proof that this causes harm here, and that everolimus restores function</a:t>
            </a:r>
          </a:p>
        </p:txBody>
      </p:sp>
      <p:sp>
        <p:nvSpPr>
          <p:cNvPr id="9" name="">
            <a:extLst xmlns:a="http://schemas.openxmlformats.org/drawingml/2006/main">
              <a:ext uri="{FF2B5EF4-FFF2-40B4-BE49-F238E27FC236}">
                <a16:creationId xmlns:a16="http://schemas.microsoft.com/office/drawing/2014/main" id="{08DF3B27-A014-4616-B9D2-1D4672673067}"/>
              </a:ext>
            </a:extLst>
          </p:cNvPr>
          <p:cNvSpPr>
            <a:spLocks xmlns:a="http://schemas.openxmlformats.org/drawingml/2006/main" noGrp="1"/>
          </p:cNvSpPr>
          <p:nvPr/>
        </p:nvSpPr>
        <p:spPr>
          <a:xfrm xmlns:a="http://schemas.openxmlformats.org/drawingml/2006/main">
            <a:off x="685800" y="60674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8636A"/>
                </a:solidFill>
                <a:latin typeface="Aptos"/>
                <a:ea typeface="Aptos"/>
                <a:cs typeface="Aptos"/>
              </a:defRPr>
            </a:pPr>
            <a:r>
              <a:rPr sz="1650" b="0">
                <a:solidFill>
                  <a:srgbClr val="48636A"/>
                </a:solidFill>
                <a:latin typeface="Aptos"/>
                <a:ea typeface="Aptos"/>
                <a:cs typeface="Aptos"/>
              </a:rPr>
              <a:t>Small signaling study: two mice per genotype. No drug rescue tested.</a:t>
            </a:r>
          </a:p>
        </p:txBody>
      </p:sp>
    </p:spTree>
    <p:extLst>
      <p:ext uri="{BB962C8B-B14F-4D97-AF65-F5344CB8AC3E}">
        <p14:creationId xmlns:p14="http://schemas.microsoft.com/office/powerpoint/2010/main" val="643100907"/>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A0E73E-41D3-4099-9AA3-28EC736ADBF0}"/>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02E36"/>
                </a:solidFill>
                <a:latin typeface="Aptos"/>
                <a:ea typeface="Aptos"/>
                <a:cs typeface="Aptos"/>
              </a:defRPr>
            </a:pPr>
            <a:r>
              <a:rPr sz="3450" b="1">
                <a:solidFill>
                  <a:srgbClr val="102E36"/>
                </a:solidFill>
                <a:latin typeface="Aptos"/>
                <a:ea typeface="Aptos"/>
                <a:cs typeface="Aptos"/>
              </a:rPr>
              <a:t>Niacin tests usable protein restoration</a:t>
            </a:r>
          </a:p>
        </p:txBody>
      </p:sp>
      <p:sp>
        <p:nvSpPr>
          <p:cNvPr id="2" name="">
            <a:extLst xmlns:a="http://schemas.openxmlformats.org/drawingml/2006/main">
              <a:ext uri="{FF2B5EF4-FFF2-40B4-BE49-F238E27FC236}">
                <a16:creationId xmlns:a16="http://schemas.microsoft.com/office/drawing/2014/main" id="{580E203D-117B-4514-A8D8-06ADAE25428D}"/>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4 / 8</a:t>
            </a:r>
          </a:p>
        </p:txBody>
      </p:sp>
      <p:sp>
        <p:nvSpPr>
          <p:cNvPr id="3" name="">
            <a:extLst xmlns:a="http://schemas.openxmlformats.org/drawingml/2006/main">
              <a:ext uri="{FF2B5EF4-FFF2-40B4-BE49-F238E27FC236}">
                <a16:creationId xmlns:a16="http://schemas.microsoft.com/office/drawing/2014/main" id="{319E84BC-8AD4-4FF7-A0F5-9E40EBAE9E73}"/>
              </a:ext>
            </a:extLst>
          </p:cNvPr>
          <p:cNvSpPr>
            <a:spLocks xmlns:a="http://schemas.openxmlformats.org/drawingml/2006/main" noGrp="1"/>
          </p:cNvSpPr>
          <p:nvPr/>
        </p:nvSpPr>
        <p:spPr>
          <a:xfrm xmlns:a="http://schemas.openxmlformats.org/drawingml/2006/main">
            <a:off x="685800" y="168592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7A78"/>
                </a:solidFill>
                <a:latin typeface="Aptos"/>
                <a:ea typeface="Aptos"/>
                <a:cs typeface="Aptos"/>
              </a:defRPr>
            </a:pPr>
            <a:r>
              <a:rPr sz="3225" b="1">
                <a:solidFill>
                  <a:srgbClr val="167A78"/>
                </a:solidFill>
                <a:latin typeface="Aptos"/>
                <a:ea typeface="Aptos"/>
                <a:cs typeface="Aptos"/>
              </a:rPr>
              <a:t>Niacin = nicotinic acid</a:t>
            </a:r>
          </a:p>
        </p:txBody>
      </p:sp>
      <p:graphicFrame>
        <p:nvGraphicFramePr>
          <p:cNvPr id="9" name=""/>
          <p:cNvGraphicFramePr/>
          <p:nvPr/>
        </p:nvGraphicFramePr>
        <p:xfrm>
          <a:off xmlns:a="http://schemas.openxmlformats.org/drawingml/2006/main" x="685800" y="2533650"/>
          <a:ext xmlns:a="http://schemas.openxmlformats.org/drawingml/2006/main" cx="10820400" cy="3143250"/>
        </p:xfrm>
        <a:graphic xmlns:a="http://schemas.openxmlformats.org/drawingml/2006/main">
          <a:graphicData uri="http://schemas.openxmlformats.org/drawingml/2006/table">
            <a:tbl>
              <a:tblPr/>
              <a:tblGrid>
                <a:gridCol w="3000375"/>
                <a:gridCol w="7820025"/>
              </a:tblGrid>
              <a:tr h="785813">
                <a:tc>
                  <a:txBody>
                    <a:bodyPr>
                      <a:noAutofit/>
                    </a:bodyPr>
                    <a:lstStyle/>
                    <a:p>
                      <a:r>
                        <a:rPr sz="1800" b="1">
                          <a:solidFill>
                            <a:srgbClr val="FFFFFF"/>
                          </a:solidFill>
                          <a:latin typeface="Aptos"/>
                          <a:ea typeface="Aptos"/>
                          <a:cs typeface="Aptos"/>
                        </a:rPr>
                        <a:t>Evidence step</a:t>
                      </a:r>
                    </a:p>
                  </a:txBody>
                  <a:tcPr marL="152400" marR="152400" marT="114300" marB="114300" anchor="ctr">
                    <a:solidFill>
                      <a:srgbClr val="167A78"/>
                    </a:solidFill>
                  </a:tcPr>
                </a:tc>
                <a:tc>
                  <a:txBody>
                    <a:bodyPr>
                      <a:noAutofit/>
                    </a:bodyPr>
                    <a:lstStyle/>
                    <a:p>
                      <a:r>
                        <a:rPr sz="1800" b="1">
                          <a:solidFill>
                            <a:srgbClr val="FFFFFF"/>
                          </a:solidFill>
                          <a:latin typeface="Aptos"/>
                          <a:ea typeface="Aptos"/>
                          <a:cs typeface="Aptos"/>
                        </a:rPr>
                        <a:t>What we know</a:t>
                      </a:r>
                    </a:p>
                  </a:txBody>
                  <a:tcPr marL="152400" marR="152400" marT="114300" marB="114300" anchor="ctr">
                    <a:solidFill>
                      <a:srgbClr val="167A78"/>
                    </a:solidFill>
                  </a:tcPr>
                </a:tc>
              </a:tr>
              <a:tr h="785813">
                <a:tc>
                  <a:txBody>
                    <a:bodyPr>
                      <a:noAutofit/>
                    </a:bodyPr>
                    <a:lstStyle/>
                    <a:p>
                      <a:r>
                        <a:rPr sz="1950" b="1">
                          <a:solidFill>
                            <a:srgbClr val="102E36"/>
                          </a:solidFill>
                          <a:latin typeface="Aptos"/>
                          <a:ea typeface="Aptos"/>
                          <a:cs typeface="Aptos"/>
                        </a:rPr>
                        <a:t>Human muscle</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Niacin raised NAD in five adults with another myopathy</a:t>
                      </a:r>
                    </a:p>
                  </a:txBody>
                  <a:tcPr marL="152400" marR="152400" marT="114300" marB="114300" anchor="ctr">
                    <a:solidFill>
                      <a:srgbClr val="F6F3EC"/>
                    </a:solidFill>
                  </a:tcPr>
                </a:tc>
              </a:tr>
              <a:tr h="785813">
                <a:tc>
                  <a:txBody>
                    <a:bodyPr>
                      <a:noAutofit/>
                    </a:bodyPr>
                    <a:lstStyle/>
                    <a:p>
                      <a:r>
                        <a:rPr sz="1950" b="1">
                          <a:solidFill>
                            <a:srgbClr val="102E36"/>
                          </a:solidFill>
                          <a:latin typeface="Aptos"/>
                          <a:ea typeface="Aptos"/>
                          <a:cs typeface="Aptos"/>
                        </a:rPr>
                        <a:t>Protein mechanism</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Separate precursor / SIRT2 studies support BUBR1 stability</a:t>
                      </a:r>
                    </a:p>
                  </a:txBody>
                  <a:tcPr marL="152400" marR="152400" marT="114300" marB="114300" anchor="ctr">
                    <a:solidFill>
                      <a:srgbClr val="F6F3EC"/>
                    </a:solidFill>
                  </a:tcPr>
                </a:tc>
              </a:tr>
              <a:tr h="785813">
                <a:tc>
                  <a:txBody>
                    <a:bodyPr>
                      <a:noAutofit/>
                    </a:bodyPr>
                    <a:lstStyle/>
                    <a:p>
                      <a:r>
                        <a:rPr sz="1950" b="1">
                          <a:solidFill>
                            <a:srgbClr val="102E36"/>
                          </a:solidFill>
                          <a:latin typeface="Aptos"/>
                          <a:ea typeface="Aptos"/>
                          <a:cs typeface="Aptos"/>
                        </a:rPr>
                        <a:t>Missing connection</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Niacin rescue of this genotype’s protein and muscle</a:t>
                      </a:r>
                    </a:p>
                  </a:txBody>
                  <a:tcPr marL="152400" marR="152400" marT="114300" marB="114300" anchor="ctr">
                    <a:solidFill>
                      <a:srgbClr val="F6F3EC"/>
                    </a:solidFill>
                  </a:tcPr>
                </a:tc>
              </a:tr>
            </a:tbl>
          </a:graphicData>
        </a:graphic>
      </p:graphicFrame>
      <p:sp>
        <p:nvSpPr>
          <p:cNvPr id="5" name="">
            <a:extLst xmlns:a="http://schemas.openxmlformats.org/drawingml/2006/main">
              <a:ext uri="{FF2B5EF4-FFF2-40B4-BE49-F238E27FC236}">
                <a16:creationId xmlns:a16="http://schemas.microsoft.com/office/drawing/2014/main" id="{4E014A0C-D8ED-4E3F-9278-AAE684B32C52}"/>
              </a:ext>
            </a:extLst>
          </p:cNvPr>
          <p:cNvSpPr>
            <a:spLocks xmlns:a="http://schemas.openxmlformats.org/drawingml/2006/main" noGrp="1"/>
          </p:cNvSpPr>
          <p:nvPr/>
        </p:nvSpPr>
        <p:spPr>
          <a:xfrm xmlns:a="http://schemas.openxmlformats.org/drawingml/2006/main">
            <a:off x="685800" y="58483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8636A"/>
                </a:solidFill>
                <a:latin typeface="Aptos"/>
                <a:ea typeface="Aptos"/>
                <a:cs typeface="Aptos"/>
              </a:defRPr>
            </a:pPr>
            <a:r>
              <a:rPr sz="1725" b="0">
                <a:solidFill>
                  <a:srgbClr val="48636A"/>
                </a:solidFill>
                <a:latin typeface="Aptos"/>
                <a:ea typeface="Aptos"/>
                <a:cs typeface="Aptos"/>
              </a:rPr>
              <a:t>NAD supports cell chemistry. SIRT2 is an enzyme. Neither is proof of rescue.</a:t>
            </a:r>
          </a:p>
        </p:txBody>
      </p:sp>
    </p:spTree>
    <p:extLst>
      <p:ext uri="{BB962C8B-B14F-4D97-AF65-F5344CB8AC3E}">
        <p14:creationId xmlns:p14="http://schemas.microsoft.com/office/powerpoint/2010/main" val="1345422072"/>
      </p:ext>
    </p:extLst>
  </p:cSld>
</p:sld>
</file>

<file path=ppt/slides/slide5.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785C2E-6576-4B04-B962-766A78A6FB8E}"/>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A better percentage can hide a loss</a:t>
            </a:r>
          </a:p>
        </p:txBody>
      </p:sp>
      <p:sp>
        <p:nvSpPr>
          <p:cNvPr id="2" name="">
            <a:extLst xmlns:a="http://schemas.openxmlformats.org/drawingml/2006/main">
              <a:ext uri="{FF2B5EF4-FFF2-40B4-BE49-F238E27FC236}">
                <a16:creationId xmlns:a16="http://schemas.microsoft.com/office/drawing/2014/main" id="{9AC1AB03-0EC0-4342-A625-7B7D9583E920}"/>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5CFCC"/>
                </a:solidFill>
                <a:latin typeface="Aptos"/>
                <a:ea typeface="Aptos"/>
                <a:cs typeface="Aptos"/>
              </a:defRPr>
            </a:pPr>
            <a:r>
              <a:rPr sz="1350" b="0">
                <a:solidFill>
                  <a:srgbClr val="B5CFCC"/>
                </a:solidFill>
                <a:latin typeface="Aptos"/>
                <a:ea typeface="Aptos"/>
                <a:cs typeface="Aptos"/>
              </a:rPr>
              <a:t>5 / 8</a:t>
            </a:r>
          </a:p>
        </p:txBody>
      </p:sp>
      <p:sp>
        <p:nvSpPr>
          <p:cNvPr id="3" name="">
            <a:extLst xmlns:a="http://schemas.openxmlformats.org/drawingml/2006/main">
              <a:ext uri="{FF2B5EF4-FFF2-40B4-BE49-F238E27FC236}">
                <a16:creationId xmlns:a16="http://schemas.microsoft.com/office/drawing/2014/main" id="{22766A22-A616-47CE-AFCA-C54B893DC61F}"/>
              </a:ext>
            </a:extLst>
          </p:cNvPr>
          <p:cNvSpPr>
            <a:spLocks xmlns:a="http://schemas.openxmlformats.org/drawingml/2006/main" noGrp="1"/>
          </p:cNvSpPr>
          <p:nvPr/>
        </p:nvSpPr>
        <p:spPr>
          <a:xfrm xmlns:a="http://schemas.openxmlformats.org/drawingml/2006/main">
            <a:off x="685800" y="17240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B5CFCC"/>
                </a:solidFill>
                <a:latin typeface="Aptos"/>
                <a:ea typeface="Aptos"/>
                <a:cs typeface="Aptos"/>
              </a:defRPr>
            </a:pPr>
            <a:r>
              <a:rPr sz="1725" b="0">
                <a:solidFill>
                  <a:srgbClr val="B5CFCC"/>
                </a:solidFill>
                <a:latin typeface="Aptos"/>
                <a:ea typeface="Aptos"/>
                <a:cs typeface="Aptos"/>
              </a:rPr>
              <a:t>ONE ASSUMED COMPUTER SCENARIO</a:t>
            </a:r>
          </a:p>
        </p:txBody>
      </p:sp>
      <p:sp>
        <p:nvSpPr>
          <p:cNvPr id="4" name="">
            <a:extLst xmlns:a="http://schemas.openxmlformats.org/drawingml/2006/main">
              <a:ext uri="{FF2B5EF4-FFF2-40B4-BE49-F238E27FC236}">
                <a16:creationId xmlns:a16="http://schemas.microsoft.com/office/drawing/2014/main" id="{849301B9-66BE-401B-B21E-19D2361E4D17}"/>
              </a:ext>
            </a:extLst>
          </p:cNvPr>
          <p:cNvSpPr>
            <a:spLocks xmlns:a="http://schemas.openxmlformats.org/drawingml/2006/main" noGrp="1"/>
          </p:cNvSpPr>
          <p:nvPr/>
        </p:nvSpPr>
        <p:spPr>
          <a:xfrm xmlns:a="http://schemas.openxmlformats.org/drawingml/2006/main">
            <a:off x="685800" y="2543175"/>
            <a:ext cx="4619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900" b="1">
                <a:solidFill>
                  <a:srgbClr val="80D2C5"/>
                </a:solidFill>
                <a:latin typeface="Aptos"/>
                <a:ea typeface="Aptos"/>
                <a:cs typeface="Aptos"/>
              </a:defRPr>
            </a:pPr>
            <a:r>
              <a:rPr sz="6900" b="1">
                <a:solidFill>
                  <a:srgbClr val="80D2C5"/>
                </a:solidFill>
                <a:latin typeface="Aptos"/>
                <a:ea typeface="Aptos"/>
                <a:cs typeface="Aptos"/>
              </a:rPr>
              <a:t>+16.8</a:t>
            </a:r>
          </a:p>
        </p:txBody>
      </p:sp>
      <p:sp>
        <p:nvSpPr>
          <p:cNvPr id="5" name="">
            <a:extLst xmlns:a="http://schemas.openxmlformats.org/drawingml/2006/main">
              <a:ext uri="{FF2B5EF4-FFF2-40B4-BE49-F238E27FC236}">
                <a16:creationId xmlns:a16="http://schemas.microsoft.com/office/drawing/2014/main" id="{9B66BB43-D8EE-4542-860D-21EAE4170EAB}"/>
              </a:ext>
            </a:extLst>
          </p:cNvPr>
          <p:cNvSpPr>
            <a:spLocks xmlns:a="http://schemas.openxmlformats.org/drawingml/2006/main" noGrp="1"/>
          </p:cNvSpPr>
          <p:nvPr/>
        </p:nvSpPr>
        <p:spPr>
          <a:xfrm xmlns:a="http://schemas.openxmlformats.org/drawingml/2006/main">
            <a:off x="742950" y="388620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ptos"/>
                <a:ea typeface="Aptos"/>
                <a:cs typeface="Aptos"/>
              </a:defRPr>
            </a:pPr>
            <a:r>
              <a:rPr sz="2325" b="0">
                <a:solidFill>
                  <a:srgbClr val="FFFFFF"/>
                </a:solidFill>
                <a:latin typeface="Aptos"/>
                <a:ea typeface="Aptos"/>
                <a:cs typeface="Aptos"/>
              </a:rPr>
              <a:t>percentage points</a:t>
            </a:r>
          </a:p>
          <a:p xmlns:a="http://schemas.openxmlformats.org/drawingml/2006/main">
            <a:pPr>
              <a:defRPr sz="2325" b="0">
                <a:solidFill>
                  <a:srgbClr val="FFFFFF"/>
                </a:solidFill>
                <a:latin typeface="Aptos"/>
                <a:ea typeface="Aptos"/>
                <a:cs typeface="Aptos"/>
              </a:defRPr>
            </a:pPr>
            <a:r>
              <a:rPr sz="2325" b="0">
                <a:solidFill>
                  <a:srgbClr val="FFFFFF"/>
                </a:solidFill>
                <a:latin typeface="Aptos"/>
                <a:ea typeface="Aptos"/>
                <a:cs typeface="Aptos"/>
              </a:rPr>
              <a:t>in chromosome-normal fraction</a:t>
            </a:r>
          </a:p>
        </p:txBody>
      </p:sp>
      <p:sp>
        <p:nvSpPr>
          <p:cNvPr id="6" name="">
            <a:extLst xmlns:a="http://schemas.openxmlformats.org/drawingml/2006/main">
              <a:ext uri="{FF2B5EF4-FFF2-40B4-BE49-F238E27FC236}">
                <a16:creationId xmlns:a16="http://schemas.microsoft.com/office/drawing/2014/main" id="{0C493782-5AF7-4FA0-92B0-59223DBD7ADD}"/>
              </a:ext>
            </a:extLst>
          </p:cNvPr>
          <p:cNvSpPr>
            <a:spLocks xmlns:a="http://schemas.openxmlformats.org/drawingml/2006/main" noGrp="1"/>
          </p:cNvSpPr>
          <p:nvPr/>
        </p:nvSpPr>
        <p:spPr>
          <a:xfrm xmlns:a="http://schemas.openxmlformats.org/drawingml/2006/main">
            <a:off x="6496050" y="2543175"/>
            <a:ext cx="4572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900" b="1">
                <a:solidFill>
                  <a:srgbClr val="EAC185"/>
                </a:solidFill>
                <a:latin typeface="Aptos"/>
                <a:ea typeface="Aptos"/>
                <a:cs typeface="Aptos"/>
              </a:defRPr>
            </a:pPr>
            <a:r>
              <a:rPr sz="6900" b="1">
                <a:solidFill>
                  <a:srgbClr val="EAC185"/>
                </a:solidFill>
                <a:latin typeface="Aptos"/>
                <a:ea typeface="Aptos"/>
                <a:cs typeface="Aptos"/>
              </a:rPr>
              <a:t>−11.0%</a:t>
            </a:r>
          </a:p>
        </p:txBody>
      </p:sp>
      <p:sp>
        <p:nvSpPr>
          <p:cNvPr id="7" name="">
            <a:extLst xmlns:a="http://schemas.openxmlformats.org/drawingml/2006/main">
              <a:ext uri="{FF2B5EF4-FFF2-40B4-BE49-F238E27FC236}">
                <a16:creationId xmlns:a16="http://schemas.microsoft.com/office/drawing/2014/main" id="{185FDE1E-5086-4515-85BF-49A67142321E}"/>
              </a:ext>
            </a:extLst>
          </p:cNvPr>
          <p:cNvSpPr>
            <a:spLocks xmlns:a="http://schemas.openxmlformats.org/drawingml/2006/main" noGrp="1"/>
          </p:cNvSpPr>
          <p:nvPr/>
        </p:nvSpPr>
        <p:spPr>
          <a:xfrm xmlns:a="http://schemas.openxmlformats.org/drawingml/2006/main">
            <a:off x="6553200" y="388620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ptos"/>
                <a:ea typeface="Aptos"/>
                <a:cs typeface="Aptos"/>
              </a:defRPr>
            </a:pPr>
            <a:r>
              <a:rPr sz="2325" b="0">
                <a:solidFill>
                  <a:srgbClr val="FFFFFF"/>
                </a:solidFill>
                <a:latin typeface="Aptos"/>
                <a:ea typeface="Aptos"/>
                <a:cs typeface="Aptos"/>
              </a:rPr>
              <a:t>in total differentiated-cell time</a:t>
            </a:r>
          </a:p>
          <a:p xmlns:a="http://schemas.openxmlformats.org/drawingml/2006/main">
            <a:pPr>
              <a:defRPr sz="2325" b="0">
                <a:solidFill>
                  <a:srgbClr val="FFFFFF"/>
                </a:solidFill>
                <a:latin typeface="Aptos"/>
                <a:ea typeface="Aptos"/>
                <a:cs typeface="Aptos"/>
              </a:defRPr>
            </a:pPr>
            <a:r>
              <a:rPr sz="2325" b="0">
                <a:solidFill>
                  <a:srgbClr val="FFFFFF"/>
                </a:solidFill>
                <a:latin typeface="Aptos"/>
                <a:ea typeface="Aptos"/>
                <a:cs typeface="Aptos"/>
              </a:rPr>
              <a:t>(a model measure of output)</a:t>
            </a:r>
          </a:p>
        </p:txBody>
      </p:sp>
      <p:sp>
        <p:nvSpPr>
          <p:cNvPr id="8" name="">
            <a:extLst xmlns:a="http://schemas.openxmlformats.org/drawingml/2006/main">
              <a:ext uri="{FF2B5EF4-FFF2-40B4-BE49-F238E27FC236}">
                <a16:creationId xmlns:a16="http://schemas.microsoft.com/office/drawing/2014/main" id="{6392F509-BF21-4FDF-A96B-ACCC04FC0C29}"/>
              </a:ext>
            </a:extLst>
          </p:cNvPr>
          <p:cNvSpPr>
            <a:spLocks xmlns:a="http://schemas.openxmlformats.org/drawingml/2006/main" noGrp="1"/>
          </p:cNvSpPr>
          <p:nvPr/>
        </p:nvSpPr>
        <p:spPr>
          <a:xfrm xmlns:a="http://schemas.openxmlformats.org/drawingml/2006/main">
            <a:off x="685800" y="5343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Simulated selection can improve the fraction while reducing total output.</a:t>
            </a:r>
          </a:p>
        </p:txBody>
      </p:sp>
      <p:sp>
        <p:nvSpPr>
          <p:cNvPr id="9" name="">
            <a:extLst xmlns:a="http://schemas.openxmlformats.org/drawingml/2006/main">
              <a:ext uri="{FF2B5EF4-FFF2-40B4-BE49-F238E27FC236}">
                <a16:creationId xmlns:a16="http://schemas.microsoft.com/office/drawing/2014/main" id="{2107304E-0FB3-49E6-B657-6A13FF68A6F4}"/>
              </a:ext>
            </a:extLst>
          </p:cNvPr>
          <p:cNvSpPr>
            <a:spLocks xmlns:a="http://schemas.openxmlformats.org/drawingml/2006/main" noGrp="1"/>
          </p:cNvSpPr>
          <p:nvPr/>
        </p:nvSpPr>
        <p:spPr>
          <a:xfrm xmlns:a="http://schemas.openxmlformats.org/drawingml/2006/main">
            <a:off x="685800" y="6048375"/>
            <a:ext cx="1033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5CFCC"/>
                </a:solidFill>
                <a:latin typeface="Aptos"/>
                <a:ea typeface="Aptos"/>
                <a:cs typeface="Aptos"/>
              </a:defRPr>
            </a:pPr>
            <a:r>
              <a:rPr sz="1650" b="0">
                <a:solidFill>
                  <a:srgbClr val="B5CFCC"/>
                </a:solidFill>
                <a:latin typeface="Aptos"/>
                <a:ea typeface="Aptos"/>
                <a:cs typeface="Aptos"/>
              </a:rPr>
              <a:t>Assay-design result. These are not patient measurements or drug effects.</a:t>
            </a:r>
          </a:p>
        </p:txBody>
      </p:sp>
    </p:spTree>
    <p:extLst>
      <p:ext uri="{BB962C8B-B14F-4D97-AF65-F5344CB8AC3E}">
        <p14:creationId xmlns:p14="http://schemas.microsoft.com/office/powerpoint/2010/main" val="66177910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AEB073-1540-41D5-8A1D-9F0C6BD8C368}"/>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02E36"/>
                </a:solidFill>
                <a:latin typeface="Aptos"/>
                <a:ea typeface="Aptos"/>
                <a:cs typeface="Aptos"/>
              </a:defRPr>
            </a:pPr>
            <a:r>
              <a:rPr sz="3450" b="1">
                <a:solidFill>
                  <a:srgbClr val="102E36"/>
                </a:solidFill>
                <a:latin typeface="Aptos"/>
                <a:ea typeface="Aptos"/>
                <a:cs typeface="Aptos"/>
              </a:rPr>
              <a:t>The experiment must show useful muscle</a:t>
            </a:r>
          </a:p>
        </p:txBody>
      </p:sp>
      <p:sp>
        <p:nvSpPr>
          <p:cNvPr id="2" name="">
            <a:extLst xmlns:a="http://schemas.openxmlformats.org/drawingml/2006/main">
              <a:ext uri="{FF2B5EF4-FFF2-40B4-BE49-F238E27FC236}">
                <a16:creationId xmlns:a16="http://schemas.microsoft.com/office/drawing/2014/main" id="{9DBA6A9D-5FB2-4ACD-8120-20A65E289D66}"/>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6 / 8</a:t>
            </a:r>
          </a:p>
        </p:txBody>
      </p:sp>
      <p:graphicFrame>
        <p:nvGraphicFramePr>
          <p:cNvPr id="8" name=""/>
          <p:cNvGraphicFramePr/>
          <p:nvPr/>
        </p:nvGraphicFramePr>
        <p:xfrm>
          <a:off xmlns:a="http://schemas.openxmlformats.org/drawingml/2006/main" x="685800" y="1876425"/>
          <a:ext xmlns:a="http://schemas.openxmlformats.org/drawingml/2006/main" cx="10820400" cy="3171825"/>
        </p:xfrm>
        <a:graphic xmlns:a="http://schemas.openxmlformats.org/drawingml/2006/main">
          <a:graphicData uri="http://schemas.openxmlformats.org/drawingml/2006/table">
            <a:tbl>
              <a:tblPr/>
              <a:tblGrid>
                <a:gridCol w="3571875"/>
                <a:gridCol w="7248525"/>
              </a:tblGrid>
              <a:tr h="792956">
                <a:tc>
                  <a:txBody>
                    <a:bodyPr>
                      <a:noAutofit/>
                    </a:bodyPr>
                    <a:lstStyle/>
                    <a:p>
                      <a:r>
                        <a:rPr sz="1800" b="1">
                          <a:solidFill>
                            <a:srgbClr val="FFFFFF"/>
                          </a:solidFill>
                          <a:latin typeface="Aptos"/>
                          <a:ea typeface="Aptos"/>
                          <a:cs typeface="Aptos"/>
                        </a:rPr>
                        <a:t>Required result</a:t>
                      </a:r>
                    </a:p>
                  </a:txBody>
                  <a:tcPr marL="152400" marR="152400" marT="114300" marB="114300" anchor="ctr">
                    <a:solidFill>
                      <a:srgbClr val="167A78"/>
                    </a:solidFill>
                  </a:tcPr>
                </a:tc>
                <a:tc>
                  <a:txBody>
                    <a:bodyPr>
                      <a:noAutofit/>
                    </a:bodyPr>
                    <a:lstStyle/>
                    <a:p>
                      <a:r>
                        <a:rPr sz="1800" b="1">
                          <a:solidFill>
                            <a:srgbClr val="FFFFFF"/>
                          </a:solidFill>
                          <a:latin typeface="Aptos"/>
                          <a:ea typeface="Aptos"/>
                          <a:cs typeface="Aptos"/>
                        </a:rPr>
                        <a:t>How we would judge it</a:t>
                      </a:r>
                    </a:p>
                  </a:txBody>
                  <a:tcPr marL="152400" marR="152400" marT="114300" marB="114300" anchor="ctr">
                    <a:solidFill>
                      <a:srgbClr val="167A78"/>
                    </a:solidFill>
                  </a:tcPr>
                </a:tc>
              </a:tr>
              <a:tr h="792956">
                <a:tc>
                  <a:txBody>
                    <a:bodyPr>
                      <a:noAutofit/>
                    </a:bodyPr>
                    <a:lstStyle/>
                    <a:p>
                      <a:r>
                        <a:rPr sz="1950" b="1">
                          <a:solidFill>
                            <a:srgbClr val="102E36"/>
                          </a:solidFill>
                          <a:latin typeface="Aptos"/>
                          <a:ea typeface="Aptos"/>
                          <a:cs typeface="Aptos"/>
                        </a:rPr>
                        <a:t>Useful function</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More force in established muscle OR more new muscle output</a:t>
                      </a:r>
                    </a:p>
                  </a:txBody>
                  <a:tcPr marL="152400" marR="152400" marT="114300" marB="114300" anchor="ctr">
                    <a:solidFill>
                      <a:srgbClr val="F6F3EC"/>
                    </a:solidFill>
                  </a:tcPr>
                </a:tc>
              </a:tr>
              <a:tr h="792956">
                <a:tc>
                  <a:txBody>
                    <a:bodyPr>
                      <a:noAutofit/>
                    </a:bodyPr>
                    <a:lstStyle/>
                    <a:p>
                      <a:r>
                        <a:rPr sz="1950" b="1">
                          <a:solidFill>
                            <a:srgbClr val="102E36"/>
                          </a:solidFill>
                          <a:latin typeface="Aptos"/>
                          <a:ea typeface="Aptos"/>
                          <a:cs typeface="Aptos"/>
                        </a:rPr>
                        <a:t>Preserved capacity</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The other muscle cohort and its renewable cell reserve remain intact</a:t>
                      </a:r>
                    </a:p>
                  </a:txBody>
                  <a:tcPr marL="152400" marR="152400" marT="114300" marB="114300" anchor="ctr">
                    <a:solidFill>
                      <a:srgbClr val="F6F3EC"/>
                    </a:solidFill>
                  </a:tcPr>
                </a:tc>
              </a:tr>
              <a:tr h="792956">
                <a:tc>
                  <a:txBody>
                    <a:bodyPr>
                      <a:noAutofit/>
                    </a:bodyPr>
                    <a:lstStyle/>
                    <a:p>
                      <a:r>
                        <a:rPr sz="1950" b="1">
                          <a:solidFill>
                            <a:srgbClr val="102E36"/>
                          </a:solidFill>
                          <a:latin typeface="Aptos"/>
                          <a:ea typeface="Aptos"/>
                          <a:cs typeface="Aptos"/>
                        </a:rPr>
                        <a:t>Chromosome fidelity</a:t>
                      </a:r>
                    </a:p>
                  </a:txBody>
                  <a:tcPr marL="152400" marR="152400" marT="114300" marB="114300" anchor="ctr">
                    <a:solidFill>
                      <a:srgbClr val="F6F3EC"/>
                    </a:solidFill>
                  </a:tcPr>
                </a:tc>
                <a:tc>
                  <a:txBody>
                    <a:bodyPr>
                      <a:noAutofit/>
                    </a:bodyPr>
                    <a:lstStyle/>
                    <a:p>
                      <a:r>
                        <a:rPr sz="1950" b="0">
                          <a:solidFill>
                            <a:srgbClr val="102E36"/>
                          </a:solidFill>
                          <a:latin typeface="Aptos"/>
                          <a:ea typeface="Aptos"/>
                          <a:cs typeface="Aptos"/>
                        </a:rPr>
                        <a:t>Errors do not worsen; restoration needs its own causal evidence</a:t>
                      </a:r>
                    </a:p>
                  </a:txBody>
                  <a:tcPr marL="152400" marR="152400" marT="114300" marB="114300" anchor="ctr">
                    <a:solidFill>
                      <a:srgbClr val="F6F3EC"/>
                    </a:solidFill>
                  </a:tcPr>
                </a:tc>
              </a:tr>
            </a:tbl>
          </a:graphicData>
        </a:graphic>
      </p:graphicFrame>
      <p:sp>
        <p:nvSpPr>
          <p:cNvPr id="4" name="">
            <a:extLst xmlns:a="http://schemas.openxmlformats.org/drawingml/2006/main">
              <a:ext uri="{FF2B5EF4-FFF2-40B4-BE49-F238E27FC236}">
                <a16:creationId xmlns:a16="http://schemas.microsoft.com/office/drawing/2014/main" id="{2D688475-E2F2-4361-B596-F5F5FD51F3F1}"/>
              </a:ext>
            </a:extLst>
          </p:cNvPr>
          <p:cNvSpPr>
            <a:spLocks xmlns:a="http://schemas.openxmlformats.org/drawingml/2006/main" noGrp="1"/>
          </p:cNvSpPr>
          <p:nvPr/>
        </p:nvSpPr>
        <p:spPr>
          <a:xfrm xmlns:a="http://schemas.openxmlformats.org/drawingml/2006/main">
            <a:off x="685800" y="53340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7A78"/>
                </a:solidFill>
                <a:latin typeface="Aptos"/>
                <a:ea typeface="Aptos"/>
                <a:cs typeface="Aptos"/>
              </a:defRPr>
            </a:pPr>
            <a:r>
              <a:rPr sz="2025" b="1">
                <a:solidFill>
                  <a:srgbClr val="167A78"/>
                </a:solidFill>
                <a:latin typeface="Aptos"/>
                <a:ea typeface="Aptos"/>
                <a:cs typeface="Aptos"/>
              </a:rPr>
              <a:t>Affected and genetically corrected models. Separate drug arms.</a:t>
            </a:r>
          </a:p>
        </p:txBody>
      </p:sp>
      <p:sp>
        <p:nvSpPr>
          <p:cNvPr id="5" name="">
            <a:extLst xmlns:a="http://schemas.openxmlformats.org/drawingml/2006/main">
              <a:ext uri="{FF2B5EF4-FFF2-40B4-BE49-F238E27FC236}">
                <a16:creationId xmlns:a16="http://schemas.microsoft.com/office/drawing/2014/main" id="{714B80F6-394C-4981-B9FA-5BED85A15294}"/>
              </a:ext>
            </a:extLst>
          </p:cNvPr>
          <p:cNvSpPr>
            <a:spLocks xmlns:a="http://schemas.openxmlformats.org/drawingml/2006/main" noGrp="1"/>
          </p:cNvSpPr>
          <p:nvPr/>
        </p:nvSpPr>
        <p:spPr>
          <a:xfrm xmlns:a="http://schemas.openxmlformats.org/drawingml/2006/main">
            <a:off x="685800" y="58483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8636A"/>
                </a:solidFill>
                <a:latin typeface="Aptos"/>
                <a:ea typeface="Aptos"/>
                <a:cs typeface="Aptos"/>
              </a:defRPr>
            </a:pPr>
            <a:r>
              <a:rPr sz="1800" b="0">
                <a:solidFill>
                  <a:srgbClr val="48636A"/>
                </a:solidFill>
                <a:latin typeface="Aptos"/>
                <a:ea typeface="Aptos"/>
                <a:cs typeface="Aptos"/>
              </a:rPr>
              <a:t>Independent confirmation, then tumor and cancer-treatment compatibility.</a:t>
            </a:r>
          </a:p>
        </p:txBody>
      </p:sp>
    </p:spTree>
    <p:extLst>
      <p:ext uri="{BB962C8B-B14F-4D97-AF65-F5344CB8AC3E}">
        <p14:creationId xmlns:p14="http://schemas.microsoft.com/office/powerpoint/2010/main" val="1341361264"/>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7F913F-581C-4198-9C53-01FA4D95D26A}"/>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02E36"/>
                </a:solidFill>
                <a:latin typeface="Aptos"/>
                <a:ea typeface="Aptos"/>
                <a:cs typeface="Aptos"/>
              </a:defRPr>
            </a:pPr>
            <a:r>
              <a:rPr sz="3450" b="1">
                <a:solidFill>
                  <a:srgbClr val="102E36"/>
                </a:solidFill>
                <a:latin typeface="Aptos"/>
                <a:ea typeface="Aptos"/>
                <a:cs typeface="Aptos"/>
              </a:rPr>
              <a:t>Other routes have defined tests for advancement</a:t>
            </a:r>
          </a:p>
        </p:txBody>
      </p:sp>
      <p:sp>
        <p:nvSpPr>
          <p:cNvPr id="2" name="">
            <a:extLst xmlns:a="http://schemas.openxmlformats.org/drawingml/2006/main">
              <a:ext uri="{FF2B5EF4-FFF2-40B4-BE49-F238E27FC236}">
                <a16:creationId xmlns:a16="http://schemas.microsoft.com/office/drawing/2014/main" id="{2070F33B-0965-48EB-B5D5-3F6C0B226090}"/>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8636A"/>
                </a:solidFill>
                <a:latin typeface="Aptos"/>
                <a:ea typeface="Aptos"/>
                <a:cs typeface="Aptos"/>
              </a:defRPr>
            </a:pPr>
            <a:r>
              <a:rPr sz="1350" b="0">
                <a:solidFill>
                  <a:srgbClr val="48636A"/>
                </a:solidFill>
                <a:latin typeface="Aptos"/>
                <a:ea typeface="Aptos"/>
                <a:cs typeface="Aptos"/>
              </a:rPr>
              <a:t>7 / 8</a:t>
            </a:r>
          </a:p>
        </p:txBody>
      </p:sp>
      <p:graphicFrame>
        <p:nvGraphicFramePr>
          <p:cNvPr id="7" name=""/>
          <p:cNvGraphicFramePr/>
          <p:nvPr/>
        </p:nvGraphicFramePr>
        <p:xfrm>
          <a:off xmlns:a="http://schemas.openxmlformats.org/drawingml/2006/main" x="685800" y="1885950"/>
          <a:ext xmlns:a="http://schemas.openxmlformats.org/drawingml/2006/main" cx="10820400" cy="3238500"/>
        </p:xfrm>
        <a:graphic xmlns:a="http://schemas.openxmlformats.org/drawingml/2006/main">
          <a:graphicData uri="http://schemas.openxmlformats.org/drawingml/2006/table">
            <a:tbl>
              <a:tblPr/>
              <a:tblGrid>
                <a:gridCol w="3429000"/>
                <a:gridCol w="7391400"/>
              </a:tblGrid>
              <a:tr h="809625">
                <a:tc>
                  <a:txBody>
                    <a:bodyPr>
                      <a:noAutofit/>
                    </a:bodyPr>
                    <a:lstStyle/>
                    <a:p>
                      <a:r>
                        <a:rPr sz="1800" b="1">
                          <a:solidFill>
                            <a:srgbClr val="FFFFFF"/>
                          </a:solidFill>
                          <a:latin typeface="Aptos"/>
                          <a:ea typeface="Aptos"/>
                          <a:cs typeface="Aptos"/>
                        </a:rPr>
                        <a:t>Route</a:t>
                      </a:r>
                    </a:p>
                  </a:txBody>
                  <a:tcPr marL="152400" marR="152400" marT="114300" marB="114300" anchor="ctr">
                    <a:solidFill>
                      <a:srgbClr val="167A78"/>
                    </a:solidFill>
                  </a:tcPr>
                </a:tc>
                <a:tc>
                  <a:txBody>
                    <a:bodyPr>
                      <a:noAutofit/>
                    </a:bodyPr>
                    <a:lstStyle/>
                    <a:p>
                      <a:r>
                        <a:rPr sz="1800" b="1">
                          <a:solidFill>
                            <a:srgbClr val="FFFFFF"/>
                          </a:solidFill>
                          <a:latin typeface="Aptos"/>
                          <a:ea typeface="Aptos"/>
                          <a:cs typeface="Aptos"/>
                        </a:rPr>
                        <a:t>Decision and reason</a:t>
                      </a:r>
                    </a:p>
                  </a:txBody>
                  <a:tcPr marL="152400" marR="152400" marT="114300" marB="114300" anchor="ctr">
                    <a:solidFill>
                      <a:srgbClr val="167A78"/>
                    </a:solidFill>
                  </a:tcPr>
                </a:tc>
              </a:tr>
              <a:tr h="809625">
                <a:tc>
                  <a:txBody>
                    <a:bodyPr>
                      <a:noAutofit/>
                    </a:bodyPr>
                    <a:lstStyle/>
                    <a:p>
                      <a:r>
                        <a:rPr sz="2025" b="1">
                          <a:solidFill>
                            <a:srgbClr val="102E36"/>
                          </a:solidFill>
                          <a:latin typeface="Aptos"/>
                          <a:ea typeface="Aptos"/>
                          <a:cs typeface="Aptos"/>
                        </a:rPr>
                        <a:t>Arimoclomol</a:t>
                      </a:r>
                    </a:p>
                  </a:txBody>
                  <a:tcPr marL="152400" marR="152400" marT="114300" marB="114300" anchor="ctr">
                    <a:solidFill>
                      <a:srgbClr val="F6F3EC"/>
                    </a:solidFill>
                  </a:tcPr>
                </a:tc>
                <a:tc>
                  <a:txBody>
                    <a:bodyPr>
                      <a:noAutofit/>
                    </a:bodyPr>
                    <a:lstStyle/>
                    <a:p>
                      <a:r>
                        <a:rPr sz="2025" b="0">
                          <a:solidFill>
                            <a:srgbClr val="102E36"/>
                          </a:solidFill>
                          <a:latin typeface="Aptos"/>
                          <a:ea typeface="Aptos"/>
                          <a:cs typeface="Aptos"/>
                        </a:rPr>
                        <a:t>Reserve: useful BUBR1 rescue and relevant exposure remain unproved</a:t>
                      </a:r>
                    </a:p>
                  </a:txBody>
                  <a:tcPr marL="152400" marR="152400" marT="114300" marB="114300" anchor="ctr">
                    <a:solidFill>
                      <a:srgbClr val="F6F3EC"/>
                    </a:solidFill>
                  </a:tcPr>
                </a:tc>
              </a:tr>
              <a:tr h="809625">
                <a:tc>
                  <a:txBody>
                    <a:bodyPr>
                      <a:noAutofit/>
                    </a:bodyPr>
                    <a:lstStyle/>
                    <a:p>
                      <a:r>
                        <a:rPr sz="2025" b="1">
                          <a:solidFill>
                            <a:srgbClr val="102E36"/>
                          </a:solidFill>
                          <a:latin typeface="Aptos"/>
                          <a:ea typeface="Aptos"/>
                          <a:cs typeface="Aptos"/>
                        </a:rPr>
                        <a:t>Senolytic medicines</a:t>
                      </a:r>
                    </a:p>
                  </a:txBody>
                  <a:tcPr marL="152400" marR="152400" marT="114300" marB="114300" anchor="ctr">
                    <a:solidFill>
                      <a:srgbClr val="F6F3EC"/>
                    </a:solidFill>
                  </a:tcPr>
                </a:tc>
                <a:tc>
                  <a:txBody>
                    <a:bodyPr>
                      <a:noAutofit/>
                    </a:bodyPr>
                    <a:lstStyle/>
                    <a:p>
                      <a:r>
                        <a:rPr sz="2025" b="0">
                          <a:solidFill>
                            <a:srgbClr val="102E36"/>
                          </a:solidFill>
                          <a:latin typeface="Aptos"/>
                          <a:ea typeface="Aptos"/>
                          <a:cs typeface="Aptos"/>
                        </a:rPr>
                        <a:t>Reserve: clearing damaged cells can also impair young-muscle repair</a:t>
                      </a:r>
                    </a:p>
                  </a:txBody>
                  <a:tcPr marL="152400" marR="152400" marT="114300" marB="114300" anchor="ctr">
                    <a:solidFill>
                      <a:srgbClr val="F6F3EC"/>
                    </a:solidFill>
                  </a:tcPr>
                </a:tc>
              </a:tr>
              <a:tr h="809625">
                <a:tc>
                  <a:txBody>
                    <a:bodyPr>
                      <a:noAutofit/>
                    </a:bodyPr>
                    <a:lstStyle/>
                    <a:p>
                      <a:r>
                        <a:rPr sz="2025" b="1">
                          <a:solidFill>
                            <a:srgbClr val="102E36"/>
                          </a:solidFill>
                          <a:latin typeface="Aptos"/>
                          <a:ea typeface="Aptos"/>
                          <a:cs typeface="Aptos"/>
                        </a:rPr>
                        <a:t>Transcript / protein rescue</a:t>
                      </a:r>
                    </a:p>
                  </a:txBody>
                  <a:tcPr marL="152400" marR="152400" marT="114300" marB="114300" anchor="ctr">
                    <a:solidFill>
                      <a:srgbClr val="F6F3EC"/>
                    </a:solidFill>
                  </a:tcPr>
                </a:tc>
                <a:tc>
                  <a:txBody>
                    <a:bodyPr>
                      <a:noAutofit/>
                    </a:bodyPr>
                    <a:lstStyle/>
                    <a:p>
                      <a:r>
                        <a:rPr sz="2025" b="0">
                          <a:solidFill>
                            <a:srgbClr val="102E36"/>
                          </a:solidFill>
                          <a:latin typeface="Aptos"/>
                          <a:ea typeface="Aptos"/>
                          <a:cs typeface="Aptos"/>
                        </a:rPr>
                        <a:t>Measure the actual allele products before selecting an intervention</a:t>
                      </a:r>
                    </a:p>
                  </a:txBody>
                  <a:tcPr marL="152400" marR="152400" marT="114300" marB="114300" anchor="ctr">
                    <a:solidFill>
                      <a:srgbClr val="F6F3EC"/>
                    </a:solidFill>
                  </a:tcPr>
                </a:tc>
              </a:tr>
            </a:tbl>
          </a:graphicData>
        </a:graphic>
      </p:graphicFrame>
      <p:sp>
        <p:nvSpPr>
          <p:cNvPr id="4" name="">
            <a:extLst xmlns:a="http://schemas.openxmlformats.org/drawingml/2006/main">
              <a:ext uri="{FF2B5EF4-FFF2-40B4-BE49-F238E27FC236}">
                <a16:creationId xmlns:a16="http://schemas.microsoft.com/office/drawing/2014/main" id="{A6533D6A-ED04-459C-9022-DBC5BA6630A2}"/>
              </a:ext>
            </a:extLst>
          </p:cNvPr>
          <p:cNvSpPr>
            <a:spLocks xmlns:a="http://schemas.openxmlformats.org/drawingml/2006/main" noGrp="1"/>
          </p:cNvSpPr>
          <p:nvPr/>
        </p:nvSpPr>
        <p:spPr>
          <a:xfrm xmlns:a="http://schemas.openxmlformats.org/drawingml/2006/main">
            <a:off x="685800" y="5410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7A78"/>
                </a:solidFill>
                <a:latin typeface="Aptos"/>
                <a:ea typeface="Aptos"/>
                <a:cs typeface="Aptos"/>
              </a:defRPr>
            </a:pPr>
            <a:r>
              <a:rPr sz="2175" b="1">
                <a:solidFill>
                  <a:srgbClr val="167A78"/>
                </a:solidFill>
                <a:latin typeface="Aptos"/>
                <a:ea typeface="Aptos"/>
                <a:cs typeface="Aptos"/>
              </a:rPr>
              <a:t>The report compares every route and specifies what would change each decision.</a:t>
            </a:r>
          </a:p>
        </p:txBody>
      </p:sp>
    </p:spTree>
    <p:extLst>
      <p:ext uri="{BB962C8B-B14F-4D97-AF65-F5344CB8AC3E}">
        <p14:creationId xmlns:p14="http://schemas.microsoft.com/office/powerpoint/2010/main" val="1461233534"/>
      </p:ext>
    </p:extLst>
  </p:cSld>
</p:sld>
</file>

<file path=ppt/slides/slide8.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AA55D1-2D84-4245-83BC-3648B30EAC7E}"/>
              </a:ext>
            </a:extLst>
          </p:cNvPr>
          <p:cNvSpPr>
            <a:spLocks xmlns:a="http://schemas.openxmlformats.org/drawingml/2006/main" noGrp="1"/>
          </p:cNvSpPr>
          <p:nvPr/>
        </p:nvSpPr>
        <p:spPr>
          <a:xfrm xmlns:a="http://schemas.openxmlformats.org/drawingml/2006/main">
            <a:off x="685800" y="4572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A testable plan for a laboratory partner</a:t>
            </a:r>
          </a:p>
        </p:txBody>
      </p:sp>
      <p:sp>
        <p:nvSpPr>
          <p:cNvPr id="2" name="">
            <a:extLst xmlns:a="http://schemas.openxmlformats.org/drawingml/2006/main">
              <a:ext uri="{FF2B5EF4-FFF2-40B4-BE49-F238E27FC236}">
                <a16:creationId xmlns:a16="http://schemas.microsoft.com/office/drawing/2014/main" id="{C9F51134-BD28-4C3D-8FCB-20003D50C7FB}"/>
              </a:ext>
            </a:extLst>
          </p:cNvPr>
          <p:cNvSpPr>
            <a:spLocks xmlns:a="http://schemas.openxmlformats.org/drawingml/2006/main" noGrp="1"/>
          </p:cNvSpPr>
          <p:nvPr/>
        </p:nvSpPr>
        <p:spPr>
          <a:xfrm xmlns:a="http://schemas.openxmlformats.org/drawingml/2006/main">
            <a:off x="10801350" y="6305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5CFCC"/>
                </a:solidFill>
                <a:latin typeface="Aptos"/>
                <a:ea typeface="Aptos"/>
                <a:cs typeface="Aptos"/>
              </a:defRPr>
            </a:pPr>
            <a:r>
              <a:rPr sz="1350" b="0">
                <a:solidFill>
                  <a:srgbClr val="B5CFCC"/>
                </a:solidFill>
                <a:latin typeface="Aptos"/>
                <a:ea typeface="Aptos"/>
                <a:cs typeface="Aptos"/>
              </a:rPr>
              <a:t>8 / 8</a:t>
            </a:r>
          </a:p>
        </p:txBody>
      </p:sp>
      <p:sp>
        <p:nvSpPr>
          <p:cNvPr id="3" name="">
            <a:extLst xmlns:a="http://schemas.openxmlformats.org/drawingml/2006/main">
              <a:ext uri="{FF2B5EF4-FFF2-40B4-BE49-F238E27FC236}">
                <a16:creationId xmlns:a16="http://schemas.microsoft.com/office/drawing/2014/main" id="{7FA7011D-59BE-4686-8B4B-D04438D6B368}"/>
              </a:ext>
            </a:extLst>
          </p:cNvPr>
          <p:cNvSpPr>
            <a:spLocks xmlns:a="http://schemas.openxmlformats.org/drawingml/2006/main" noGrp="1"/>
          </p:cNvSpPr>
          <p:nvPr/>
        </p:nvSpPr>
        <p:spPr>
          <a:xfrm xmlns:a="http://schemas.openxmlformats.org/drawingml/2006/main">
            <a:off x="685800" y="182880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80D2C5"/>
                </a:solidFill>
                <a:latin typeface="Aptos"/>
                <a:ea typeface="Aptos"/>
                <a:cs typeface="Aptos"/>
              </a:defRPr>
            </a:pPr>
            <a:r>
              <a:rPr sz="2475" b="1">
                <a:solidFill>
                  <a:srgbClr val="80D2C5"/>
                </a:solidFill>
                <a:latin typeface="Aptos"/>
                <a:ea typeface="Aptos"/>
                <a:cs typeface="Aptos"/>
              </a:rPr>
              <a:t>Completed</a:t>
            </a:r>
          </a:p>
        </p:txBody>
      </p:sp>
      <p:sp>
        <p:nvSpPr>
          <p:cNvPr id="4" name="">
            <a:extLst xmlns:a="http://schemas.openxmlformats.org/drawingml/2006/main">
              <a:ext uri="{FF2B5EF4-FFF2-40B4-BE49-F238E27FC236}">
                <a16:creationId xmlns:a16="http://schemas.microsoft.com/office/drawing/2014/main" id="{51118B62-6488-46D8-80E0-8FD24CF82404}"/>
              </a:ext>
            </a:extLst>
          </p:cNvPr>
          <p:cNvSpPr>
            <a:spLocks xmlns:a="http://schemas.openxmlformats.org/drawingml/2006/main" noGrp="1"/>
          </p:cNvSpPr>
          <p:nvPr/>
        </p:nvSpPr>
        <p:spPr>
          <a:xfrm xmlns:a="http://schemas.openxmlformats.org/drawingml/2006/main">
            <a:off x="685800" y="2600325"/>
            <a:ext cx="51911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Sequence review</a:t>
            </a:r>
          </a:p>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Evidence review</a:t>
            </a:r>
          </a:p>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Computational study design</a:t>
            </a:r>
          </a:p>
        </p:txBody>
      </p:sp>
      <p:sp>
        <p:nvSpPr>
          <p:cNvPr id="5" name="">
            <a:extLst xmlns:a="http://schemas.openxmlformats.org/drawingml/2006/main">
              <a:ext uri="{FF2B5EF4-FFF2-40B4-BE49-F238E27FC236}">
                <a16:creationId xmlns:a16="http://schemas.microsoft.com/office/drawing/2014/main" id="{519C828D-A744-4785-9085-867DFAC210BB}"/>
              </a:ext>
            </a:extLst>
          </p:cNvPr>
          <p:cNvSpPr>
            <a:spLocks xmlns:a="http://schemas.openxmlformats.org/drawingml/2006/main" noGrp="1"/>
          </p:cNvSpPr>
          <p:nvPr/>
        </p:nvSpPr>
        <p:spPr>
          <a:xfrm xmlns:a="http://schemas.openxmlformats.org/drawingml/2006/main">
            <a:off x="6496050" y="1828800"/>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EAC185"/>
                </a:solidFill>
                <a:latin typeface="Aptos"/>
                <a:ea typeface="Aptos"/>
                <a:cs typeface="Aptos"/>
              </a:defRPr>
            </a:pPr>
            <a:r>
              <a:rPr sz="2475" b="1">
                <a:solidFill>
                  <a:srgbClr val="EAC185"/>
                </a:solidFill>
                <a:latin typeface="Aptos"/>
                <a:ea typeface="Aptos"/>
                <a:cs typeface="Aptos"/>
              </a:rPr>
              <a:t>Next dependency</a:t>
            </a:r>
          </a:p>
        </p:txBody>
      </p:sp>
      <p:sp>
        <p:nvSpPr>
          <p:cNvPr id="6" name="">
            <a:extLst xmlns:a="http://schemas.openxmlformats.org/drawingml/2006/main">
              <a:ext uri="{FF2B5EF4-FFF2-40B4-BE49-F238E27FC236}">
                <a16:creationId xmlns:a16="http://schemas.microsoft.com/office/drawing/2014/main" id="{4D7EEA18-A3A9-401A-B35E-EC60FE562BF0}"/>
              </a:ext>
            </a:extLst>
          </p:cNvPr>
          <p:cNvSpPr>
            <a:spLocks xmlns:a="http://schemas.openxmlformats.org/drawingml/2006/main" noGrp="1"/>
          </p:cNvSpPr>
          <p:nvPr/>
        </p:nvSpPr>
        <p:spPr>
          <a:xfrm xmlns:a="http://schemas.openxmlformats.org/drawingml/2006/main">
            <a:off x="6496050" y="2600325"/>
            <a:ext cx="495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A consented cell model</a:t>
            </a:r>
          </a:p>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and a partner laboratory</a:t>
            </a:r>
          </a:p>
          <a:p xmlns:a="http://schemas.openxmlformats.org/drawingml/2006/main">
            <a:pPr>
              <a:defRPr sz="2550" b="0">
                <a:solidFill>
                  <a:srgbClr val="FFFFFF"/>
                </a:solidFill>
                <a:latin typeface="Aptos"/>
                <a:ea typeface="Aptos"/>
                <a:cs typeface="Aptos"/>
              </a:defRPr>
            </a:pPr>
            <a:r>
              <a:rPr sz="2550" b="0">
                <a:solidFill>
                  <a:srgbClr val="FFFFFF"/>
                </a:solidFill>
                <a:latin typeface="Aptos"/>
                <a:ea typeface="Aptos"/>
                <a:cs typeface="Aptos"/>
              </a:rPr>
              <a:t>for functional testing</a:t>
            </a:r>
          </a:p>
        </p:txBody>
      </p:sp>
      <p:sp>
        <p:nvSpPr>
          <p:cNvPr id="7" name="">
            <a:extLst xmlns:a="http://schemas.openxmlformats.org/drawingml/2006/main">
              <a:ext uri="{FF2B5EF4-FFF2-40B4-BE49-F238E27FC236}">
                <a16:creationId xmlns:a16="http://schemas.microsoft.com/office/drawing/2014/main" id="{4E556309-0585-4C8A-A2E3-01AEC3CCA6AE}"/>
              </a:ext>
            </a:extLst>
          </p:cNvPr>
          <p:cNvSpPr>
            <a:spLocks xmlns:a="http://schemas.openxmlformats.org/drawingml/2006/main" noGrp="1"/>
          </p:cNvSpPr>
          <p:nvPr/>
        </p:nvSpPr>
        <p:spPr>
          <a:xfrm xmlns:a="http://schemas.openxmlformats.org/drawingml/2006/main">
            <a:off x="685800" y="514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Advance a medicine with measured benefit, or explain why none passes.</a:t>
            </a:r>
          </a:p>
        </p:txBody>
      </p:sp>
      <p:sp>
        <p:nvSpPr>
          <p:cNvPr id="8" name="">
            <a:extLst xmlns:a="http://schemas.openxmlformats.org/drawingml/2006/main">
              <a:ext uri="{FF2B5EF4-FFF2-40B4-BE49-F238E27FC236}">
                <a16:creationId xmlns:a16="http://schemas.microsoft.com/office/drawing/2014/main" id="{59828647-250F-4AAD-BB1D-3600BD52F705}"/>
              </a:ext>
            </a:extLst>
          </p:cNvPr>
          <p:cNvSpPr>
            <a:spLocks xmlns:a="http://schemas.openxmlformats.org/drawingml/2006/main" noGrp="1"/>
          </p:cNvSpPr>
          <p:nvPr/>
        </p:nvSpPr>
        <p:spPr>
          <a:xfrm xmlns:a="http://schemas.openxmlformats.org/drawingml/2006/main">
            <a:off x="685800" y="61531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B5CFCC"/>
                </a:solidFill>
                <a:latin typeface="Aptos"/>
                <a:ea typeface="Aptos"/>
                <a:cs typeface="Aptos"/>
              </a:defRPr>
            </a:pPr>
            <a:r>
              <a:rPr sz="1500" b="0">
                <a:solidFill>
                  <a:srgbClr val="B5CFCC"/>
                </a:solidFill>
                <a:latin typeface="Aptos"/>
                <a:ea typeface="Aptos"/>
                <a:cs typeface="Aptos"/>
              </a:rPr>
              <a:t>No biological drug experiment has run. Synthetic narration: Cartesia Skylar.</a:t>
            </a:r>
          </a:p>
        </p:txBody>
      </p:sp>
    </p:spTree>
    <p:extLst>
      <p:ext uri="{BB962C8B-B14F-4D97-AF65-F5344CB8AC3E}">
        <p14:creationId xmlns:p14="http://schemas.microsoft.com/office/powerpoint/2010/main" val="649585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2026-09-21T19:28:15.2160000Z</dcterms:created>
  <dcterms:modified xsi:type="dcterms:W3CDTF">2026-09-21T19:28:15.2160000Z</dcterms:modified>
</coreProperties>
</file>