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ca170fc8a34923" /><Relationship Type="http://schemas.openxmlformats.org/officeDocument/2006/relationships/extended-properties" Target="/docProps/app.xml" Id="Rbabc4f828ea24d2e" /><Relationship Type="http://schemas.openxmlformats.org/officeDocument/2006/relationships/officeDocument" Target="/ppt/presentation.xml" Id="R7f5cb5b4a2584cf4" /></Relationships>
</file>

<file path=ppt/presentation.xml><?xml version="1.0" encoding="utf-8"?>
<p:presentation xmlns:p="http://schemas.openxmlformats.org/presentationml/2006/main">
  <p:sldMasterIdLst>
    <p:sldMasterId xmlns:r="http://schemas.openxmlformats.org/officeDocument/2006/relationships" id="2147483648" r:id="R68f97a668fec4880"/>
  </p:sldMasterIdLst>
  <p:notesMasterIdLst>
    <p:notesMasterId xmlns:r="http://schemas.openxmlformats.org/officeDocument/2006/relationships" r:id="R997627afdac346e5"/>
  </p:notesMasterIdLst>
  <p:sldIdLst>
    <p:sldId xmlns:r="http://schemas.openxmlformats.org/officeDocument/2006/relationships" id="256" r:id="Rfb57367dd0ac41dd"/>
    <p:sldId xmlns:r="http://schemas.openxmlformats.org/officeDocument/2006/relationships" id="257" r:id="R998dbd01b4a24b69"/>
    <p:sldId xmlns:r="http://schemas.openxmlformats.org/officeDocument/2006/relationships" id="258" r:id="R4c955b41546b4619"/>
    <p:sldId xmlns:r="http://schemas.openxmlformats.org/officeDocument/2006/relationships" id="259" r:id="Rcbca14ac6a00433b"/>
    <p:sldId xmlns:r="http://schemas.openxmlformats.org/officeDocument/2006/relationships" id="260" r:id="Re7df56b7f7784391"/>
    <p:sldId xmlns:r="http://schemas.openxmlformats.org/officeDocument/2006/relationships" id="261" r:id="Re09a92e1c6c44ca1"/>
    <p:sldId xmlns:r="http://schemas.openxmlformats.org/officeDocument/2006/relationships" id="262" r:id="Ra1856a242c4945a0"/>
    <p:sldId xmlns:r="http://schemas.openxmlformats.org/officeDocument/2006/relationships" id="263" r:id="R4a905fe2f7d54d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e963e4f2ff4e21" /><Relationship Type="http://schemas.openxmlformats.org/officeDocument/2006/relationships/slideMaster" Target="/ppt/slideMasters/slideMaster1.xml" Id="R68f97a668fec4880" /><Relationship Type="http://schemas.openxmlformats.org/officeDocument/2006/relationships/notesMaster" Target="/ppt/notesMasters/notesMaster1.xml" Id="R997627afdac346e5" /><Relationship Type="http://schemas.openxmlformats.org/officeDocument/2006/relationships/presProps" Target="/ppt/presProps.xml" Id="Ree520d4cd6304402" /><Relationship Type="http://schemas.openxmlformats.org/officeDocument/2006/relationships/tableStyles" Target="/ppt/tableStyles.xml" Id="R2eb63bf7fd99443e" /><Relationship Type="http://schemas.openxmlformats.org/officeDocument/2006/relationships/slide" Target="/ppt/slides/slide1.xml" Id="Rfb57367dd0ac41dd" /><Relationship Type="http://schemas.openxmlformats.org/officeDocument/2006/relationships/slide" Target="/ppt/slides/slide2.xml" Id="R998dbd01b4a24b69" /><Relationship Type="http://schemas.openxmlformats.org/officeDocument/2006/relationships/slide" Target="/ppt/slides/slide3.xml" Id="R4c955b41546b4619" /><Relationship Type="http://schemas.openxmlformats.org/officeDocument/2006/relationships/slide" Target="/ppt/slides/slide4.xml" Id="Rcbca14ac6a00433b" /><Relationship Type="http://schemas.openxmlformats.org/officeDocument/2006/relationships/slide" Target="/ppt/slides/slide5.xml" Id="Re7df56b7f7784391" /><Relationship Type="http://schemas.openxmlformats.org/officeDocument/2006/relationships/slide" Target="/ppt/slides/slide6.xml" Id="Re09a92e1c6c44ca1" /><Relationship Type="http://schemas.openxmlformats.org/officeDocument/2006/relationships/slide" Target="/ppt/slides/slide7.xml" Id="Ra1856a242c4945a0" /><Relationship Type="http://schemas.openxmlformats.org/officeDocument/2006/relationships/slide" Target="/ppt/slides/slide8.xml" Id="R4a905fe2f7d54d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ebb2f068cb48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4914adf8874ff7" /><Relationship Type="http://schemas.openxmlformats.org/officeDocument/2006/relationships/notesMaster" Target="/ppt/notesMasters/notesMaster1.xml" Id="R1dac5c79abb44b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d1b88c93b4459c" /><Relationship Type="http://schemas.openxmlformats.org/officeDocument/2006/relationships/notesMaster" Target="/ppt/notesMasters/notesMaster1.xml" Id="R19f0603076cb40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525e40a0794bd0" /><Relationship Type="http://schemas.openxmlformats.org/officeDocument/2006/relationships/notesMaster" Target="/ppt/notesMasters/notesMaster1.xml" Id="R9be5c568b9b843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3d553a0fe54fd2" /><Relationship Type="http://schemas.openxmlformats.org/officeDocument/2006/relationships/notesMaster" Target="/ppt/notesMasters/notesMaster1.xml" Id="Red5b35fbc76f4a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d02bf020ce4b90" /><Relationship Type="http://schemas.openxmlformats.org/officeDocument/2006/relationships/notesMaster" Target="/ppt/notesMasters/notesMaster1.xml" Id="Rce5d3b3916994c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a5f47103814fde" /><Relationship Type="http://schemas.openxmlformats.org/officeDocument/2006/relationships/notesMaster" Target="/ppt/notesMasters/notesMaster1.xml" Id="R098e2ff00bcf4e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74821ed29e492c" /><Relationship Type="http://schemas.openxmlformats.org/officeDocument/2006/relationships/notesMaster" Target="/ppt/notesMasters/notesMaster1.xml" Id="R9b781718066340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fd12099c35406f" /><Relationship Type="http://schemas.openxmlformats.org/officeDocument/2006/relationships/notesMaster" Target="/ppt/notesMasters/notesMaster1.xml" Id="R8c223652eb924f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This child has muscle wasting and mosaic variegated aneuploidy, a condition in which cells can carry different numbers of chromosomes. Our question is whether an existing medicine could improve muscle function while preserving the cells needed for growth and repair. We propose two medicines for laboratory testing.</a:t>
            </a:r>
          </a:p>
          <a:p xmlns:a="http://schemas.openxmlformats.org/drawingml/2006/main">
            <a:r>
              <a:t>Sources: reports/jeweled_track2_report_submission.md; reports/appendices/track1-case-evidence.md.</a:t>
            </a:r>
          </a:p>
          <a:p xmlns:a="http://schemas.openxmlformats.org/drawingml/2006/main">
            <a:r>
              <a:t>The cover crop reuses the prior conceptual AI-generated illustration. It is not a patient image, microscopy or experimental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BUB1B makes the checkpoint protein BUBR1. Our stop-plus-missense pair matches a reported MVA1 pattern: reduced protein supply. The missense protein's stability and function remain unmeasured. Trans phase needs confirmation. Confirmed cis retires this pair as the compound-heterozygous explanation.</a:t>
            </a:r>
          </a:p>
          <a:p xmlns:a="http://schemas.openxmlformats.org/drawingml/2006/main">
            <a:r>
              <a:t>Sources: reports/appendices/track1-case-evidence.md; reports/appendices/causal-interpretation.md; Suijkerbuijk et al. 2010, https://pubmed.ncbi.nlm.nih.gov/20516114/; Lischetti et al. 2020, https://pubmed.ncbi.nlm.nih.gov/33207204/.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Niacin is our lead because it targets the protein-supply hypothesis. It raised muscle NAD in another myopathy. Separate experiments connect NAD and SIRT2 to BUBR1 stability. Niacin has not rescued this genotype. We test whether it increases usable protein and useful muscle.</a:t>
            </a:r>
          </a:p>
          <a:p xmlns:a="http://schemas.openxmlformats.org/drawingml/2006/main">
            <a:r>
              <a:t>Niacin sources: Pirinen et al. 2020, https://pubmed.ncbi.nlm.nih.gov/32386566/; North et al. 2014, https://pmc.ncbi.nlm.nih.gov/articles/PMC4194088/; reports/appendices/track2-evidence-pipeline.md.</a:t>
            </a:r>
          </a:p>
          <a:p xmlns:a="http://schemas.openxmlformats.org/drawingml/2006/main">
            <a:r>
              <a:t>Niacin does not inherit NMN or genetic SIRT2 effects. The current prescription-niacin label does not establish pediatric effectiveness.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Apitegromab is our muscle-support comparator. It blocks myostatin activation and improved motor function in a randomized spinal-muscular-atrophy trial. It now has an approved use, but no MVA evidence. Fractures are a labeled risk. We test useful muscle output, without claiming that larger muscles repair the chromosome defect.</a:t>
            </a:r>
          </a:p>
          <a:p xmlns:a="http://schemas.openxmlformats.org/drawingml/2006/main">
            <a:r>
              <a:t>Sources: SAPPHIRE full report, https://orbi.uliege.be/bitstream/2268/339849/1/Safety%20and%20efficacy%20of%20apitegromab%20in%20nonambulatory%20type%202%20or%20type%203%20spinal%20muscular%20atrophy.pdf; protocol, https://cdn.clinicaltrials.gov/large-docs/20/NCT05156320/Prot_000.pdf; SAP, https://cdn.clinicaltrials.gov/large-docs/20/NCT05156320/SAP_001.pdf; US label, https://dailymed.nlm.nih.gov/dailymed/drugInfo.cfm?setid=b1cd8ab8-8a10-48ed-9806-75a44f22b963; reports/appendices/track2-candidate-shortlist.md.</a:t>
            </a:r>
          </a:p>
          <a:p xmlns:a="http://schemas.openxmlformats.org/drawingml/2006/main">
            <a:r>
              <a:t>The pooled-dose primary contrast was positive; the prespecified 20 mg/kg-only primary comparison did not pass and stopped gatekeeping. Dose-specific/secondary estimates after that point were exploratory. This does not demonstrate MVA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Our cell-selection explorer exposes a misleading result. In one simulated scenario, the chromosome-normal fraction rose sixteen point eight percentage points while total differentiated-cell time fell eleven percent. Other teams can inspect this tradeoff across declared assumptions. Our proposed experiment tracks starting cells, including those that die or stop dividing.</a:t>
            </a:r>
          </a:p>
          <a:p xmlns:a="http://schemas.openxmlformats.org/drawingml/2006/main">
            <a:r>
              <a:t>Sources: workflow/track2-model/README.md; workflow/track2-model/population-results.json; workflow/track2-model/explorer/README.md; reports/appendices/founder-ledger.md.</a:t>
            </a:r>
          </a:p>
          <a:p xmlns:a="http://schemas.openxmlformats.org/drawingml/2006/main">
            <a:r>
              <a:t>The displayed values are one assumption-based simulation scenario, not a patient measurement or drug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We would compare affected and genetically corrected muscle models, using measured drug exposures. A medicine must improve either existing muscle or new muscle production, preserve the other, and avoid worsening chromosome errors. Independent confirmation must reproduce the result. The cancer history also requires checking that neither medicine helps tumor cells survive or interferes with cancer treatment.</a:t>
            </a:r>
          </a:p>
          <a:p xmlns:a="http://schemas.openxmlformats.org/drawingml/2006/main">
            <a:r>
              <a:t>Sources: reports/appendices/track2-evidence-pipeline.md; reports/appendices/founder-ledger.md; reports/appendices/oncology-counterscreen.md.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Our public drug census screened over fifteen thousand clinical and regulatory entries. It made apitegromab a stronger downstream candidate than everolimus for muscle function. Everolimus remains a conditional signaling probe. Other same-gene genetic and drug findings have explicit limitations. Missing evidence stays unknown rather than becoming a failed drug.</a:t>
            </a:r>
          </a:p>
          <a:p xmlns:a="http://schemas.openxmlformats.org/drawingml/2006/main">
            <a:r>
              <a:t>Sources: workflow/track2-drug-census/README.md; workflow/track2-drug-census/decision-report.md; reports/appendices/track2-candidate-shortlist.md; reports/appendices/track2-route-decisions.md.</a:t>
            </a:r>
          </a:p>
          <a:p xmlns:a="http://schemas.openxmlformats.org/drawingml/2006/main">
            <a:r>
              <a:t>The census retains 15,357 catalog/supplement entities and 40 FDA product entries in a separate layer; the ledger has 290 curated route/compound appraisals. These counts use different units and do not imply exhaustive market coverage or efficacy assessment of each entry.</a:t>
            </a:r>
          </a:p>
          <a:p xmlns:a="http://schemas.openxmlformats.org/drawingml/2006/main">
            <a:r>
              <a:t>The common-compound extension at workflow/track2-drug-census/common-compound-extension.md is a bounded follow-up, not a complete supplement inventory; it did not establish BUBR1-dependent MVA rescue or change the provisional 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We also ran the workflow on a public, synthetic TRIP13 example. It shows why a BUBR1 restoration hypothesis cannot simply transfer to another gene. That demonstrates reuse, not treatment validation. Next we need a consented muscle model and laboratory partner to test niacin and apitegromab separately.</a:t>
            </a:r>
          </a:p>
          <a:p xmlns:a="http://schemas.openxmlformats.org/drawingml/2006/main">
            <a:r>
              <a:t>Sources: reports/jeweled_track2_report_submission.md; reports/appendices/track2-evidence-pipeline.md; workflow/track2-transfer/README.md.</a:t>
            </a:r>
          </a:p>
          <a:p xmlns:a="http://schemas.openxmlformats.org/drawingml/2006/main">
            <a:r>
              <a:t>The public TRIP13 input is synthetic and the transfer example begins from selected coding variants, not raw-VCF discovery. Cell/lab access, staffing and costs remain unsecured.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6bf1163f9446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82395d76d449eb" /><Relationship Type="http://schemas.openxmlformats.org/officeDocument/2006/relationships/slideLayout" Target="/ppt/slideLayouts/slideLayout1.xml" Id="Rc08c1648582c41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8c1648582c41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17b16bd4cb4a19" /><Relationship Type="http://schemas.openxmlformats.org/officeDocument/2006/relationships/image" Target="/ppt/media/image.png" Id="R23af343ef73c42c4" /><Relationship Type="http://schemas.openxmlformats.org/officeDocument/2006/relationships/notesSlide" Target="/ppt/notesSlides/notesSlide1.xml" Id="Rc32d065019f742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462ea30640426a" /><Relationship Type="http://schemas.openxmlformats.org/officeDocument/2006/relationships/notesSlide" Target="/ppt/notesSlides/notesSlide2.xml" Id="R13d6d4f88eaf48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f94dee479ae4eaf" /><Relationship Type="http://schemas.openxmlformats.org/officeDocument/2006/relationships/notesSlide" Target="/ppt/notesSlides/notesSlide3.xml" Id="Rfe8c5268cb6b48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4bd0ec10c04c11" /><Relationship Type="http://schemas.openxmlformats.org/officeDocument/2006/relationships/notesSlide" Target="/ppt/notesSlides/notesSlide4.xml" Id="Rdc74e71752cf43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e237b91598f473d" /><Relationship Type="http://schemas.openxmlformats.org/officeDocument/2006/relationships/notesSlide" Target="/ppt/notesSlides/notesSlide5.xml" Id="R8490f655bb884c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ef512cdf4d4224" /><Relationship Type="http://schemas.openxmlformats.org/officeDocument/2006/relationships/notesSlide" Target="/ppt/notesSlides/notesSlide6.xml" Id="R79ba83fb1f7c4a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887b5b2353941a6" /><Relationship Type="http://schemas.openxmlformats.org/officeDocument/2006/relationships/notesSlide" Target="/ppt/notesSlides/notesSlide7.xml" Id="R0fa746319ad846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4fae705ff854e0b" /><Relationship Type="http://schemas.openxmlformats.org/officeDocument/2006/relationships/notesSlide" Target="/ppt/notesSlides/notesSlide8.xml" Id="R138e4e045be04be5" /></Relationships>
</file>

<file path=ppt/slides/slide1.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3af343ef73c42c4"/>
          <a:srcRect xmlns:a="http://schemas.openxmlformats.org/drawingml/2006/main" l="0" t="4198" r="0" b="4198"/>
          <a:stretch xmlns:a="http://schemas.openxmlformats.org/drawingml/2006/main">
            <a:fillRect l="0" t="0" r="0" b="0"/>
          </a:stretch>
        </p:blipFill>
        <p:spPr>
          <a:xfrm xmlns:a="http://schemas.openxmlformats.org/drawingml/2006/main">
            <a:off x="5953125" y="0"/>
            <a:ext cx="6238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614E7BA-7CE9-4FDE-B4B8-09A568BE1A40}"/>
              </a:ext>
            </a:extLst>
          </p:cNvPr>
          <p:cNvSpPr>
            <a:spLocks xmlns:a="http://schemas.openxmlformats.org/drawingml/2006/main" noGrp="1"/>
          </p:cNvSpPr>
          <p:nvPr/>
        </p:nvSpPr>
        <p:spPr>
          <a:xfrm xmlns:a="http://schemas.openxmlformats.org/drawingml/2006/main">
            <a:off x="0" y="0"/>
            <a:ext cx="6096000" cy="6858000"/>
          </a:xfrm>
          <a:prstGeom xmlns:a="http://schemas.openxmlformats.org/drawingml/2006/main" prst="rect">
            <a:avLst/>
          </a:prstGeom>
          <a:solidFill xmlns:a="http://schemas.openxmlformats.org/drawingml/2006/main">
            <a:srgbClr val="F7F4E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009769A-8C00-4F33-A4D5-44F3DB92EF3D}"/>
              </a:ext>
            </a:extLst>
          </p:cNvPr>
          <p:cNvSpPr>
            <a:spLocks xmlns:a="http://schemas.openxmlformats.org/drawingml/2006/main" noGrp="1"/>
          </p:cNvSpPr>
          <p:nvPr/>
        </p:nvSpPr>
        <p:spPr>
          <a:xfrm xmlns:a="http://schemas.openxmlformats.org/drawingml/2006/main">
            <a:off x="609600" y="666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37F79"/>
                </a:solidFill>
                <a:latin typeface="Helvetica Neue"/>
                <a:ea typeface="Helvetica Neue"/>
                <a:cs typeface="Helvetica Neue"/>
              </a:defRPr>
            </a:pPr>
            <a:r>
              <a:rPr sz="1200" b="1">
                <a:solidFill>
                  <a:srgbClr val="137F79"/>
                </a:solidFill>
                <a:latin typeface="Helvetica Neue"/>
                <a:ea typeface="Helvetica Neue"/>
                <a:cs typeface="Helvetica Neue"/>
              </a:rPr>
              <a:t>MVA  ·  TRACK 2</a:t>
            </a:r>
          </a:p>
        </p:txBody>
      </p:sp>
      <p:sp>
        <p:nvSpPr>
          <p:cNvPr id="4" name="">
            <a:extLst xmlns:a="http://schemas.openxmlformats.org/drawingml/2006/main">
              <a:ext uri="{FF2B5EF4-FFF2-40B4-BE49-F238E27FC236}">
                <a16:creationId xmlns:a16="http://schemas.microsoft.com/office/drawing/2014/main" id="{49A97030-C6BC-4C0E-92C3-BA7A17DEE069}"/>
              </a:ext>
            </a:extLst>
          </p:cNvPr>
          <p:cNvSpPr>
            <a:spLocks xmlns:a="http://schemas.openxmlformats.org/drawingml/2006/main" noGrp="1"/>
          </p:cNvSpPr>
          <p:nvPr/>
        </p:nvSpPr>
        <p:spPr>
          <a:xfrm xmlns:a="http://schemas.openxmlformats.org/drawingml/2006/main">
            <a:off x="609600" y="1200150"/>
            <a:ext cx="495300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12383D"/>
                </a:solidFill>
                <a:latin typeface="Helvetica Neue"/>
                <a:ea typeface="Helvetica Neue"/>
                <a:cs typeface="Helvetica Neue"/>
              </a:defRPr>
            </a:pPr>
            <a:r>
              <a:rPr sz="4125" b="1">
                <a:solidFill>
                  <a:srgbClr val="12383D"/>
                </a:solidFill>
                <a:latin typeface="Helvetica Neue"/>
                <a:ea typeface="Helvetica Neue"/>
                <a:cs typeface="Helvetica Neue"/>
              </a:rPr>
              <a:t>Preserving</a:t>
            </a:r>
          </a:p>
          <a:p xmlns:a="http://schemas.openxmlformats.org/drawingml/2006/main">
            <a:pPr algn="l">
              <a:defRPr sz="4125" b="1">
                <a:solidFill>
                  <a:srgbClr val="12383D"/>
                </a:solidFill>
                <a:latin typeface="Helvetica Neue"/>
                <a:ea typeface="Helvetica Neue"/>
                <a:cs typeface="Helvetica Neue"/>
              </a:defRPr>
            </a:pPr>
            <a:r>
              <a:rPr sz="4125" b="1">
                <a:solidFill>
                  <a:srgbClr val="12383D"/>
                </a:solidFill>
                <a:latin typeface="Helvetica Neue"/>
                <a:ea typeface="Helvetica Neue"/>
                <a:cs typeface="Helvetica Neue"/>
              </a:rPr>
              <a:t>useful muscle</a:t>
            </a:r>
          </a:p>
          <a:p xmlns:a="http://schemas.openxmlformats.org/drawingml/2006/main">
            <a:pPr algn="l">
              <a:defRPr sz="4125" b="1">
                <a:solidFill>
                  <a:srgbClr val="12383D"/>
                </a:solidFill>
                <a:latin typeface="Helvetica Neue"/>
                <a:ea typeface="Helvetica Neue"/>
                <a:cs typeface="Helvetica Neue"/>
              </a:defRPr>
            </a:pPr>
            <a:r>
              <a:rPr sz="4125" b="1">
                <a:solidFill>
                  <a:srgbClr val="12383D"/>
                </a:solidFill>
                <a:latin typeface="Helvetica Neue"/>
                <a:ea typeface="Helvetica Neue"/>
                <a:cs typeface="Helvetica Neue"/>
              </a:rPr>
              <a:t>in MVA</a:t>
            </a:r>
          </a:p>
        </p:txBody>
      </p:sp>
      <p:sp>
        <p:nvSpPr>
          <p:cNvPr id="5" name="">
            <a:extLst xmlns:a="http://schemas.openxmlformats.org/drawingml/2006/main">
              <a:ext uri="{FF2B5EF4-FFF2-40B4-BE49-F238E27FC236}">
                <a16:creationId xmlns:a16="http://schemas.microsoft.com/office/drawing/2014/main" id="{6C2406D5-1F86-4041-B0D7-10303CC8A82F}"/>
              </a:ext>
            </a:extLst>
          </p:cNvPr>
          <p:cNvSpPr>
            <a:spLocks xmlns:a="http://schemas.openxmlformats.org/drawingml/2006/main" noGrp="1"/>
          </p:cNvSpPr>
          <p:nvPr/>
        </p:nvSpPr>
        <p:spPr>
          <a:xfrm xmlns:a="http://schemas.openxmlformats.org/drawingml/2006/main">
            <a:off x="628650" y="3562350"/>
            <a:ext cx="4714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37F79"/>
                </a:solidFill>
                <a:latin typeface="Helvetica Neue"/>
                <a:ea typeface="Helvetica Neue"/>
                <a:cs typeface="Helvetica Neue"/>
              </a:defRPr>
            </a:pPr>
            <a:r>
              <a:rPr sz="2250" b="1">
                <a:solidFill>
                  <a:srgbClr val="137F79"/>
                </a:solidFill>
                <a:latin typeface="Helvetica Neue"/>
                <a:ea typeface="Helvetica Neue"/>
                <a:cs typeface="Helvetica Neue"/>
              </a:rPr>
              <a:t>Two distinct medicine hypotheses.</a:t>
            </a:r>
          </a:p>
          <a:p xmlns:a="http://schemas.openxmlformats.org/drawingml/2006/main">
            <a:pPr algn="l">
              <a:defRPr sz="2250" b="1">
                <a:solidFill>
                  <a:srgbClr val="137F79"/>
                </a:solidFill>
                <a:latin typeface="Helvetica Neue"/>
                <a:ea typeface="Helvetica Neue"/>
                <a:cs typeface="Helvetica Neue"/>
              </a:defRPr>
            </a:pPr>
            <a:r>
              <a:rPr sz="2250" b="1">
                <a:solidFill>
                  <a:srgbClr val="137F79"/>
                </a:solidFill>
                <a:latin typeface="Helvetica Neue"/>
                <a:ea typeface="Helvetica Neue"/>
                <a:cs typeface="Helvetica Neue"/>
              </a:rPr>
              <a:t>One chromosome-fidelity rule.</a:t>
            </a:r>
          </a:p>
        </p:txBody>
      </p:sp>
      <p:sp>
        <p:nvSpPr>
          <p:cNvPr id="6" name="">
            <a:extLst xmlns:a="http://schemas.openxmlformats.org/drawingml/2006/main">
              <a:ext uri="{FF2B5EF4-FFF2-40B4-BE49-F238E27FC236}">
                <a16:creationId xmlns:a16="http://schemas.microsoft.com/office/drawing/2014/main" id="{2E722C4C-FB55-4C0C-866D-C9A9694B5E59}"/>
              </a:ext>
            </a:extLst>
          </p:cNvPr>
          <p:cNvSpPr>
            <a:spLocks xmlns:a="http://schemas.openxmlformats.org/drawingml/2006/main" noGrp="1"/>
          </p:cNvSpPr>
          <p:nvPr/>
        </p:nvSpPr>
        <p:spPr>
          <a:xfrm xmlns:a="http://schemas.openxmlformats.org/drawingml/2006/main">
            <a:off x="628650" y="4591050"/>
            <a:ext cx="4619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03B3D"/>
                </a:solidFill>
                <a:latin typeface="Helvetica Neue"/>
                <a:ea typeface="Helvetica Neue"/>
                <a:cs typeface="Helvetica Neue"/>
              </a:defRPr>
            </a:pPr>
            <a:r>
              <a:rPr sz="1650" b="0">
                <a:solidFill>
                  <a:srgbClr val="203B3D"/>
                </a:solidFill>
                <a:latin typeface="Helvetica Neue"/>
                <a:ea typeface="Helvetica Neue"/>
                <a:cs typeface="Helvetica Neue"/>
              </a:rPr>
              <a:t>Could existing medicines improve muscle function while preserving the cells needed for growth and repair?</a:t>
            </a:r>
          </a:p>
        </p:txBody>
      </p:sp>
      <p:sp>
        <p:nvSpPr>
          <p:cNvPr id="7" name="">
            <a:extLst xmlns:a="http://schemas.openxmlformats.org/drawingml/2006/main">
              <a:ext uri="{FF2B5EF4-FFF2-40B4-BE49-F238E27FC236}">
                <a16:creationId xmlns:a16="http://schemas.microsoft.com/office/drawing/2014/main" id="{B630F33F-CC5C-46D4-8319-98176AB0B3B5}"/>
              </a:ext>
            </a:extLst>
          </p:cNvPr>
          <p:cNvSpPr>
            <a:spLocks xmlns:a="http://schemas.openxmlformats.org/drawingml/2006/main" noGrp="1"/>
          </p:cNvSpPr>
          <p:nvPr/>
        </p:nvSpPr>
        <p:spPr>
          <a:xfrm xmlns:a="http://schemas.openxmlformats.org/drawingml/2006/main">
            <a:off x="609600" y="5810250"/>
            <a:ext cx="4667250" cy="9525"/>
          </a:xfrm>
          <a:prstGeom xmlns:a="http://schemas.openxmlformats.org/drawingml/2006/main" prst="rect">
            <a:avLst/>
          </a:prstGeom>
          <a:solidFill xmlns:a="http://schemas.openxmlformats.org/drawingml/2006/main">
            <a:srgbClr val="D1D8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71C30A1-2559-4D93-B59C-DEDBC1CA1E9C}"/>
              </a:ext>
            </a:extLst>
          </p:cNvPr>
          <p:cNvSpPr>
            <a:spLocks xmlns:a="http://schemas.openxmlformats.org/drawingml/2006/main" noGrp="1"/>
          </p:cNvSpPr>
          <p:nvPr/>
        </p:nvSpPr>
        <p:spPr>
          <a:xfrm xmlns:a="http://schemas.openxmlformats.org/drawingml/2006/main">
            <a:off x="609600" y="5981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96F70"/>
                </a:solidFill>
                <a:latin typeface="Helvetica Neue"/>
                <a:ea typeface="Helvetica Neue"/>
                <a:cs typeface="Helvetica Neue"/>
              </a:defRPr>
            </a:pPr>
            <a:r>
              <a:rPr sz="1200" b="1">
                <a:solidFill>
                  <a:srgbClr val="596F70"/>
                </a:solidFill>
                <a:latin typeface="Helvetica Neue"/>
                <a:ea typeface="Helvetica Neue"/>
                <a:cs typeface="Helvetica Neue"/>
              </a:rPr>
              <a:t>EternaPeptix / jeweled  ·  laboratory proposal</a:t>
            </a:r>
          </a:p>
        </p:txBody>
      </p:sp>
      <p:sp>
        <p:nvSpPr>
          <p:cNvPr id="9" name="">
            <a:extLst xmlns:a="http://schemas.openxmlformats.org/drawingml/2006/main">
              <a:ext uri="{FF2B5EF4-FFF2-40B4-BE49-F238E27FC236}">
                <a16:creationId xmlns:a16="http://schemas.microsoft.com/office/drawing/2014/main" id="{D6106352-A3B2-4E8D-947B-172AFF5CBCC9}"/>
              </a:ext>
            </a:extLst>
          </p:cNvPr>
          <p:cNvSpPr>
            <a:spLocks xmlns:a="http://schemas.openxmlformats.org/drawingml/2006/main" noGrp="1"/>
          </p:cNvSpPr>
          <p:nvPr/>
        </p:nvSpPr>
        <p:spPr>
          <a:xfrm xmlns:a="http://schemas.openxmlformats.org/drawingml/2006/main">
            <a:off x="609600" y="6200775"/>
            <a:ext cx="4667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B85C48"/>
                </a:solidFill>
                <a:latin typeface="Helvetica Neue"/>
                <a:ea typeface="Helvetica Neue"/>
                <a:cs typeface="Helvetica Neue"/>
              </a:defRPr>
            </a:pPr>
            <a:r>
              <a:rPr sz="1125" b="1">
                <a:solidFill>
                  <a:srgbClr val="B85C48"/>
                </a:solidFill>
                <a:latin typeface="Helvetica Neue"/>
                <a:ea typeface="Helvetica Neue"/>
                <a:cs typeface="Helvetica Neue"/>
              </a:rPr>
              <a:t>No MVA drug rescue is established.</a:t>
            </a:r>
          </a:p>
        </p:txBody>
      </p:sp>
    </p:spTree>
    <p:extLst>
      <p:ext uri="{BB962C8B-B14F-4D97-AF65-F5344CB8AC3E}">
        <p14:creationId xmlns:p14="http://schemas.microsoft.com/office/powerpoint/2010/main" val="1765955989"/>
      </p:ext>
    </p:extLst>
  </p:cSld>
</p:sld>
</file>

<file path=ppt/slides/slide2.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19C5DF2-08ED-4C37-8711-9603ABF86A13}"/>
              </a:ext>
            </a:extLst>
          </p:cNvPr>
          <p:cNvSpPr>
            <a:spLocks xmlns:a="http://schemas.openxmlformats.org/drawingml/2006/main" noGrp="1"/>
          </p:cNvSpPr>
          <p:nvPr/>
        </p:nvSpPr>
        <p:spPr>
          <a:xfrm xmlns:a="http://schemas.openxmlformats.org/drawingml/2006/main">
            <a:off x="609600" y="409575"/>
            <a:ext cx="1009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83D"/>
                </a:solidFill>
                <a:latin typeface="Helvetica Neue"/>
                <a:ea typeface="Helvetica Neue"/>
                <a:cs typeface="Helvetica Neue"/>
              </a:defRPr>
            </a:pPr>
            <a:r>
              <a:rPr sz="3150" b="1">
                <a:solidFill>
                  <a:srgbClr val="12383D"/>
                </a:solidFill>
                <a:latin typeface="Helvetica Neue"/>
                <a:ea typeface="Helvetica Neue"/>
                <a:cs typeface="Helvetica Neue"/>
              </a:rPr>
              <a:t>A BUBR1 supply hypothesis is testable</a:t>
            </a:r>
          </a:p>
        </p:txBody>
      </p:sp>
      <p:sp>
        <p:nvSpPr>
          <p:cNvPr id="2" name="">
            <a:extLst xmlns:a="http://schemas.openxmlformats.org/drawingml/2006/main">
              <a:ext uri="{FF2B5EF4-FFF2-40B4-BE49-F238E27FC236}">
                <a16:creationId xmlns:a16="http://schemas.microsoft.com/office/drawing/2014/main" id="{2E5EB22D-868E-484E-9166-A88CE8496161}"/>
              </a:ext>
            </a:extLst>
          </p:cNvPr>
          <p:cNvSpPr>
            <a:spLocks xmlns:a="http://schemas.openxmlformats.org/drawingml/2006/main" noGrp="1"/>
          </p:cNvSpPr>
          <p:nvPr/>
        </p:nvSpPr>
        <p:spPr>
          <a:xfrm xmlns:a="http://schemas.openxmlformats.org/drawingml/2006/main">
            <a:off x="10744200" y="504825"/>
            <a:ext cx="83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137F79"/>
                </a:solidFill>
                <a:latin typeface="Helvetica Neue"/>
                <a:ea typeface="Helvetica Neue"/>
                <a:cs typeface="Helvetica Neue"/>
              </a:defRPr>
            </a:pPr>
            <a:r>
              <a:rPr sz="1200" b="1">
                <a:solidFill>
                  <a:srgbClr val="137F79"/>
                </a:solidFill>
                <a:latin typeface="Helvetica Neue"/>
                <a:ea typeface="Helvetica Neue"/>
                <a:cs typeface="Helvetica Neue"/>
              </a:rPr>
              <a:t>02 / 08</a:t>
            </a:r>
          </a:p>
        </p:txBody>
      </p:sp>
      <p:sp>
        <p:nvSpPr>
          <p:cNvPr id="3" name="">
            <a:extLst xmlns:a="http://schemas.openxmlformats.org/drawingml/2006/main">
              <a:ext uri="{FF2B5EF4-FFF2-40B4-BE49-F238E27FC236}">
                <a16:creationId xmlns:a16="http://schemas.microsoft.com/office/drawing/2014/main" id="{85B03EC2-AE00-4326-8765-6FE5CDF2F479}"/>
              </a:ext>
            </a:extLst>
          </p:cNvPr>
          <p:cNvSpPr>
            <a:spLocks xmlns:a="http://schemas.openxmlformats.org/drawingml/2006/main" noGrp="1"/>
          </p:cNvSpPr>
          <p:nvPr/>
        </p:nvSpPr>
        <p:spPr>
          <a:xfrm xmlns:a="http://schemas.openxmlformats.org/drawingml/2006/main">
            <a:off x="609600" y="1143000"/>
            <a:ext cx="819150" cy="47625"/>
          </a:xfrm>
          <a:prstGeom xmlns:a="http://schemas.openxmlformats.org/drawingml/2006/main" prst="rect">
            <a:avLst/>
          </a:prstGeom>
          <a:solidFill xmlns:a="http://schemas.openxmlformats.org/drawingml/2006/main">
            <a:srgbClr val="137F7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F3DEE0A-F7C7-40D7-98F5-5DA6A66658E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1D8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034D77F-8943-47B8-98BE-5D1F7494A77A}"/>
              </a:ext>
            </a:extLst>
          </p:cNvPr>
          <p:cNvSpPr>
            <a:spLocks xmlns:a="http://schemas.openxmlformats.org/drawingml/2006/main" noGrp="1"/>
          </p:cNvSpPr>
          <p:nvPr/>
        </p:nvSpPr>
        <p:spPr>
          <a:xfrm xmlns:a="http://schemas.openxmlformats.org/drawingml/2006/main">
            <a:off x="609600" y="6534150"/>
            <a:ext cx="695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596F70"/>
                </a:solidFill>
                <a:latin typeface="Helvetica Neue"/>
                <a:ea typeface="Helvetica Neue"/>
                <a:cs typeface="Helvetica Neue"/>
              </a:defRPr>
            </a:pPr>
            <a:r>
              <a:rPr sz="1050" b="0">
                <a:solidFill>
                  <a:srgbClr val="596F70"/>
                </a:solidFill>
                <a:latin typeface="Helvetica Neue"/>
                <a:ea typeface="Helvetica Neue"/>
                <a:cs typeface="Helvetica Neue"/>
              </a:rPr>
              <a:t>jeweled  ·  MVA Track 2  ·  research proposal</a:t>
            </a:r>
          </a:p>
        </p:txBody>
      </p:sp>
      <p:sp>
        <p:nvSpPr>
          <p:cNvPr id="6" name="">
            <a:extLst xmlns:a="http://schemas.openxmlformats.org/drawingml/2006/main">
              <a:ext uri="{FF2B5EF4-FFF2-40B4-BE49-F238E27FC236}">
                <a16:creationId xmlns:a16="http://schemas.microsoft.com/office/drawing/2014/main" id="{62BE00BE-CFCA-4A39-B878-509D884D66DC}"/>
              </a:ext>
            </a:extLst>
          </p:cNvPr>
          <p:cNvSpPr>
            <a:spLocks xmlns:a="http://schemas.openxmlformats.org/drawingml/2006/main" noGrp="1"/>
          </p:cNvSpPr>
          <p:nvPr/>
        </p:nvSpPr>
        <p:spPr>
          <a:xfrm xmlns:a="http://schemas.openxmlformats.org/drawingml/2006/main">
            <a:off x="609600" y="13620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6F70"/>
                </a:solidFill>
                <a:latin typeface="Helvetica Neue"/>
                <a:ea typeface="Helvetica Neue"/>
                <a:cs typeface="Helvetica Neue"/>
              </a:defRPr>
            </a:pPr>
            <a:r>
              <a:rPr sz="1650" b="0">
                <a:solidFill>
                  <a:srgbClr val="596F70"/>
                </a:solidFill>
                <a:latin typeface="Helvetica Neue"/>
                <a:ea typeface="Helvetica Neue"/>
                <a:cs typeface="Helvetica Neue"/>
              </a:rPr>
              <a:t>A published MVA1 pattern supports testing usable BUBR1; it does not establish this child's allele function.</a:t>
            </a:r>
          </a:p>
        </p:txBody>
      </p:sp>
      <p:sp>
        <p:nvSpPr>
          <p:cNvPr id="7" name="">
            <a:extLst xmlns:a="http://schemas.openxmlformats.org/drawingml/2006/main">
              <a:ext uri="{FF2B5EF4-FFF2-40B4-BE49-F238E27FC236}">
                <a16:creationId xmlns:a16="http://schemas.microsoft.com/office/drawing/2014/main" id="{716B5B76-27D8-4B64-8C91-C8883F3927B7}"/>
              </a:ext>
            </a:extLst>
          </p:cNvPr>
          <p:cNvSpPr>
            <a:spLocks xmlns:a="http://schemas.openxmlformats.org/drawingml/2006/main" noGrp="1"/>
          </p:cNvSpPr>
          <p:nvPr/>
        </p:nvSpPr>
        <p:spPr>
          <a:xfrm xmlns:a="http://schemas.openxmlformats.org/drawingml/2006/main">
            <a:off x="609600" y="2009775"/>
            <a:ext cx="5219700" cy="2333625"/>
          </a:xfrm>
          <a:prstGeom xmlns:a="http://schemas.openxmlformats.org/drawingml/2006/main" prst="roundRect">
            <a:avLst>
              <a:gd name="adj" fmla="val 5714"/>
            </a:avLst>
          </a:prstGeom>
          <a:solidFill xmlns:a="http://schemas.openxmlformats.org/drawingml/2006/main">
            <a:srgbClr val="FFFEFA"/>
          </a:solidFill>
          <a:ln xmlns:a="http://schemas.openxmlformats.org/drawingml/2006/main" w="9525">
            <a:solidFill>
              <a:srgbClr val="D1D8D2"/>
            </a:solidFill>
          </a:ln>
        </p:spPr>
      </p:sp>
      <p:sp>
        <p:nvSpPr>
          <p:cNvPr id="8" name="">
            <a:extLst xmlns:a="http://schemas.openxmlformats.org/drawingml/2006/main">
              <a:ext uri="{FF2B5EF4-FFF2-40B4-BE49-F238E27FC236}">
                <a16:creationId xmlns:a16="http://schemas.microsoft.com/office/drawing/2014/main" id="{CE1DE222-16DA-4872-BACE-A630F02BAD47}"/>
              </a:ext>
            </a:extLst>
          </p:cNvPr>
          <p:cNvSpPr>
            <a:spLocks xmlns:a="http://schemas.openxmlformats.org/drawingml/2006/main" noGrp="1"/>
          </p:cNvSpPr>
          <p:nvPr/>
        </p:nvSpPr>
        <p:spPr>
          <a:xfrm xmlns:a="http://schemas.openxmlformats.org/drawingml/2006/main">
            <a:off x="838200" y="220980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37F79"/>
                </a:solidFill>
                <a:latin typeface="Helvetica Neue"/>
                <a:ea typeface="Helvetica Neue"/>
                <a:cs typeface="Helvetica Neue"/>
              </a:defRPr>
            </a:pPr>
            <a:r>
              <a:rPr sz="1200" b="1">
                <a:solidFill>
                  <a:srgbClr val="137F79"/>
                </a:solidFill>
                <a:latin typeface="Helvetica Neue"/>
                <a:ea typeface="Helvetica Neue"/>
                <a:cs typeface="Helvetica Neue"/>
              </a:rPr>
              <a:t>OBSERVED CANDIDATE PAIR</a:t>
            </a:r>
          </a:p>
        </p:txBody>
      </p:sp>
      <p:sp>
        <p:nvSpPr>
          <p:cNvPr id="9" name="">
            <a:extLst xmlns:a="http://schemas.openxmlformats.org/drawingml/2006/main">
              <a:ext uri="{FF2B5EF4-FFF2-40B4-BE49-F238E27FC236}">
                <a16:creationId xmlns:a16="http://schemas.microsoft.com/office/drawing/2014/main" id="{76D2A733-0EEF-4378-8D63-777D4BCFB9DB}"/>
              </a:ext>
            </a:extLst>
          </p:cNvPr>
          <p:cNvSpPr>
            <a:spLocks xmlns:a="http://schemas.openxmlformats.org/drawingml/2006/main" noGrp="1"/>
          </p:cNvSpPr>
          <p:nvPr/>
        </p:nvSpPr>
        <p:spPr>
          <a:xfrm xmlns:a="http://schemas.openxmlformats.org/drawingml/2006/main">
            <a:off x="838200" y="26479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2383D"/>
                </a:solidFill>
                <a:latin typeface="Helvetica Neue"/>
                <a:ea typeface="Helvetica Neue"/>
                <a:cs typeface="Helvetica Neue"/>
              </a:defRPr>
            </a:pPr>
            <a:r>
              <a:rPr sz="2325" b="1">
                <a:solidFill>
                  <a:srgbClr val="12383D"/>
                </a:solidFill>
                <a:latin typeface="Helvetica Neue"/>
                <a:ea typeface="Helvetica Neue"/>
                <a:cs typeface="Helvetica Neue"/>
              </a:rPr>
              <a:t>p.(Leu737Ter)</a:t>
            </a:r>
          </a:p>
        </p:txBody>
      </p:sp>
      <p:sp>
        <p:nvSpPr>
          <p:cNvPr id="10" name="">
            <a:extLst xmlns:a="http://schemas.openxmlformats.org/drawingml/2006/main">
              <a:ext uri="{FF2B5EF4-FFF2-40B4-BE49-F238E27FC236}">
                <a16:creationId xmlns:a16="http://schemas.microsoft.com/office/drawing/2014/main" id="{C0C705F9-1CD8-411E-98A4-17B3B0F14A3D}"/>
              </a:ext>
            </a:extLst>
          </p:cNvPr>
          <p:cNvSpPr>
            <a:spLocks xmlns:a="http://schemas.openxmlformats.org/drawingml/2006/main" noGrp="1"/>
          </p:cNvSpPr>
          <p:nvPr/>
        </p:nvSpPr>
        <p:spPr>
          <a:xfrm xmlns:a="http://schemas.openxmlformats.org/drawingml/2006/main">
            <a:off x="838200" y="306705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203B3D"/>
                </a:solidFill>
                <a:latin typeface="Helvetica Neue"/>
                <a:ea typeface="Helvetica Neue"/>
                <a:cs typeface="Helvetica Neue"/>
              </a:defRPr>
            </a:pPr>
            <a:r>
              <a:rPr sz="1500" b="0">
                <a:solidFill>
                  <a:srgbClr val="203B3D"/>
                </a:solidFill>
                <a:latin typeface="Helvetica Neue"/>
                <a:ea typeface="Helvetica Neue"/>
                <a:cs typeface="Helvetica Neue"/>
              </a:rPr>
              <a:t>early stop; usable product may be reduced</a:t>
            </a:r>
          </a:p>
        </p:txBody>
      </p:sp>
      <p:sp>
        <p:nvSpPr>
          <p:cNvPr id="11" name="">
            <a:extLst xmlns:a="http://schemas.openxmlformats.org/drawingml/2006/main">
              <a:ext uri="{FF2B5EF4-FFF2-40B4-BE49-F238E27FC236}">
                <a16:creationId xmlns:a16="http://schemas.microsoft.com/office/drawing/2014/main" id="{4E0ACDA0-8A60-4437-AFBA-491330522CA3}"/>
              </a:ext>
            </a:extLst>
          </p:cNvPr>
          <p:cNvSpPr>
            <a:spLocks xmlns:a="http://schemas.openxmlformats.org/drawingml/2006/main" noGrp="1"/>
          </p:cNvSpPr>
          <p:nvPr/>
        </p:nvSpPr>
        <p:spPr>
          <a:xfrm xmlns:a="http://schemas.openxmlformats.org/drawingml/2006/main">
            <a:off x="838200" y="3543300"/>
            <a:ext cx="4667250" cy="9525"/>
          </a:xfrm>
          <a:prstGeom xmlns:a="http://schemas.openxmlformats.org/drawingml/2006/main" prst="rect">
            <a:avLst/>
          </a:prstGeom>
          <a:solidFill xmlns:a="http://schemas.openxmlformats.org/drawingml/2006/main">
            <a:srgbClr val="D1D8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2627786-51BA-427B-87A5-47167BB7DE07}"/>
              </a:ext>
            </a:extLst>
          </p:cNvPr>
          <p:cNvSpPr>
            <a:spLocks xmlns:a="http://schemas.openxmlformats.org/drawingml/2006/main" noGrp="1"/>
          </p:cNvSpPr>
          <p:nvPr/>
        </p:nvSpPr>
        <p:spPr>
          <a:xfrm xmlns:a="http://schemas.openxmlformats.org/drawingml/2006/main">
            <a:off x="838200" y="3724275"/>
            <a:ext cx="261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37F79"/>
                </a:solidFill>
                <a:latin typeface="Helvetica Neue"/>
                <a:ea typeface="Helvetica Neue"/>
                <a:cs typeface="Helvetica Neue"/>
              </a:defRPr>
            </a:pPr>
            <a:r>
              <a:rPr sz="2100" b="1">
                <a:solidFill>
                  <a:srgbClr val="137F79"/>
                </a:solidFill>
                <a:latin typeface="Helvetica Neue"/>
                <a:ea typeface="Helvetica Neue"/>
                <a:cs typeface="Helvetica Neue"/>
              </a:rPr>
              <a:t>p.(Asn1002Lys)</a:t>
            </a:r>
          </a:p>
        </p:txBody>
      </p:sp>
      <p:sp>
        <p:nvSpPr>
          <p:cNvPr id="13" name="">
            <a:extLst xmlns:a="http://schemas.openxmlformats.org/drawingml/2006/main">
              <a:ext uri="{FF2B5EF4-FFF2-40B4-BE49-F238E27FC236}">
                <a16:creationId xmlns:a16="http://schemas.microsoft.com/office/drawing/2014/main" id="{83240950-DDFD-41C2-9CFB-161088F61CB6}"/>
              </a:ext>
            </a:extLst>
          </p:cNvPr>
          <p:cNvSpPr>
            <a:spLocks xmlns:a="http://schemas.openxmlformats.org/drawingml/2006/main" noGrp="1"/>
          </p:cNvSpPr>
          <p:nvPr/>
        </p:nvSpPr>
        <p:spPr>
          <a:xfrm xmlns:a="http://schemas.openxmlformats.org/drawingml/2006/main">
            <a:off x="838200" y="40767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3B3D"/>
                </a:solidFill>
                <a:latin typeface="Helvetica Neue"/>
                <a:ea typeface="Helvetica Neue"/>
                <a:cs typeface="Helvetica Neue"/>
              </a:defRPr>
            </a:pPr>
            <a:r>
              <a:rPr sz="1425" b="0">
                <a:solidFill>
                  <a:srgbClr val="203B3D"/>
                </a:solidFill>
                <a:latin typeface="Helvetica Neue"/>
                <a:ea typeface="Helvetica Neue"/>
                <a:cs typeface="Helvetica Neue"/>
              </a:rPr>
              <a:t>stability and checkpoint function unmeasured</a:t>
            </a:r>
          </a:p>
        </p:txBody>
      </p:sp>
      <p:sp>
        <p:nvSpPr>
          <p:cNvPr id="14" name="">
            <a:extLst xmlns:a="http://schemas.openxmlformats.org/drawingml/2006/main">
              <a:ext uri="{FF2B5EF4-FFF2-40B4-BE49-F238E27FC236}">
                <a16:creationId xmlns:a16="http://schemas.microsoft.com/office/drawing/2014/main" id="{7F3B879D-F720-4382-ADF8-47657D71E269}"/>
              </a:ext>
            </a:extLst>
          </p:cNvPr>
          <p:cNvSpPr>
            <a:spLocks xmlns:a="http://schemas.openxmlformats.org/drawingml/2006/main" noGrp="1"/>
          </p:cNvSpPr>
          <p:nvPr/>
        </p:nvSpPr>
        <p:spPr>
          <a:xfrm xmlns:a="http://schemas.openxmlformats.org/drawingml/2006/main">
            <a:off x="6057900" y="2009775"/>
            <a:ext cx="5524500" cy="2333625"/>
          </a:xfrm>
          <a:prstGeom xmlns:a="http://schemas.openxmlformats.org/drawingml/2006/main" prst="roundRect">
            <a:avLst>
              <a:gd name="adj" fmla="val 5714"/>
            </a:avLst>
          </a:prstGeom>
          <a:solidFill xmlns:a="http://schemas.openxmlformats.org/drawingml/2006/main">
            <a:srgbClr val="FFFEFA"/>
          </a:solidFill>
          <a:ln xmlns:a="http://schemas.openxmlformats.org/drawingml/2006/main" w="9525">
            <a:solidFill>
              <a:srgbClr val="D1D8D2"/>
            </a:solidFill>
          </a:ln>
        </p:spPr>
      </p:sp>
      <p:sp>
        <p:nvSpPr>
          <p:cNvPr id="15" name="">
            <a:extLst xmlns:a="http://schemas.openxmlformats.org/drawingml/2006/main">
              <a:ext uri="{FF2B5EF4-FFF2-40B4-BE49-F238E27FC236}">
                <a16:creationId xmlns:a16="http://schemas.microsoft.com/office/drawing/2014/main" id="{905B6277-5EA6-44C4-A3E0-888F49668925}"/>
              </a:ext>
            </a:extLst>
          </p:cNvPr>
          <p:cNvSpPr>
            <a:spLocks xmlns:a="http://schemas.openxmlformats.org/drawingml/2006/main" noGrp="1"/>
          </p:cNvSpPr>
          <p:nvPr/>
        </p:nvSpPr>
        <p:spPr>
          <a:xfrm xmlns:a="http://schemas.openxmlformats.org/drawingml/2006/main">
            <a:off x="6305550" y="220980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37F79"/>
                </a:solidFill>
                <a:latin typeface="Helvetica Neue"/>
                <a:ea typeface="Helvetica Neue"/>
                <a:cs typeface="Helvetica Neue"/>
              </a:defRPr>
            </a:pPr>
            <a:r>
              <a:rPr sz="1200" b="1">
                <a:solidFill>
                  <a:srgbClr val="137F79"/>
                </a:solidFill>
                <a:latin typeface="Helvetica Neue"/>
                <a:ea typeface="Helvetica Neue"/>
                <a:cs typeface="Helvetica Neue"/>
              </a:rPr>
              <a:t>EVIDENCE BOUNDARY</a:t>
            </a:r>
          </a:p>
        </p:txBody>
      </p:sp>
      <p:sp>
        <p:nvSpPr>
          <p:cNvPr id="16" name="">
            <a:extLst xmlns:a="http://schemas.openxmlformats.org/drawingml/2006/main">
              <a:ext uri="{FF2B5EF4-FFF2-40B4-BE49-F238E27FC236}">
                <a16:creationId xmlns:a16="http://schemas.microsoft.com/office/drawing/2014/main" id="{2DEEA459-D72E-485F-A49A-29EC2A583097}"/>
              </a:ext>
            </a:extLst>
          </p:cNvPr>
          <p:cNvSpPr>
            <a:spLocks xmlns:a="http://schemas.openxmlformats.org/drawingml/2006/main" noGrp="1"/>
          </p:cNvSpPr>
          <p:nvPr/>
        </p:nvSpPr>
        <p:spPr>
          <a:xfrm xmlns:a="http://schemas.openxmlformats.org/drawingml/2006/main">
            <a:off x="6305550" y="2647950"/>
            <a:ext cx="4857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383D"/>
                </a:solidFill>
                <a:latin typeface="Helvetica Neue"/>
                <a:ea typeface="Helvetica Neue"/>
                <a:cs typeface="Helvetica Neue"/>
              </a:defRPr>
            </a:pPr>
            <a:r>
              <a:rPr sz="1950" b="1">
                <a:solidFill>
                  <a:srgbClr val="12383D"/>
                </a:solidFill>
                <a:latin typeface="Helvetica Neue"/>
                <a:ea typeface="Helvetica Neue"/>
                <a:cs typeface="Helvetica Neue"/>
              </a:rPr>
              <a:t>Selected MVA1 cells showed reduced BUBR1 abundance.</a:t>
            </a:r>
          </a:p>
        </p:txBody>
      </p:sp>
      <p:sp>
        <p:nvSpPr>
          <p:cNvPr id="17" name="">
            <a:extLst xmlns:a="http://schemas.openxmlformats.org/drawingml/2006/main">
              <a:ext uri="{FF2B5EF4-FFF2-40B4-BE49-F238E27FC236}">
                <a16:creationId xmlns:a16="http://schemas.microsoft.com/office/drawing/2014/main" id="{1D9209AA-A332-4F4E-9B90-8B7170A15769}"/>
              </a:ext>
            </a:extLst>
          </p:cNvPr>
          <p:cNvSpPr>
            <a:spLocks xmlns:a="http://schemas.openxmlformats.org/drawingml/2006/main" noGrp="1"/>
          </p:cNvSpPr>
          <p:nvPr/>
        </p:nvSpPr>
        <p:spPr>
          <a:xfrm xmlns:a="http://schemas.openxmlformats.org/drawingml/2006/main">
            <a:off x="6305550" y="33718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3B3D"/>
                </a:solidFill>
                <a:latin typeface="Helvetica Neue"/>
                <a:ea typeface="Helvetica Neue"/>
                <a:cs typeface="Helvetica Neue"/>
              </a:defRPr>
            </a:pPr>
            <a:r>
              <a:rPr sz="1575" b="0">
                <a:solidFill>
                  <a:srgbClr val="203B3D"/>
                </a:solidFill>
                <a:latin typeface="Helvetica Neue"/>
                <a:ea typeface="Helvetica Neue"/>
                <a:cs typeface="Helvetica Neue"/>
              </a:rPr>
              <a:t>Supports an abundance mechanism—not proof of drug response in this genotype.</a:t>
            </a:r>
          </a:p>
        </p:txBody>
      </p:sp>
      <p:sp>
        <p:nvSpPr>
          <p:cNvPr id="18" name="">
            <a:extLst xmlns:a="http://schemas.openxmlformats.org/drawingml/2006/main">
              <a:ext uri="{FF2B5EF4-FFF2-40B4-BE49-F238E27FC236}">
                <a16:creationId xmlns:a16="http://schemas.microsoft.com/office/drawing/2014/main" id="{84C3FE46-2763-44FB-881D-BB3F9F419CAD}"/>
              </a:ext>
            </a:extLst>
          </p:cNvPr>
          <p:cNvSpPr>
            <a:spLocks xmlns:a="http://schemas.openxmlformats.org/drawingml/2006/main" noGrp="1"/>
          </p:cNvSpPr>
          <p:nvPr/>
        </p:nvSpPr>
        <p:spPr>
          <a:xfrm xmlns:a="http://schemas.openxmlformats.org/drawingml/2006/main">
            <a:off x="6305550" y="4029075"/>
            <a:ext cx="2333625" cy="304800"/>
          </a:xfrm>
          <a:prstGeom xmlns:a="http://schemas.openxmlformats.org/drawingml/2006/main" prst="roundRect">
            <a:avLst>
              <a:gd name="adj" fmla="val 46875"/>
            </a:avLst>
          </a:prstGeom>
          <a:solidFill xmlns:a="http://schemas.openxmlformats.org/drawingml/2006/main">
            <a:srgbClr val="F3E6C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A18110A-74F9-45EF-978E-F6031A6A788F}"/>
              </a:ext>
            </a:extLst>
          </p:cNvPr>
          <p:cNvSpPr>
            <a:spLocks xmlns:a="http://schemas.openxmlformats.org/drawingml/2006/main" noGrp="1"/>
          </p:cNvSpPr>
          <p:nvPr/>
        </p:nvSpPr>
        <p:spPr>
          <a:xfrm xmlns:a="http://schemas.openxmlformats.org/drawingml/2006/main">
            <a:off x="6419850" y="4076700"/>
            <a:ext cx="21050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12383D"/>
                </a:solidFill>
                <a:latin typeface="Helvetica Neue"/>
                <a:ea typeface="Helvetica Neue"/>
                <a:cs typeface="Helvetica Neue"/>
              </a:defRPr>
            </a:pPr>
            <a:r>
              <a:rPr sz="1125" b="1">
                <a:solidFill>
                  <a:srgbClr val="12383D"/>
                </a:solidFill>
                <a:latin typeface="Helvetica Neue"/>
                <a:ea typeface="Helvetica Neue"/>
                <a:cs typeface="Helvetica Neue"/>
              </a:rPr>
              <a:t>PHASE STILL UNRESOLVED</a:t>
            </a:r>
          </a:p>
        </p:txBody>
      </p:sp>
      <p:sp>
        <p:nvSpPr>
          <p:cNvPr id="20" name="">
            <a:extLst xmlns:a="http://schemas.openxmlformats.org/drawingml/2006/main">
              <a:ext uri="{FF2B5EF4-FFF2-40B4-BE49-F238E27FC236}">
                <a16:creationId xmlns:a16="http://schemas.microsoft.com/office/drawing/2014/main" id="{3804C40A-078E-4CE6-BDF6-44A96A791259}"/>
              </a:ext>
            </a:extLst>
          </p:cNvPr>
          <p:cNvSpPr>
            <a:spLocks xmlns:a="http://schemas.openxmlformats.org/drawingml/2006/main" noGrp="1"/>
          </p:cNvSpPr>
          <p:nvPr/>
        </p:nvSpPr>
        <p:spPr>
          <a:xfrm xmlns:a="http://schemas.openxmlformats.org/drawingml/2006/main">
            <a:off x="609600" y="4657725"/>
            <a:ext cx="10972800" cy="1066800"/>
          </a:xfrm>
          <a:prstGeom xmlns:a="http://schemas.openxmlformats.org/drawingml/2006/main" prst="roundRect">
            <a:avLst>
              <a:gd name="adj" fmla="val 12500"/>
            </a:avLst>
          </a:prstGeom>
          <a:solidFill xmlns:a="http://schemas.openxmlformats.org/drawingml/2006/main">
            <a:srgbClr val="DCEDE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F9B34FF-AB7E-464D-8F61-91227612FFF6}"/>
              </a:ext>
            </a:extLst>
          </p:cNvPr>
          <p:cNvSpPr>
            <a:spLocks xmlns:a="http://schemas.openxmlformats.org/drawingml/2006/main" noGrp="1"/>
          </p:cNvSpPr>
          <p:nvPr/>
        </p:nvSpPr>
        <p:spPr>
          <a:xfrm xmlns:a="http://schemas.openxmlformats.org/drawingml/2006/main">
            <a:off x="857250" y="48482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37F79"/>
                </a:solidFill>
                <a:latin typeface="Helvetica Neue"/>
                <a:ea typeface="Helvetica Neue"/>
                <a:cs typeface="Helvetica Neue"/>
              </a:defRPr>
            </a:pPr>
            <a:r>
              <a:rPr sz="1200" b="1">
                <a:solidFill>
                  <a:srgbClr val="137F79"/>
                </a:solidFill>
                <a:latin typeface="Helvetica Neue"/>
                <a:ea typeface="Helvetica Neue"/>
                <a:cs typeface="Helvetica Neue"/>
              </a:rPr>
              <a:t>GENETIC STOP RULE</a:t>
            </a:r>
          </a:p>
        </p:txBody>
      </p:sp>
      <p:sp>
        <p:nvSpPr>
          <p:cNvPr id="22" name="">
            <a:extLst xmlns:a="http://schemas.openxmlformats.org/drawingml/2006/main">
              <a:ext uri="{FF2B5EF4-FFF2-40B4-BE49-F238E27FC236}">
                <a16:creationId xmlns:a16="http://schemas.microsoft.com/office/drawing/2014/main" id="{E2DEFC7F-D441-47EC-9007-1FFA510A0789}"/>
              </a:ext>
            </a:extLst>
          </p:cNvPr>
          <p:cNvSpPr>
            <a:spLocks xmlns:a="http://schemas.openxmlformats.org/drawingml/2006/main" noGrp="1"/>
          </p:cNvSpPr>
          <p:nvPr/>
        </p:nvSpPr>
        <p:spPr>
          <a:xfrm xmlns:a="http://schemas.openxmlformats.org/drawingml/2006/main">
            <a:off x="857250" y="5172075"/>
            <a:ext cx="1033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2383D"/>
                </a:solidFill>
                <a:latin typeface="Helvetica Neue"/>
                <a:ea typeface="Helvetica Neue"/>
                <a:cs typeface="Helvetica Neue"/>
              </a:defRPr>
            </a:pPr>
            <a:r>
              <a:rPr sz="1725" b="1">
                <a:solidFill>
                  <a:srgbClr val="12383D"/>
                </a:solidFill>
                <a:latin typeface="Helvetica Neue"/>
                <a:ea typeface="Helvetica Neue"/>
                <a:cs typeface="Helvetica Neue"/>
              </a:rPr>
              <a:t>Trans is unobserved. If confirmed cis, retire this pair as the compound-heterozygous explanation.</a:t>
            </a:r>
          </a:p>
        </p:txBody>
      </p:sp>
    </p:spTree>
    <p:extLst>
      <p:ext uri="{BB962C8B-B14F-4D97-AF65-F5344CB8AC3E}">
        <p14:creationId xmlns:p14="http://schemas.microsoft.com/office/powerpoint/2010/main" val="1469632271"/>
      </p:ext>
    </p:extLst>
  </p:cSld>
</p:sld>
</file>

<file path=ppt/slides/slide3.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EE25C25-79AE-4E54-847A-1F00D471682C}"/>
              </a:ext>
            </a:extLst>
          </p:cNvPr>
          <p:cNvSpPr>
            <a:spLocks xmlns:a="http://schemas.openxmlformats.org/drawingml/2006/main" noGrp="1"/>
          </p:cNvSpPr>
          <p:nvPr/>
        </p:nvSpPr>
        <p:spPr>
          <a:xfrm xmlns:a="http://schemas.openxmlformats.org/drawingml/2006/main">
            <a:off x="609600" y="409575"/>
            <a:ext cx="1009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83D"/>
                </a:solidFill>
                <a:latin typeface="Helvetica Neue"/>
                <a:ea typeface="Helvetica Neue"/>
                <a:cs typeface="Helvetica Neue"/>
              </a:defRPr>
            </a:pPr>
            <a:r>
              <a:rPr sz="3150" b="1">
                <a:solidFill>
                  <a:srgbClr val="12383D"/>
                </a:solidFill>
                <a:latin typeface="Helvetica Neue"/>
                <a:ea typeface="Helvetica Neue"/>
                <a:cs typeface="Helvetica Neue"/>
              </a:rPr>
              <a:t>Niacin tests usable BUBR1 restoration</a:t>
            </a:r>
          </a:p>
        </p:txBody>
      </p:sp>
      <p:sp>
        <p:nvSpPr>
          <p:cNvPr id="2" name="">
            <a:extLst xmlns:a="http://schemas.openxmlformats.org/drawingml/2006/main">
              <a:ext uri="{FF2B5EF4-FFF2-40B4-BE49-F238E27FC236}">
                <a16:creationId xmlns:a16="http://schemas.microsoft.com/office/drawing/2014/main" id="{4DD1B8E5-A642-4352-986A-92BE07680DC9}"/>
              </a:ext>
            </a:extLst>
          </p:cNvPr>
          <p:cNvSpPr>
            <a:spLocks xmlns:a="http://schemas.openxmlformats.org/drawingml/2006/main" noGrp="1"/>
          </p:cNvSpPr>
          <p:nvPr/>
        </p:nvSpPr>
        <p:spPr>
          <a:xfrm xmlns:a="http://schemas.openxmlformats.org/drawingml/2006/main">
            <a:off x="10744200" y="504825"/>
            <a:ext cx="83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137F79"/>
                </a:solidFill>
                <a:latin typeface="Helvetica Neue"/>
                <a:ea typeface="Helvetica Neue"/>
                <a:cs typeface="Helvetica Neue"/>
              </a:defRPr>
            </a:pPr>
            <a:r>
              <a:rPr sz="1200" b="1">
                <a:solidFill>
                  <a:srgbClr val="137F79"/>
                </a:solidFill>
                <a:latin typeface="Helvetica Neue"/>
                <a:ea typeface="Helvetica Neue"/>
                <a:cs typeface="Helvetica Neue"/>
              </a:rPr>
              <a:t>03 / 08</a:t>
            </a:r>
          </a:p>
        </p:txBody>
      </p:sp>
      <p:sp>
        <p:nvSpPr>
          <p:cNvPr id="3" name="">
            <a:extLst xmlns:a="http://schemas.openxmlformats.org/drawingml/2006/main">
              <a:ext uri="{FF2B5EF4-FFF2-40B4-BE49-F238E27FC236}">
                <a16:creationId xmlns:a16="http://schemas.microsoft.com/office/drawing/2014/main" id="{76E5B5CE-3B40-4854-A194-8217047CC865}"/>
              </a:ext>
            </a:extLst>
          </p:cNvPr>
          <p:cNvSpPr>
            <a:spLocks xmlns:a="http://schemas.openxmlformats.org/drawingml/2006/main" noGrp="1"/>
          </p:cNvSpPr>
          <p:nvPr/>
        </p:nvSpPr>
        <p:spPr>
          <a:xfrm xmlns:a="http://schemas.openxmlformats.org/drawingml/2006/main">
            <a:off x="609600" y="1143000"/>
            <a:ext cx="819150" cy="47625"/>
          </a:xfrm>
          <a:prstGeom xmlns:a="http://schemas.openxmlformats.org/drawingml/2006/main" prst="rect">
            <a:avLst/>
          </a:prstGeom>
          <a:solidFill xmlns:a="http://schemas.openxmlformats.org/drawingml/2006/main">
            <a:srgbClr val="137F7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C6F87ED-D584-45B7-833F-01E729571AE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1D8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14A6699-842A-4F4D-A797-2071248EDF2E}"/>
              </a:ext>
            </a:extLst>
          </p:cNvPr>
          <p:cNvSpPr>
            <a:spLocks xmlns:a="http://schemas.openxmlformats.org/drawingml/2006/main" noGrp="1"/>
          </p:cNvSpPr>
          <p:nvPr/>
        </p:nvSpPr>
        <p:spPr>
          <a:xfrm xmlns:a="http://schemas.openxmlformats.org/drawingml/2006/main">
            <a:off x="609600" y="6534150"/>
            <a:ext cx="695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596F70"/>
                </a:solidFill>
                <a:latin typeface="Helvetica Neue"/>
                <a:ea typeface="Helvetica Neue"/>
                <a:cs typeface="Helvetica Neue"/>
              </a:defRPr>
            </a:pPr>
            <a:r>
              <a:rPr sz="1050" b="0">
                <a:solidFill>
                  <a:srgbClr val="596F70"/>
                </a:solidFill>
                <a:latin typeface="Helvetica Neue"/>
                <a:ea typeface="Helvetica Neue"/>
                <a:cs typeface="Helvetica Neue"/>
              </a:rPr>
              <a:t>jeweled  ·  MVA Track 2  ·  research proposal</a:t>
            </a:r>
          </a:p>
        </p:txBody>
      </p:sp>
      <p:sp>
        <p:nvSpPr>
          <p:cNvPr id="6" name="">
            <a:extLst xmlns:a="http://schemas.openxmlformats.org/drawingml/2006/main">
              <a:ext uri="{FF2B5EF4-FFF2-40B4-BE49-F238E27FC236}">
                <a16:creationId xmlns:a16="http://schemas.microsoft.com/office/drawing/2014/main" id="{45C2A411-7DD6-4701-B874-76D63B3E03D8}"/>
              </a:ext>
            </a:extLst>
          </p:cNvPr>
          <p:cNvSpPr>
            <a:spLocks xmlns:a="http://schemas.openxmlformats.org/drawingml/2006/main" noGrp="1"/>
          </p:cNvSpPr>
          <p:nvPr/>
        </p:nvSpPr>
        <p:spPr>
          <a:xfrm xmlns:a="http://schemas.openxmlformats.org/drawingml/2006/main">
            <a:off x="609600" y="1647825"/>
            <a:ext cx="5219700" cy="2857500"/>
          </a:xfrm>
          <a:prstGeom xmlns:a="http://schemas.openxmlformats.org/drawingml/2006/main" prst="roundRect">
            <a:avLst>
              <a:gd name="adj" fmla="val 4667"/>
            </a:avLst>
          </a:prstGeom>
          <a:solidFill xmlns:a="http://schemas.openxmlformats.org/drawingml/2006/main">
            <a:srgbClr val="FFFEFA"/>
          </a:solidFill>
          <a:ln xmlns:a="http://schemas.openxmlformats.org/drawingml/2006/main" w="9525">
            <a:solidFill>
              <a:srgbClr val="D1D8D2"/>
            </a:solidFill>
          </a:ln>
        </p:spPr>
      </p:sp>
      <p:sp>
        <p:nvSpPr>
          <p:cNvPr id="7" name="">
            <a:extLst xmlns:a="http://schemas.openxmlformats.org/drawingml/2006/main">
              <a:ext uri="{FF2B5EF4-FFF2-40B4-BE49-F238E27FC236}">
                <a16:creationId xmlns:a16="http://schemas.microsoft.com/office/drawing/2014/main" id="{412BA06F-C082-4D7B-AFB4-A8B77C7A9D8C}"/>
              </a:ext>
            </a:extLst>
          </p:cNvPr>
          <p:cNvSpPr>
            <a:spLocks xmlns:a="http://schemas.openxmlformats.org/drawingml/2006/main" noGrp="1"/>
          </p:cNvSpPr>
          <p:nvPr/>
        </p:nvSpPr>
        <p:spPr>
          <a:xfrm xmlns:a="http://schemas.openxmlformats.org/drawingml/2006/main">
            <a:off x="6362700" y="1647825"/>
            <a:ext cx="5219700" cy="2857500"/>
          </a:xfrm>
          <a:prstGeom xmlns:a="http://schemas.openxmlformats.org/drawingml/2006/main" prst="roundRect">
            <a:avLst>
              <a:gd name="adj" fmla="val 4667"/>
            </a:avLst>
          </a:prstGeom>
          <a:solidFill xmlns:a="http://schemas.openxmlformats.org/drawingml/2006/main">
            <a:srgbClr val="FFFEFA"/>
          </a:solidFill>
          <a:ln xmlns:a="http://schemas.openxmlformats.org/drawingml/2006/main" w="9525">
            <a:solidFill>
              <a:srgbClr val="D1D8D2"/>
            </a:solidFill>
          </a:ln>
        </p:spPr>
      </p:sp>
      <p:sp>
        <p:nvSpPr>
          <p:cNvPr id="8" name="">
            <a:extLst xmlns:a="http://schemas.openxmlformats.org/drawingml/2006/main">
              <a:ext uri="{FF2B5EF4-FFF2-40B4-BE49-F238E27FC236}">
                <a16:creationId xmlns:a16="http://schemas.microsoft.com/office/drawing/2014/main" id="{A3750E87-D045-4CC8-B953-507F93E44FC0}"/>
              </a:ext>
            </a:extLst>
          </p:cNvPr>
          <p:cNvSpPr>
            <a:spLocks xmlns:a="http://schemas.openxmlformats.org/drawingml/2006/main" noGrp="1"/>
          </p:cNvSpPr>
          <p:nvPr/>
        </p:nvSpPr>
        <p:spPr>
          <a:xfrm xmlns:a="http://schemas.openxmlformats.org/drawingml/2006/main">
            <a:off x="866775" y="1914525"/>
            <a:ext cx="447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37F79"/>
                </a:solidFill>
                <a:latin typeface="Helvetica Neue"/>
                <a:ea typeface="Helvetica Neue"/>
                <a:cs typeface="Helvetica Neue"/>
              </a:defRPr>
            </a:pPr>
            <a:r>
              <a:rPr sz="1200" b="1">
                <a:solidFill>
                  <a:srgbClr val="137F79"/>
                </a:solidFill>
                <a:latin typeface="Helvetica Neue"/>
                <a:ea typeface="Helvetica Neue"/>
                <a:cs typeface="Helvetica Neue"/>
              </a:rPr>
              <a:t>HUMAN MUSCLE ENGAGEMENT</a:t>
            </a:r>
          </a:p>
        </p:txBody>
      </p:sp>
      <p:sp>
        <p:nvSpPr>
          <p:cNvPr id="9" name="">
            <a:extLst xmlns:a="http://schemas.openxmlformats.org/drawingml/2006/main">
              <a:ext uri="{FF2B5EF4-FFF2-40B4-BE49-F238E27FC236}">
                <a16:creationId xmlns:a16="http://schemas.microsoft.com/office/drawing/2014/main" id="{D86F3A3C-8FAB-4742-B71C-CE2210FE85E4}"/>
              </a:ext>
            </a:extLst>
          </p:cNvPr>
          <p:cNvSpPr>
            <a:spLocks xmlns:a="http://schemas.openxmlformats.org/drawingml/2006/main" noGrp="1"/>
          </p:cNvSpPr>
          <p:nvPr/>
        </p:nvSpPr>
        <p:spPr>
          <a:xfrm xmlns:a="http://schemas.openxmlformats.org/drawingml/2006/main">
            <a:off x="866775" y="2333625"/>
            <a:ext cx="4591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2383D"/>
                </a:solidFill>
                <a:latin typeface="Helvetica Neue"/>
                <a:ea typeface="Helvetica Neue"/>
                <a:cs typeface="Helvetica Neue"/>
              </a:defRPr>
            </a:pPr>
            <a:r>
              <a:rPr sz="2025" b="1">
                <a:solidFill>
                  <a:srgbClr val="12383D"/>
                </a:solidFill>
                <a:latin typeface="Helvetica Neue"/>
                <a:ea typeface="Helvetica Neue"/>
                <a:cs typeface="Helvetica Neue"/>
              </a:rPr>
              <a:t>Muscle NAD normalized in a small open-label mitochondrial-myopathy study.</a:t>
            </a:r>
          </a:p>
        </p:txBody>
      </p:sp>
      <p:sp>
        <p:nvSpPr>
          <p:cNvPr id="10" name="">
            <a:extLst xmlns:a="http://schemas.openxmlformats.org/drawingml/2006/main">
              <a:ext uri="{FF2B5EF4-FFF2-40B4-BE49-F238E27FC236}">
                <a16:creationId xmlns:a16="http://schemas.microsoft.com/office/drawing/2014/main" id="{33A82E49-5826-48D3-AA2F-D5E0558FC00B}"/>
              </a:ext>
            </a:extLst>
          </p:cNvPr>
          <p:cNvSpPr>
            <a:spLocks xmlns:a="http://schemas.openxmlformats.org/drawingml/2006/main" noGrp="1"/>
          </p:cNvSpPr>
          <p:nvPr/>
        </p:nvSpPr>
        <p:spPr>
          <a:xfrm xmlns:a="http://schemas.openxmlformats.org/drawingml/2006/main">
            <a:off x="866775" y="3267075"/>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3B3D"/>
                </a:solidFill>
                <a:latin typeface="Helvetica Neue"/>
                <a:ea typeface="Helvetica Neue"/>
                <a:cs typeface="Helvetica Neue"/>
              </a:defRPr>
            </a:pPr>
            <a:r>
              <a:rPr sz="1575" b="0">
                <a:solidFill>
                  <a:srgbClr val="203B3D"/>
                </a:solidFill>
                <a:latin typeface="Helvetica Neue"/>
                <a:ea typeface="Helvetica Neue"/>
                <a:cs typeface="Helvetica Neue"/>
              </a:rPr>
              <a:t>Treated healthy controls also gained strength, so disease-specific benefit was not established.</a:t>
            </a:r>
          </a:p>
        </p:txBody>
      </p:sp>
      <p:sp>
        <p:nvSpPr>
          <p:cNvPr id="11" name="">
            <a:extLst xmlns:a="http://schemas.openxmlformats.org/drawingml/2006/main">
              <a:ext uri="{FF2B5EF4-FFF2-40B4-BE49-F238E27FC236}">
                <a16:creationId xmlns:a16="http://schemas.microsoft.com/office/drawing/2014/main" id="{F2FD34D5-43F7-4B17-9468-216DEC548C5E}"/>
              </a:ext>
            </a:extLst>
          </p:cNvPr>
          <p:cNvSpPr>
            <a:spLocks xmlns:a="http://schemas.openxmlformats.org/drawingml/2006/main" noGrp="1"/>
          </p:cNvSpPr>
          <p:nvPr/>
        </p:nvSpPr>
        <p:spPr>
          <a:xfrm xmlns:a="http://schemas.openxmlformats.org/drawingml/2006/main">
            <a:off x="6619875" y="1914525"/>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37F79"/>
                </a:solidFill>
                <a:latin typeface="Helvetica Neue"/>
                <a:ea typeface="Helvetica Neue"/>
                <a:cs typeface="Helvetica Neue"/>
              </a:defRPr>
            </a:pPr>
            <a:r>
              <a:rPr sz="1200" b="1">
                <a:solidFill>
                  <a:srgbClr val="137F79"/>
                </a:solidFill>
                <a:latin typeface="Helvetica Neue"/>
                <a:ea typeface="Helvetica Neue"/>
                <a:cs typeface="Helvetica Neue"/>
              </a:rPr>
              <a:t>MECHANISM—TWO INTERVENTIONS APART</a:t>
            </a:r>
          </a:p>
        </p:txBody>
      </p:sp>
      <p:sp>
        <p:nvSpPr>
          <p:cNvPr id="12" name="">
            <a:extLst xmlns:a="http://schemas.openxmlformats.org/drawingml/2006/main">
              <a:ext uri="{FF2B5EF4-FFF2-40B4-BE49-F238E27FC236}">
                <a16:creationId xmlns:a16="http://schemas.microsoft.com/office/drawing/2014/main" id="{4EFE2661-4262-4383-9A15-D9017051A083}"/>
              </a:ext>
            </a:extLst>
          </p:cNvPr>
          <p:cNvSpPr>
            <a:spLocks xmlns:a="http://schemas.openxmlformats.org/drawingml/2006/main" noGrp="1"/>
          </p:cNvSpPr>
          <p:nvPr/>
        </p:nvSpPr>
        <p:spPr>
          <a:xfrm xmlns:a="http://schemas.openxmlformats.org/drawingml/2006/main">
            <a:off x="6619875" y="2333625"/>
            <a:ext cx="4572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383D"/>
                </a:solidFill>
                <a:latin typeface="Helvetica Neue"/>
                <a:ea typeface="Helvetica Neue"/>
                <a:cs typeface="Helvetica Neue"/>
              </a:defRPr>
            </a:pPr>
            <a:r>
              <a:rPr sz="1800" b="1">
                <a:solidFill>
                  <a:srgbClr val="12383D"/>
                </a:solidFill>
                <a:latin typeface="Helvetica Neue"/>
                <a:ea typeface="Helvetica Neue"/>
                <a:cs typeface="Helvetica Neue"/>
              </a:rPr>
              <a:t>NMN increased BUBR1; genetic SIRT2 elevation improved selected outcomes in hypomorphic mice.</a:t>
            </a:r>
          </a:p>
        </p:txBody>
      </p:sp>
      <p:sp>
        <p:nvSpPr>
          <p:cNvPr id="13" name="">
            <a:extLst xmlns:a="http://schemas.openxmlformats.org/drawingml/2006/main">
              <a:ext uri="{FF2B5EF4-FFF2-40B4-BE49-F238E27FC236}">
                <a16:creationId xmlns:a16="http://schemas.microsoft.com/office/drawing/2014/main" id="{265C2EB6-BA87-4C47-919C-8A493445B5D3}"/>
              </a:ext>
            </a:extLst>
          </p:cNvPr>
          <p:cNvSpPr>
            <a:spLocks xmlns:a="http://schemas.openxmlformats.org/drawingml/2006/main" noGrp="1"/>
          </p:cNvSpPr>
          <p:nvPr/>
        </p:nvSpPr>
        <p:spPr>
          <a:xfrm xmlns:a="http://schemas.openxmlformats.org/drawingml/2006/main">
            <a:off x="6619875" y="337185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3B3D"/>
                </a:solidFill>
                <a:latin typeface="Helvetica Neue"/>
                <a:ea typeface="Helvetica Neue"/>
                <a:cs typeface="Helvetica Neue"/>
              </a:defRPr>
            </a:pPr>
            <a:r>
              <a:rPr sz="1575" b="0">
                <a:solidFill>
                  <a:srgbClr val="203B3D"/>
                </a:solidFill>
                <a:latin typeface="Helvetica Neue"/>
                <a:ea typeface="Helvetica Neue"/>
                <a:cs typeface="Helvetica Neue"/>
              </a:rPr>
              <a:t>Neither result is niacin-mediated BUBR1 rescue.</a:t>
            </a:r>
          </a:p>
        </p:txBody>
      </p:sp>
      <p:sp>
        <p:nvSpPr>
          <p:cNvPr id="14" name="">
            <a:extLst xmlns:a="http://schemas.openxmlformats.org/drawingml/2006/main">
              <a:ext uri="{FF2B5EF4-FFF2-40B4-BE49-F238E27FC236}">
                <a16:creationId xmlns:a16="http://schemas.microsoft.com/office/drawing/2014/main" id="{CBBDFF1D-1CCF-48EB-81EA-CB5103E08BE2}"/>
              </a:ext>
            </a:extLst>
          </p:cNvPr>
          <p:cNvSpPr>
            <a:spLocks xmlns:a="http://schemas.openxmlformats.org/drawingml/2006/main" noGrp="1"/>
          </p:cNvSpPr>
          <p:nvPr/>
        </p:nvSpPr>
        <p:spPr>
          <a:xfrm xmlns:a="http://schemas.openxmlformats.org/drawingml/2006/main">
            <a:off x="609600" y="4810125"/>
            <a:ext cx="10972800" cy="942975"/>
          </a:xfrm>
          <a:prstGeom xmlns:a="http://schemas.openxmlformats.org/drawingml/2006/main" prst="roundRect">
            <a:avLst>
              <a:gd name="adj" fmla="val 13131"/>
            </a:avLst>
          </a:prstGeom>
          <a:solidFill xmlns:a="http://schemas.openxmlformats.org/drawingml/2006/main">
            <a:srgbClr val="DCEDE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38EE141-C489-46A7-A91A-051E6C75F300}"/>
              </a:ext>
            </a:extLst>
          </p:cNvPr>
          <p:cNvSpPr>
            <a:spLocks xmlns:a="http://schemas.openxmlformats.org/drawingml/2006/main" noGrp="1"/>
          </p:cNvSpPr>
          <p:nvPr/>
        </p:nvSpPr>
        <p:spPr>
          <a:xfrm xmlns:a="http://schemas.openxmlformats.org/drawingml/2006/main">
            <a:off x="857250" y="49911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37F79"/>
                </a:solidFill>
                <a:latin typeface="Helvetica Neue"/>
                <a:ea typeface="Helvetica Neue"/>
                <a:cs typeface="Helvetica Neue"/>
              </a:defRPr>
            </a:pPr>
            <a:r>
              <a:rPr sz="1200" b="1">
                <a:solidFill>
                  <a:srgbClr val="137F79"/>
                </a:solidFill>
                <a:latin typeface="Helvetica Neue"/>
                <a:ea typeface="Helvetica Neue"/>
                <a:cs typeface="Helvetica Neue"/>
              </a:rPr>
              <a:t>UNTESTED BRIDGE</a:t>
            </a:r>
          </a:p>
        </p:txBody>
      </p:sp>
      <p:sp>
        <p:nvSpPr>
          <p:cNvPr id="16" name="">
            <a:extLst xmlns:a="http://schemas.openxmlformats.org/drawingml/2006/main">
              <a:ext uri="{FF2B5EF4-FFF2-40B4-BE49-F238E27FC236}">
                <a16:creationId xmlns:a16="http://schemas.microsoft.com/office/drawing/2014/main" id="{3DAA230B-B8D1-42D3-A234-8B7719FB8516}"/>
              </a:ext>
            </a:extLst>
          </p:cNvPr>
          <p:cNvSpPr>
            <a:spLocks xmlns:a="http://schemas.openxmlformats.org/drawingml/2006/main" noGrp="1"/>
          </p:cNvSpPr>
          <p:nvPr/>
        </p:nvSpPr>
        <p:spPr>
          <a:xfrm xmlns:a="http://schemas.openxmlformats.org/drawingml/2006/main">
            <a:off x="857250" y="5305425"/>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383D"/>
                </a:solidFill>
                <a:latin typeface="Helvetica Neue"/>
                <a:ea typeface="Helvetica Neue"/>
                <a:cs typeface="Helvetica Neue"/>
              </a:defRPr>
            </a:pPr>
            <a:r>
              <a:rPr sz="1800" b="1">
                <a:solidFill>
                  <a:srgbClr val="12383D"/>
                </a:solidFill>
                <a:latin typeface="Helvetica Neue"/>
                <a:ea typeface="Helvetica Neue"/>
                <a:cs typeface="Helvetica Neue"/>
              </a:rPr>
              <a:t>Niacin → usable BUBR1 → functional muscle in this genotype.</a:t>
            </a:r>
          </a:p>
        </p:txBody>
      </p:sp>
      <p:sp>
        <p:nvSpPr>
          <p:cNvPr id="17" name="">
            <a:extLst xmlns:a="http://schemas.openxmlformats.org/drawingml/2006/main">
              <a:ext uri="{FF2B5EF4-FFF2-40B4-BE49-F238E27FC236}">
                <a16:creationId xmlns:a16="http://schemas.microsoft.com/office/drawing/2014/main" id="{DFD30A3C-9EE8-4A5B-9079-F472F2D2CBED}"/>
              </a:ext>
            </a:extLst>
          </p:cNvPr>
          <p:cNvSpPr>
            <a:spLocks xmlns:a="http://schemas.openxmlformats.org/drawingml/2006/main" noGrp="1"/>
          </p:cNvSpPr>
          <p:nvPr/>
        </p:nvSpPr>
        <p:spPr>
          <a:xfrm xmlns:a="http://schemas.openxmlformats.org/drawingml/2006/main">
            <a:off x="628650" y="5953125"/>
            <a:ext cx="10896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96F70"/>
                </a:solidFill>
                <a:latin typeface="Helvetica Neue"/>
                <a:ea typeface="Helvetica Neue"/>
                <a:cs typeface="Helvetica Neue"/>
              </a:defRPr>
            </a:pPr>
            <a:r>
              <a:rPr sz="1275" b="0">
                <a:solidFill>
                  <a:srgbClr val="596F70"/>
                </a:solidFill>
                <a:latin typeface="Helvetica Neue"/>
                <a:ea typeface="Helvetica Neue"/>
                <a:cs typeface="Helvetica Neue"/>
              </a:rPr>
              <a:t>Prescription-niacin pediatric safety and effectiveness are unestablished.</a:t>
            </a:r>
          </a:p>
        </p:txBody>
      </p:sp>
    </p:spTree>
    <p:extLst>
      <p:ext uri="{BB962C8B-B14F-4D97-AF65-F5344CB8AC3E}">
        <p14:creationId xmlns:p14="http://schemas.microsoft.com/office/powerpoint/2010/main" val="106103409"/>
      </p:ext>
    </p:extLst>
  </p:cSld>
</p:sld>
</file>

<file path=ppt/slides/slide4.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9A04457-F739-46D1-9F12-A7857DE3FCED}"/>
              </a:ext>
            </a:extLst>
          </p:cNvPr>
          <p:cNvSpPr>
            <a:spLocks xmlns:a="http://schemas.openxmlformats.org/drawingml/2006/main" noGrp="1"/>
          </p:cNvSpPr>
          <p:nvPr/>
        </p:nvSpPr>
        <p:spPr>
          <a:xfrm xmlns:a="http://schemas.openxmlformats.org/drawingml/2006/main">
            <a:off x="609600" y="409575"/>
            <a:ext cx="1009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83D"/>
                </a:solidFill>
                <a:latin typeface="Helvetica Neue"/>
                <a:ea typeface="Helvetica Neue"/>
                <a:cs typeface="Helvetica Neue"/>
              </a:defRPr>
            </a:pPr>
            <a:r>
              <a:rPr sz="3150" b="1">
                <a:solidFill>
                  <a:srgbClr val="12383D"/>
                </a:solidFill>
                <a:latin typeface="Helvetica Neue"/>
                <a:ea typeface="Helvetica Neue"/>
                <a:cs typeface="Helvetica Neue"/>
              </a:rPr>
              <a:t>Apitegromab tests muscle compensation</a:t>
            </a:r>
          </a:p>
        </p:txBody>
      </p:sp>
      <p:sp>
        <p:nvSpPr>
          <p:cNvPr id="2" name="">
            <a:extLst xmlns:a="http://schemas.openxmlformats.org/drawingml/2006/main">
              <a:ext uri="{FF2B5EF4-FFF2-40B4-BE49-F238E27FC236}">
                <a16:creationId xmlns:a16="http://schemas.microsoft.com/office/drawing/2014/main" id="{0515BD2B-4F90-4C53-92F7-6D50E6B32329}"/>
              </a:ext>
            </a:extLst>
          </p:cNvPr>
          <p:cNvSpPr>
            <a:spLocks xmlns:a="http://schemas.openxmlformats.org/drawingml/2006/main" noGrp="1"/>
          </p:cNvSpPr>
          <p:nvPr/>
        </p:nvSpPr>
        <p:spPr>
          <a:xfrm xmlns:a="http://schemas.openxmlformats.org/drawingml/2006/main">
            <a:off x="10744200" y="504825"/>
            <a:ext cx="83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137F79"/>
                </a:solidFill>
                <a:latin typeface="Helvetica Neue"/>
                <a:ea typeface="Helvetica Neue"/>
                <a:cs typeface="Helvetica Neue"/>
              </a:defRPr>
            </a:pPr>
            <a:r>
              <a:rPr sz="1200" b="1">
                <a:solidFill>
                  <a:srgbClr val="137F79"/>
                </a:solidFill>
                <a:latin typeface="Helvetica Neue"/>
                <a:ea typeface="Helvetica Neue"/>
                <a:cs typeface="Helvetica Neue"/>
              </a:rPr>
              <a:t>04 / 08</a:t>
            </a:r>
          </a:p>
        </p:txBody>
      </p:sp>
      <p:sp>
        <p:nvSpPr>
          <p:cNvPr id="3" name="">
            <a:extLst xmlns:a="http://schemas.openxmlformats.org/drawingml/2006/main">
              <a:ext uri="{FF2B5EF4-FFF2-40B4-BE49-F238E27FC236}">
                <a16:creationId xmlns:a16="http://schemas.microsoft.com/office/drawing/2014/main" id="{1C3B75BD-1F04-437D-93B3-36585F5FFD45}"/>
              </a:ext>
            </a:extLst>
          </p:cNvPr>
          <p:cNvSpPr>
            <a:spLocks xmlns:a="http://schemas.openxmlformats.org/drawingml/2006/main" noGrp="1"/>
          </p:cNvSpPr>
          <p:nvPr/>
        </p:nvSpPr>
        <p:spPr>
          <a:xfrm xmlns:a="http://schemas.openxmlformats.org/drawingml/2006/main">
            <a:off x="609600" y="1143000"/>
            <a:ext cx="819150" cy="47625"/>
          </a:xfrm>
          <a:prstGeom xmlns:a="http://schemas.openxmlformats.org/drawingml/2006/main" prst="rect">
            <a:avLst/>
          </a:prstGeom>
          <a:solidFill xmlns:a="http://schemas.openxmlformats.org/drawingml/2006/main">
            <a:srgbClr val="137F7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8C1D089-B959-4365-9E59-7677701E6C7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1D8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420B4D3-F163-43E4-8BA1-F841D5F60848}"/>
              </a:ext>
            </a:extLst>
          </p:cNvPr>
          <p:cNvSpPr>
            <a:spLocks xmlns:a="http://schemas.openxmlformats.org/drawingml/2006/main" noGrp="1"/>
          </p:cNvSpPr>
          <p:nvPr/>
        </p:nvSpPr>
        <p:spPr>
          <a:xfrm xmlns:a="http://schemas.openxmlformats.org/drawingml/2006/main">
            <a:off x="609600" y="6534150"/>
            <a:ext cx="695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596F70"/>
                </a:solidFill>
                <a:latin typeface="Helvetica Neue"/>
                <a:ea typeface="Helvetica Neue"/>
                <a:cs typeface="Helvetica Neue"/>
              </a:defRPr>
            </a:pPr>
            <a:r>
              <a:rPr sz="1050" b="0">
                <a:solidFill>
                  <a:srgbClr val="596F70"/>
                </a:solidFill>
                <a:latin typeface="Helvetica Neue"/>
                <a:ea typeface="Helvetica Neue"/>
                <a:cs typeface="Helvetica Neue"/>
              </a:rPr>
              <a:t>jeweled  ·  MVA Track 2  ·  research proposal</a:t>
            </a:r>
          </a:p>
        </p:txBody>
      </p:sp>
      <p:sp>
        <p:nvSpPr>
          <p:cNvPr id="6" name="">
            <a:extLst xmlns:a="http://schemas.openxmlformats.org/drawingml/2006/main">
              <a:ext uri="{FF2B5EF4-FFF2-40B4-BE49-F238E27FC236}">
                <a16:creationId xmlns:a16="http://schemas.microsoft.com/office/drawing/2014/main" id="{EE9A0A10-66C6-444E-BEA6-534E2336CCE0}"/>
              </a:ext>
            </a:extLst>
          </p:cNvPr>
          <p:cNvSpPr>
            <a:spLocks xmlns:a="http://schemas.openxmlformats.org/drawingml/2006/main" noGrp="1"/>
          </p:cNvSpPr>
          <p:nvPr/>
        </p:nvSpPr>
        <p:spPr>
          <a:xfrm xmlns:a="http://schemas.openxmlformats.org/drawingml/2006/main">
            <a:off x="609600" y="13811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6F70"/>
                </a:solidFill>
                <a:latin typeface="Helvetica Neue"/>
                <a:ea typeface="Helvetica Neue"/>
                <a:cs typeface="Helvetica Neue"/>
              </a:defRPr>
            </a:pPr>
            <a:r>
              <a:rPr sz="1650" b="0">
                <a:solidFill>
                  <a:srgbClr val="596F70"/>
                </a:solidFill>
                <a:latin typeface="Helvetica Neue"/>
                <a:ea typeface="Helvetica Neue"/>
                <a:cs typeface="Helvetica Neue"/>
              </a:rPr>
              <a:t>Blocks promyostatin / latent-myostatin activation to support surviving muscle—not chromosome repair.</a:t>
            </a:r>
          </a:p>
        </p:txBody>
      </p:sp>
      <p:sp>
        <p:nvSpPr>
          <p:cNvPr id="7" name="">
            <a:extLst xmlns:a="http://schemas.openxmlformats.org/drawingml/2006/main">
              <a:ext uri="{FF2B5EF4-FFF2-40B4-BE49-F238E27FC236}">
                <a16:creationId xmlns:a16="http://schemas.microsoft.com/office/drawing/2014/main" id="{28BA07F3-A157-4FBB-B6DF-69B0D22CE148}"/>
              </a:ext>
            </a:extLst>
          </p:cNvPr>
          <p:cNvSpPr>
            <a:spLocks xmlns:a="http://schemas.openxmlformats.org/drawingml/2006/main" noGrp="1"/>
          </p:cNvSpPr>
          <p:nvPr/>
        </p:nvSpPr>
        <p:spPr>
          <a:xfrm xmlns:a="http://schemas.openxmlformats.org/drawingml/2006/main">
            <a:off x="609600" y="2000250"/>
            <a:ext cx="5219700" cy="2724150"/>
          </a:xfrm>
          <a:prstGeom xmlns:a="http://schemas.openxmlformats.org/drawingml/2006/main" prst="roundRect">
            <a:avLst>
              <a:gd name="adj" fmla="val 4895"/>
            </a:avLst>
          </a:prstGeom>
          <a:solidFill xmlns:a="http://schemas.openxmlformats.org/drawingml/2006/main">
            <a:srgbClr val="12383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58A8153-66BC-4E0F-BDA3-5B9E3F219BEF}"/>
              </a:ext>
            </a:extLst>
          </p:cNvPr>
          <p:cNvSpPr>
            <a:spLocks xmlns:a="http://schemas.openxmlformats.org/drawingml/2006/main" noGrp="1"/>
          </p:cNvSpPr>
          <p:nvPr/>
        </p:nvSpPr>
        <p:spPr>
          <a:xfrm xmlns:a="http://schemas.openxmlformats.org/drawingml/2006/main">
            <a:off x="866775" y="2257425"/>
            <a:ext cx="2714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0" b="1">
                <a:solidFill>
                  <a:srgbClr val="76C7B8"/>
                </a:solidFill>
                <a:latin typeface="Helvetica Neue"/>
                <a:ea typeface="Helvetica Neue"/>
                <a:cs typeface="Helvetica Neue"/>
              </a:defRPr>
            </a:pPr>
            <a:r>
              <a:rPr sz="6750" b="1">
                <a:solidFill>
                  <a:srgbClr val="76C7B8"/>
                </a:solidFill>
                <a:latin typeface="Helvetica Neue"/>
                <a:ea typeface="Helvetica Neue"/>
                <a:cs typeface="Helvetica Neue"/>
              </a:rPr>
              <a:t>+1.8</a:t>
            </a:r>
          </a:p>
        </p:txBody>
      </p:sp>
      <p:sp>
        <p:nvSpPr>
          <p:cNvPr id="9" name="">
            <a:extLst xmlns:a="http://schemas.openxmlformats.org/drawingml/2006/main">
              <a:ext uri="{FF2B5EF4-FFF2-40B4-BE49-F238E27FC236}">
                <a16:creationId xmlns:a16="http://schemas.microsoft.com/office/drawing/2014/main" id="{9219F772-6B02-4BB9-837B-1F82E1663472}"/>
              </a:ext>
            </a:extLst>
          </p:cNvPr>
          <p:cNvSpPr>
            <a:spLocks xmlns:a="http://schemas.openxmlformats.org/drawingml/2006/main" noGrp="1"/>
          </p:cNvSpPr>
          <p:nvPr/>
        </p:nvSpPr>
        <p:spPr>
          <a:xfrm xmlns:a="http://schemas.openxmlformats.org/drawingml/2006/main">
            <a:off x="895350" y="3238500"/>
            <a:ext cx="4143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EFA"/>
                </a:solidFill>
                <a:latin typeface="Helvetica Neue"/>
                <a:ea typeface="Helvetica Neue"/>
                <a:cs typeface="Helvetica Neue"/>
              </a:defRPr>
            </a:pPr>
            <a:r>
              <a:rPr sz="1800" b="1">
                <a:solidFill>
                  <a:srgbClr val="FFFEFA"/>
                </a:solidFill>
                <a:latin typeface="Helvetica Neue"/>
                <a:ea typeface="Helvetica Neue"/>
                <a:cs typeface="Helvetica Neue"/>
              </a:rPr>
              <a:t>HFMSE points vs placebo</a:t>
            </a:r>
          </a:p>
        </p:txBody>
      </p:sp>
      <p:sp>
        <p:nvSpPr>
          <p:cNvPr id="10" name="">
            <a:extLst xmlns:a="http://schemas.openxmlformats.org/drawingml/2006/main">
              <a:ext uri="{FF2B5EF4-FFF2-40B4-BE49-F238E27FC236}">
                <a16:creationId xmlns:a16="http://schemas.microsoft.com/office/drawing/2014/main" id="{9F03D285-D400-43CF-9FC4-FB84734DF266}"/>
              </a:ext>
            </a:extLst>
          </p:cNvPr>
          <p:cNvSpPr>
            <a:spLocks xmlns:a="http://schemas.openxmlformats.org/drawingml/2006/main" noGrp="1"/>
          </p:cNvSpPr>
          <p:nvPr/>
        </p:nvSpPr>
        <p:spPr>
          <a:xfrm xmlns:a="http://schemas.openxmlformats.org/drawingml/2006/main">
            <a:off x="895350" y="3714750"/>
            <a:ext cx="4324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D8E6E0"/>
                </a:solidFill>
                <a:latin typeface="Helvetica Neue"/>
                <a:ea typeface="Helvetica Neue"/>
                <a:cs typeface="Helvetica Neue"/>
              </a:defRPr>
            </a:pPr>
            <a:r>
              <a:rPr sz="1575" b="0">
                <a:solidFill>
                  <a:srgbClr val="D8E6E0"/>
                </a:solidFill>
                <a:latin typeface="Helvetica Neue"/>
                <a:ea typeface="Helvetica Neue"/>
                <a:cs typeface="Helvetica Neue"/>
              </a:rPr>
              <a:t>95% CI 0.30–3.32  ·  p=.019</a:t>
            </a:r>
          </a:p>
          <a:p xmlns:a="http://schemas.openxmlformats.org/drawingml/2006/main">
            <a:pPr algn="l">
              <a:defRPr sz="1575" b="0">
                <a:solidFill>
                  <a:srgbClr val="D8E6E0"/>
                </a:solidFill>
                <a:latin typeface="Helvetica Neue"/>
                <a:ea typeface="Helvetica Neue"/>
                <a:cs typeface="Helvetica Neue"/>
              </a:defRPr>
            </a:pPr>
            <a:r>
              <a:rPr sz="1575" b="0">
                <a:solidFill>
                  <a:srgbClr val="D8E6E0"/>
                </a:solidFill>
                <a:latin typeface="Helvetica Neue"/>
                <a:ea typeface="Helvetica Neue"/>
                <a:cs typeface="Helvetica Neue"/>
              </a:rPr>
              <a:t>Pooled-dose primary contrast</a:t>
            </a:r>
          </a:p>
        </p:txBody>
      </p:sp>
      <p:sp>
        <p:nvSpPr>
          <p:cNvPr id="11" name="">
            <a:extLst xmlns:a="http://schemas.openxmlformats.org/drawingml/2006/main">
              <a:ext uri="{FF2B5EF4-FFF2-40B4-BE49-F238E27FC236}">
                <a16:creationId xmlns:a16="http://schemas.microsoft.com/office/drawing/2014/main" id="{83315F08-ED56-4A1D-BFA4-CF04D0FAAEE4}"/>
              </a:ext>
            </a:extLst>
          </p:cNvPr>
          <p:cNvSpPr>
            <a:spLocks xmlns:a="http://schemas.openxmlformats.org/drawingml/2006/main" noGrp="1"/>
          </p:cNvSpPr>
          <p:nvPr/>
        </p:nvSpPr>
        <p:spPr>
          <a:xfrm xmlns:a="http://schemas.openxmlformats.org/drawingml/2006/main">
            <a:off x="6362700" y="2000250"/>
            <a:ext cx="5219700" cy="2724150"/>
          </a:xfrm>
          <a:prstGeom xmlns:a="http://schemas.openxmlformats.org/drawingml/2006/main" prst="roundRect">
            <a:avLst>
              <a:gd name="adj" fmla="val 4895"/>
            </a:avLst>
          </a:prstGeom>
          <a:solidFill xmlns:a="http://schemas.openxmlformats.org/drawingml/2006/main">
            <a:srgbClr val="FFFEFA"/>
          </a:solidFill>
          <a:ln xmlns:a="http://schemas.openxmlformats.org/drawingml/2006/main" w="9525">
            <a:solidFill>
              <a:srgbClr val="D1D8D2"/>
            </a:solidFill>
          </a:ln>
        </p:spPr>
      </p:sp>
      <p:sp>
        <p:nvSpPr>
          <p:cNvPr id="12" name="">
            <a:extLst xmlns:a="http://schemas.openxmlformats.org/drawingml/2006/main">
              <a:ext uri="{FF2B5EF4-FFF2-40B4-BE49-F238E27FC236}">
                <a16:creationId xmlns:a16="http://schemas.microsoft.com/office/drawing/2014/main" id="{9C256BE0-6BD5-4E8F-84FF-09C58DA5831A}"/>
              </a:ext>
            </a:extLst>
          </p:cNvPr>
          <p:cNvSpPr>
            <a:spLocks xmlns:a="http://schemas.openxmlformats.org/drawingml/2006/main" noGrp="1"/>
          </p:cNvSpPr>
          <p:nvPr/>
        </p:nvSpPr>
        <p:spPr>
          <a:xfrm xmlns:a="http://schemas.openxmlformats.org/drawingml/2006/main">
            <a:off x="6619875" y="225742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37F79"/>
                </a:solidFill>
                <a:latin typeface="Helvetica Neue"/>
                <a:ea typeface="Helvetica Neue"/>
                <a:cs typeface="Helvetica Neue"/>
              </a:defRPr>
            </a:pPr>
            <a:r>
              <a:rPr sz="1200" b="1">
                <a:solidFill>
                  <a:srgbClr val="137F79"/>
                </a:solidFill>
                <a:latin typeface="Helvetica Neue"/>
                <a:ea typeface="Helvetica Neue"/>
                <a:cs typeface="Helvetica Neue"/>
              </a:rPr>
              <a:t>SAPPHIRE · AGES 2–12</a:t>
            </a:r>
          </a:p>
        </p:txBody>
      </p:sp>
      <p:sp>
        <p:nvSpPr>
          <p:cNvPr id="13" name="">
            <a:extLst xmlns:a="http://schemas.openxmlformats.org/drawingml/2006/main">
              <a:ext uri="{FF2B5EF4-FFF2-40B4-BE49-F238E27FC236}">
                <a16:creationId xmlns:a16="http://schemas.microsoft.com/office/drawing/2014/main" id="{6C85075B-DE29-483D-A220-5716718EC06A}"/>
              </a:ext>
            </a:extLst>
          </p:cNvPr>
          <p:cNvSpPr>
            <a:spLocks xmlns:a="http://schemas.openxmlformats.org/drawingml/2006/main" noGrp="1"/>
          </p:cNvSpPr>
          <p:nvPr/>
        </p:nvSpPr>
        <p:spPr>
          <a:xfrm xmlns:a="http://schemas.openxmlformats.org/drawingml/2006/main">
            <a:off x="6619875" y="2609850"/>
            <a:ext cx="45529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2383D"/>
                </a:solidFill>
                <a:latin typeface="Helvetica Neue"/>
                <a:ea typeface="Helvetica Neue"/>
                <a:cs typeface="Helvetica Neue"/>
              </a:defRPr>
            </a:pPr>
            <a:r>
              <a:rPr sz="1725" b="1">
                <a:solidFill>
                  <a:srgbClr val="12383D"/>
                </a:solidFill>
                <a:latin typeface="Helvetica Neue"/>
                <a:ea typeface="Helvetica Neue"/>
                <a:cs typeface="Helvetica Neue"/>
              </a:rPr>
              <a:t>Nonambulatory SMA on nusinersen or risdiplam.</a:t>
            </a:r>
          </a:p>
        </p:txBody>
      </p:sp>
      <p:sp>
        <p:nvSpPr>
          <p:cNvPr id="14" name="">
            <a:extLst xmlns:a="http://schemas.openxmlformats.org/drawingml/2006/main">
              <a:ext uri="{FF2B5EF4-FFF2-40B4-BE49-F238E27FC236}">
                <a16:creationId xmlns:a16="http://schemas.microsoft.com/office/drawing/2014/main" id="{6D175E5B-A76C-4502-9C19-D4C716AD542B}"/>
              </a:ext>
            </a:extLst>
          </p:cNvPr>
          <p:cNvSpPr>
            <a:spLocks xmlns:a="http://schemas.openxmlformats.org/drawingml/2006/main" noGrp="1"/>
          </p:cNvSpPr>
          <p:nvPr/>
        </p:nvSpPr>
        <p:spPr>
          <a:xfrm xmlns:a="http://schemas.openxmlformats.org/drawingml/2006/main">
            <a:off x="6619875" y="3238500"/>
            <a:ext cx="4695825" cy="657225"/>
          </a:xfrm>
          <a:prstGeom xmlns:a="http://schemas.openxmlformats.org/drawingml/2006/main" prst="roundRect">
            <a:avLst>
              <a:gd name="adj" fmla="val 13043"/>
            </a:avLst>
          </a:prstGeom>
          <a:solidFill xmlns:a="http://schemas.openxmlformats.org/drawingml/2006/main">
            <a:srgbClr val="F3E6C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54A9CC1-6DE3-43FF-87FD-CEF0BA3390B5}"/>
              </a:ext>
            </a:extLst>
          </p:cNvPr>
          <p:cNvSpPr>
            <a:spLocks xmlns:a="http://schemas.openxmlformats.org/drawingml/2006/main" noGrp="1"/>
          </p:cNvSpPr>
          <p:nvPr/>
        </p:nvSpPr>
        <p:spPr>
          <a:xfrm xmlns:a="http://schemas.openxmlformats.org/drawingml/2006/main">
            <a:off x="6753225" y="3390900"/>
            <a:ext cx="441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2383D"/>
                </a:solidFill>
                <a:latin typeface="Helvetica Neue"/>
                <a:ea typeface="Helvetica Neue"/>
                <a:cs typeface="Helvetica Neue"/>
              </a:defRPr>
            </a:pPr>
            <a:r>
              <a:rPr sz="1425" b="1">
                <a:solidFill>
                  <a:srgbClr val="12383D"/>
                </a:solidFill>
                <a:latin typeface="Helvetica Neue"/>
                <a:ea typeface="Helvetica Neue"/>
                <a:cs typeface="Helvetica Neue"/>
              </a:rPr>
              <a:t>20 mg/kg-only primary: p=.115 → gatekeeping stopped.</a:t>
            </a:r>
          </a:p>
        </p:txBody>
      </p:sp>
      <p:sp>
        <p:nvSpPr>
          <p:cNvPr id="16" name="">
            <a:extLst xmlns:a="http://schemas.openxmlformats.org/drawingml/2006/main">
              <a:ext uri="{FF2B5EF4-FFF2-40B4-BE49-F238E27FC236}">
                <a16:creationId xmlns:a16="http://schemas.microsoft.com/office/drawing/2014/main" id="{E247578D-88EC-4D6F-B147-A857DEBF9D26}"/>
              </a:ext>
            </a:extLst>
          </p:cNvPr>
          <p:cNvSpPr>
            <a:spLocks xmlns:a="http://schemas.openxmlformats.org/drawingml/2006/main" noGrp="1"/>
          </p:cNvSpPr>
          <p:nvPr/>
        </p:nvSpPr>
        <p:spPr>
          <a:xfrm xmlns:a="http://schemas.openxmlformats.org/drawingml/2006/main">
            <a:off x="6619875" y="4076700"/>
            <a:ext cx="4619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203B3D"/>
                </a:solidFill>
                <a:latin typeface="Helvetica Neue"/>
                <a:ea typeface="Helvetica Neue"/>
                <a:cs typeface="Helvetica Neue"/>
              </a:defRPr>
            </a:pPr>
            <a:r>
              <a:rPr sz="1350" b="0">
                <a:solidFill>
                  <a:srgbClr val="203B3D"/>
                </a:solidFill>
                <a:latin typeface="Helvetica Neue"/>
                <a:ea typeface="Helvetica Neue"/>
                <a:cs typeface="Helvetica Neue"/>
              </a:rPr>
              <a:t>The 10 mg/kg estimate was exploratory. No MVA evidence.</a:t>
            </a:r>
          </a:p>
        </p:txBody>
      </p:sp>
      <p:sp>
        <p:nvSpPr>
          <p:cNvPr id="17" name="">
            <a:extLst xmlns:a="http://schemas.openxmlformats.org/drawingml/2006/main">
              <a:ext uri="{FF2B5EF4-FFF2-40B4-BE49-F238E27FC236}">
                <a16:creationId xmlns:a16="http://schemas.microsoft.com/office/drawing/2014/main" id="{3F3064C0-8210-4C0D-AF4D-0CAA7734F4FB}"/>
              </a:ext>
            </a:extLst>
          </p:cNvPr>
          <p:cNvSpPr>
            <a:spLocks xmlns:a="http://schemas.openxmlformats.org/drawingml/2006/main" noGrp="1"/>
          </p:cNvSpPr>
          <p:nvPr/>
        </p:nvSpPr>
        <p:spPr>
          <a:xfrm xmlns:a="http://schemas.openxmlformats.org/drawingml/2006/main">
            <a:off x="609600" y="5048250"/>
            <a:ext cx="10972800" cy="733425"/>
          </a:xfrm>
          <a:prstGeom xmlns:a="http://schemas.openxmlformats.org/drawingml/2006/main" prst="roundRect">
            <a:avLst>
              <a:gd name="adj" fmla="val 16883"/>
            </a:avLst>
          </a:prstGeom>
          <a:solidFill xmlns:a="http://schemas.openxmlformats.org/drawingml/2006/main">
            <a:srgbClr val="F3DED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84C0DCF-74D5-428F-9CC8-62DE79549EB2}"/>
              </a:ext>
            </a:extLst>
          </p:cNvPr>
          <p:cNvSpPr>
            <a:spLocks xmlns:a="http://schemas.openxmlformats.org/drawingml/2006/main" noGrp="1"/>
          </p:cNvSpPr>
          <p:nvPr/>
        </p:nvSpPr>
        <p:spPr>
          <a:xfrm xmlns:a="http://schemas.openxmlformats.org/drawingml/2006/main">
            <a:off x="838200" y="5267325"/>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12383D"/>
                </a:solidFill>
                <a:latin typeface="Helvetica Neue"/>
                <a:ea typeface="Helvetica Neue"/>
                <a:cs typeface="Helvetica Neue"/>
              </a:defRPr>
            </a:pPr>
            <a:r>
              <a:rPr sz="1650" b="1">
                <a:solidFill>
                  <a:srgbClr val="12383D"/>
                </a:solidFill>
                <a:latin typeface="Helvetica Neue"/>
                <a:ea typeface="Helvetica Neue"/>
                <a:cs typeface="Helvetica Neue"/>
              </a:rPr>
              <a:t>US indication is SMA, not MVA. Fracture risk and recurring IV infusions matter.</a:t>
            </a:r>
          </a:p>
        </p:txBody>
      </p:sp>
    </p:spTree>
    <p:extLst>
      <p:ext uri="{BB962C8B-B14F-4D97-AF65-F5344CB8AC3E}">
        <p14:creationId xmlns:p14="http://schemas.microsoft.com/office/powerpoint/2010/main" val="1658038885"/>
      </p:ext>
    </p:extLst>
  </p:cSld>
</p:sld>
</file>

<file path=ppt/slides/slide5.xml><?xml version="1.0" encoding="utf-8"?>
<p:sld xmlns:p="http://schemas.openxmlformats.org/presentationml/2006/main">
  <p:cSld>
    <p:bg>
      <p:bgPr>
        <a:solidFill xmlns:a="http://schemas.openxmlformats.org/drawingml/2006/main">
          <a:srgbClr val="0E333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712A294-0DFE-4824-9D34-4B700C0C5CCC}"/>
              </a:ext>
            </a:extLst>
          </p:cNvPr>
          <p:cNvSpPr>
            <a:spLocks xmlns:a="http://schemas.openxmlformats.org/drawingml/2006/main" noGrp="1"/>
          </p:cNvSpPr>
          <p:nvPr/>
        </p:nvSpPr>
        <p:spPr>
          <a:xfrm xmlns:a="http://schemas.openxmlformats.org/drawingml/2006/main">
            <a:off x="609600" y="409575"/>
            <a:ext cx="1009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FFFEFA"/>
                </a:solidFill>
                <a:latin typeface="Helvetica Neue"/>
                <a:ea typeface="Helvetica Neue"/>
                <a:cs typeface="Helvetica Neue"/>
              </a:defRPr>
            </a:pPr>
            <a:r>
              <a:rPr sz="3150" b="1">
                <a:solidFill>
                  <a:srgbClr val="FFFEFA"/>
                </a:solidFill>
                <a:latin typeface="Helvetica Neue"/>
                <a:ea typeface="Helvetica Neue"/>
                <a:cs typeface="Helvetica Neue"/>
              </a:rPr>
              <a:t>A better survivor fraction can still mean less tissue</a:t>
            </a:r>
          </a:p>
        </p:txBody>
      </p:sp>
      <p:sp>
        <p:nvSpPr>
          <p:cNvPr id="2" name="">
            <a:extLst xmlns:a="http://schemas.openxmlformats.org/drawingml/2006/main">
              <a:ext uri="{FF2B5EF4-FFF2-40B4-BE49-F238E27FC236}">
                <a16:creationId xmlns:a16="http://schemas.microsoft.com/office/drawing/2014/main" id="{AB5A7877-453A-49F0-9272-C18EE210837A}"/>
              </a:ext>
            </a:extLst>
          </p:cNvPr>
          <p:cNvSpPr>
            <a:spLocks xmlns:a="http://schemas.openxmlformats.org/drawingml/2006/main" noGrp="1"/>
          </p:cNvSpPr>
          <p:nvPr/>
        </p:nvSpPr>
        <p:spPr>
          <a:xfrm xmlns:a="http://schemas.openxmlformats.org/drawingml/2006/main">
            <a:off x="10744200" y="504825"/>
            <a:ext cx="83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76C7B8"/>
                </a:solidFill>
                <a:latin typeface="Helvetica Neue"/>
                <a:ea typeface="Helvetica Neue"/>
                <a:cs typeface="Helvetica Neue"/>
              </a:defRPr>
            </a:pPr>
            <a:r>
              <a:rPr sz="1200" b="1">
                <a:solidFill>
                  <a:srgbClr val="76C7B8"/>
                </a:solidFill>
                <a:latin typeface="Helvetica Neue"/>
                <a:ea typeface="Helvetica Neue"/>
                <a:cs typeface="Helvetica Neue"/>
              </a:rPr>
              <a:t>05 / 08</a:t>
            </a:r>
          </a:p>
        </p:txBody>
      </p:sp>
      <p:sp>
        <p:nvSpPr>
          <p:cNvPr id="3" name="">
            <a:extLst xmlns:a="http://schemas.openxmlformats.org/drawingml/2006/main">
              <a:ext uri="{FF2B5EF4-FFF2-40B4-BE49-F238E27FC236}">
                <a16:creationId xmlns:a16="http://schemas.microsoft.com/office/drawing/2014/main" id="{D9C12CB4-FC56-42E5-82C1-D48486AD5002}"/>
              </a:ext>
            </a:extLst>
          </p:cNvPr>
          <p:cNvSpPr>
            <a:spLocks xmlns:a="http://schemas.openxmlformats.org/drawingml/2006/main" noGrp="1"/>
          </p:cNvSpPr>
          <p:nvPr/>
        </p:nvSpPr>
        <p:spPr>
          <a:xfrm xmlns:a="http://schemas.openxmlformats.org/drawingml/2006/main">
            <a:off x="609600" y="1143000"/>
            <a:ext cx="819150" cy="47625"/>
          </a:xfrm>
          <a:prstGeom xmlns:a="http://schemas.openxmlformats.org/drawingml/2006/main" prst="rect">
            <a:avLst/>
          </a:prstGeom>
          <a:solidFill xmlns:a="http://schemas.openxmlformats.org/drawingml/2006/main">
            <a:srgbClr val="76C7B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C824F98-9D1C-4107-85A8-A53FA1A2965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36565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D06C92-CCE8-4070-B64B-4EB0E54AC657}"/>
              </a:ext>
            </a:extLst>
          </p:cNvPr>
          <p:cNvSpPr>
            <a:spLocks xmlns:a="http://schemas.openxmlformats.org/drawingml/2006/main" noGrp="1"/>
          </p:cNvSpPr>
          <p:nvPr/>
        </p:nvSpPr>
        <p:spPr>
          <a:xfrm xmlns:a="http://schemas.openxmlformats.org/drawingml/2006/main">
            <a:off x="609600" y="6534150"/>
            <a:ext cx="695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DD0CB"/>
                </a:solidFill>
                <a:latin typeface="Helvetica Neue"/>
                <a:ea typeface="Helvetica Neue"/>
                <a:cs typeface="Helvetica Neue"/>
              </a:defRPr>
            </a:pPr>
            <a:r>
              <a:rPr sz="1050" b="0">
                <a:solidFill>
                  <a:srgbClr val="BDD0CB"/>
                </a:solidFill>
                <a:latin typeface="Helvetica Neue"/>
                <a:ea typeface="Helvetica Neue"/>
                <a:cs typeface="Helvetica Neue"/>
              </a:rPr>
              <a:t>jeweled  ·  MVA Track 2  ·  research proposal</a:t>
            </a:r>
          </a:p>
        </p:txBody>
      </p:sp>
      <p:sp>
        <p:nvSpPr>
          <p:cNvPr id="6" name="">
            <a:extLst xmlns:a="http://schemas.openxmlformats.org/drawingml/2006/main">
              <a:ext uri="{FF2B5EF4-FFF2-40B4-BE49-F238E27FC236}">
                <a16:creationId xmlns:a16="http://schemas.microsoft.com/office/drawing/2014/main" id="{7B760B7C-999E-447D-A551-D8B946CF6AC0}"/>
              </a:ext>
            </a:extLst>
          </p:cNvPr>
          <p:cNvSpPr>
            <a:spLocks xmlns:a="http://schemas.openxmlformats.org/drawingml/2006/main" noGrp="1"/>
          </p:cNvSpPr>
          <p:nvPr/>
        </p:nvSpPr>
        <p:spPr>
          <a:xfrm xmlns:a="http://schemas.openxmlformats.org/drawingml/2006/main">
            <a:off x="609600" y="14001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D7E6DF"/>
                </a:solidFill>
                <a:latin typeface="Helvetica Neue"/>
                <a:ea typeface="Helvetica Neue"/>
                <a:cs typeface="Helvetica Neue"/>
              </a:defRPr>
            </a:pPr>
            <a:r>
              <a:rPr sz="1725" b="0">
                <a:solidFill>
                  <a:srgbClr val="D7E6DF"/>
                </a:solidFill>
                <a:latin typeface="Helvetica Neue"/>
                <a:ea typeface="Helvetica Neue"/>
                <a:cs typeface="Helvetica Neue"/>
              </a:rPr>
              <a:t>One simulated population scenario exposes the selection trap:</a:t>
            </a:r>
          </a:p>
        </p:txBody>
      </p:sp>
      <p:sp>
        <p:nvSpPr>
          <p:cNvPr id="7" name="">
            <a:extLst xmlns:a="http://schemas.openxmlformats.org/drawingml/2006/main">
              <a:ext uri="{FF2B5EF4-FFF2-40B4-BE49-F238E27FC236}">
                <a16:creationId xmlns:a16="http://schemas.microsoft.com/office/drawing/2014/main" id="{47289247-2A34-4BBE-BD44-31224DAB8F1F}"/>
              </a:ext>
            </a:extLst>
          </p:cNvPr>
          <p:cNvSpPr>
            <a:spLocks xmlns:a="http://schemas.openxmlformats.org/drawingml/2006/main" noGrp="1"/>
          </p:cNvSpPr>
          <p:nvPr/>
        </p:nvSpPr>
        <p:spPr>
          <a:xfrm xmlns:a="http://schemas.openxmlformats.org/drawingml/2006/main">
            <a:off x="800100" y="2200275"/>
            <a:ext cx="4476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6C7B8"/>
                </a:solidFill>
                <a:latin typeface="Helvetica Neue"/>
                <a:ea typeface="Helvetica Neue"/>
                <a:cs typeface="Helvetica Neue"/>
              </a:defRPr>
            </a:pPr>
            <a:r>
              <a:rPr sz="7800" b="1">
                <a:solidFill>
                  <a:srgbClr val="76C7B8"/>
                </a:solidFill>
                <a:latin typeface="Helvetica Neue"/>
                <a:ea typeface="Helvetica Neue"/>
                <a:cs typeface="Helvetica Neue"/>
              </a:rPr>
              <a:t>+16.8</a:t>
            </a:r>
          </a:p>
        </p:txBody>
      </p:sp>
      <p:sp>
        <p:nvSpPr>
          <p:cNvPr id="8" name="">
            <a:extLst xmlns:a="http://schemas.openxmlformats.org/drawingml/2006/main">
              <a:ext uri="{FF2B5EF4-FFF2-40B4-BE49-F238E27FC236}">
                <a16:creationId xmlns:a16="http://schemas.microsoft.com/office/drawing/2014/main" id="{A950F3BC-A1D2-4CE8-8932-568DF56BA577}"/>
              </a:ext>
            </a:extLst>
          </p:cNvPr>
          <p:cNvSpPr>
            <a:spLocks xmlns:a="http://schemas.openxmlformats.org/drawingml/2006/main" noGrp="1"/>
          </p:cNvSpPr>
          <p:nvPr/>
        </p:nvSpPr>
        <p:spPr>
          <a:xfrm xmlns:a="http://schemas.openxmlformats.org/drawingml/2006/main">
            <a:off x="838200" y="334327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EFA"/>
                </a:solidFill>
                <a:latin typeface="Helvetica Neue"/>
                <a:ea typeface="Helvetica Neue"/>
                <a:cs typeface="Helvetica Neue"/>
              </a:defRPr>
            </a:pPr>
            <a:r>
              <a:rPr sz="1800" b="1">
                <a:solidFill>
                  <a:srgbClr val="FFFEFA"/>
                </a:solidFill>
                <a:latin typeface="Helvetica Neue"/>
                <a:ea typeface="Helvetica Neue"/>
                <a:cs typeface="Helvetica Neue"/>
              </a:rPr>
              <a:t>percentage points</a:t>
            </a:r>
          </a:p>
        </p:txBody>
      </p:sp>
      <p:sp>
        <p:nvSpPr>
          <p:cNvPr id="9" name="">
            <a:extLst xmlns:a="http://schemas.openxmlformats.org/drawingml/2006/main">
              <a:ext uri="{FF2B5EF4-FFF2-40B4-BE49-F238E27FC236}">
                <a16:creationId xmlns:a16="http://schemas.microsoft.com/office/drawing/2014/main" id="{65613FC6-EC84-4150-BCEF-1CC3B1E30B98}"/>
              </a:ext>
            </a:extLst>
          </p:cNvPr>
          <p:cNvSpPr>
            <a:spLocks xmlns:a="http://schemas.openxmlformats.org/drawingml/2006/main" noGrp="1"/>
          </p:cNvSpPr>
          <p:nvPr/>
        </p:nvSpPr>
        <p:spPr>
          <a:xfrm xmlns:a="http://schemas.openxmlformats.org/drawingml/2006/main">
            <a:off x="838200" y="3752850"/>
            <a:ext cx="4429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D7E6DF"/>
                </a:solidFill>
                <a:latin typeface="Helvetica Neue"/>
                <a:ea typeface="Helvetica Neue"/>
                <a:cs typeface="Helvetica Neue"/>
              </a:defRPr>
            </a:pPr>
            <a:r>
              <a:rPr sz="1650" b="0">
                <a:solidFill>
                  <a:srgbClr val="D7E6DF"/>
                </a:solidFill>
                <a:latin typeface="Helvetica Neue"/>
                <a:ea typeface="Helvetica Neue"/>
                <a:cs typeface="Helvetica Neue"/>
              </a:rPr>
              <a:t>in chromosome-normal fraction</a:t>
            </a:r>
          </a:p>
        </p:txBody>
      </p:sp>
      <p:sp>
        <p:nvSpPr>
          <p:cNvPr id="10" name="">
            <a:extLst xmlns:a="http://schemas.openxmlformats.org/drawingml/2006/main">
              <a:ext uri="{FF2B5EF4-FFF2-40B4-BE49-F238E27FC236}">
                <a16:creationId xmlns:a16="http://schemas.microsoft.com/office/drawing/2014/main" id="{12054886-A041-49B9-AA54-C63C6F3E45FE}"/>
              </a:ext>
            </a:extLst>
          </p:cNvPr>
          <p:cNvSpPr>
            <a:spLocks xmlns:a="http://schemas.openxmlformats.org/drawingml/2006/main" noGrp="1"/>
          </p:cNvSpPr>
          <p:nvPr/>
        </p:nvSpPr>
        <p:spPr>
          <a:xfrm xmlns:a="http://schemas.openxmlformats.org/drawingml/2006/main">
            <a:off x="5962650" y="2247900"/>
            <a:ext cx="38100" cy="2047875"/>
          </a:xfrm>
          <a:prstGeom xmlns:a="http://schemas.openxmlformats.org/drawingml/2006/main" prst="rect">
            <a:avLst/>
          </a:prstGeom>
          <a:solidFill xmlns:a="http://schemas.openxmlformats.org/drawingml/2006/main">
            <a:srgbClr val="D69B4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08EA2B6-1ADF-44F3-9546-5D92BC3287E6}"/>
              </a:ext>
            </a:extLst>
          </p:cNvPr>
          <p:cNvSpPr>
            <a:spLocks xmlns:a="http://schemas.openxmlformats.org/drawingml/2006/main" noGrp="1"/>
          </p:cNvSpPr>
          <p:nvPr/>
        </p:nvSpPr>
        <p:spPr>
          <a:xfrm xmlns:a="http://schemas.openxmlformats.org/drawingml/2006/main">
            <a:off x="6572250" y="2200275"/>
            <a:ext cx="4762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0" b="1">
                <a:solidFill>
                  <a:srgbClr val="F0B963"/>
                </a:solidFill>
                <a:latin typeface="Helvetica Neue"/>
                <a:ea typeface="Helvetica Neue"/>
                <a:cs typeface="Helvetica Neue"/>
              </a:defRPr>
            </a:pPr>
            <a:r>
              <a:rPr sz="7500" b="1">
                <a:solidFill>
                  <a:srgbClr val="F0B963"/>
                </a:solidFill>
                <a:latin typeface="Helvetica Neue"/>
                <a:ea typeface="Helvetica Neue"/>
                <a:cs typeface="Helvetica Neue"/>
              </a:rPr>
              <a:t>−11.0%</a:t>
            </a:r>
          </a:p>
        </p:txBody>
      </p:sp>
      <p:sp>
        <p:nvSpPr>
          <p:cNvPr id="12" name="">
            <a:extLst xmlns:a="http://schemas.openxmlformats.org/drawingml/2006/main">
              <a:ext uri="{FF2B5EF4-FFF2-40B4-BE49-F238E27FC236}">
                <a16:creationId xmlns:a16="http://schemas.microsoft.com/office/drawing/2014/main" id="{C069807B-3A46-40FF-A251-EF8C74B6F68C}"/>
              </a:ext>
            </a:extLst>
          </p:cNvPr>
          <p:cNvSpPr>
            <a:spLocks xmlns:a="http://schemas.openxmlformats.org/drawingml/2006/main" noGrp="1"/>
          </p:cNvSpPr>
          <p:nvPr/>
        </p:nvSpPr>
        <p:spPr>
          <a:xfrm xmlns:a="http://schemas.openxmlformats.org/drawingml/2006/main">
            <a:off x="6619875" y="3343275"/>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EFA"/>
                </a:solidFill>
                <a:latin typeface="Helvetica Neue"/>
                <a:ea typeface="Helvetica Neue"/>
                <a:cs typeface="Helvetica Neue"/>
              </a:defRPr>
            </a:pPr>
            <a:r>
              <a:rPr sz="1800" b="1">
                <a:solidFill>
                  <a:srgbClr val="FFFEFA"/>
                </a:solidFill>
                <a:latin typeface="Helvetica Neue"/>
                <a:ea typeface="Helvetica Neue"/>
                <a:cs typeface="Helvetica Neue"/>
              </a:rPr>
              <a:t>total differentiated-cell time</a:t>
            </a:r>
          </a:p>
        </p:txBody>
      </p:sp>
      <p:sp>
        <p:nvSpPr>
          <p:cNvPr id="13" name="">
            <a:extLst xmlns:a="http://schemas.openxmlformats.org/drawingml/2006/main">
              <a:ext uri="{FF2B5EF4-FFF2-40B4-BE49-F238E27FC236}">
                <a16:creationId xmlns:a16="http://schemas.microsoft.com/office/drawing/2014/main" id="{496E9277-441B-457A-80F6-374455320100}"/>
              </a:ext>
            </a:extLst>
          </p:cNvPr>
          <p:cNvSpPr>
            <a:spLocks xmlns:a="http://schemas.openxmlformats.org/drawingml/2006/main" noGrp="1"/>
          </p:cNvSpPr>
          <p:nvPr/>
        </p:nvSpPr>
        <p:spPr>
          <a:xfrm xmlns:a="http://schemas.openxmlformats.org/drawingml/2006/main">
            <a:off x="6619875" y="3752850"/>
            <a:ext cx="452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D7E6DF"/>
                </a:solidFill>
                <a:latin typeface="Helvetica Neue"/>
                <a:ea typeface="Helvetica Neue"/>
                <a:cs typeface="Helvetica Neue"/>
              </a:defRPr>
            </a:pPr>
            <a:r>
              <a:rPr sz="1575" b="0">
                <a:solidFill>
                  <a:srgbClr val="D7E6DF"/>
                </a:solidFill>
                <a:latin typeface="Helvetica Neue"/>
                <a:ea typeface="Helvetica Neue"/>
                <a:cs typeface="Helvetica Neue"/>
              </a:rPr>
              <a:t>the model's measure of aggregate output</a:t>
            </a:r>
          </a:p>
        </p:txBody>
      </p:sp>
      <p:sp>
        <p:nvSpPr>
          <p:cNvPr id="14" name="">
            <a:extLst xmlns:a="http://schemas.openxmlformats.org/drawingml/2006/main">
              <a:ext uri="{FF2B5EF4-FFF2-40B4-BE49-F238E27FC236}">
                <a16:creationId xmlns:a16="http://schemas.microsoft.com/office/drawing/2014/main" id="{EB163968-34C7-47E6-966D-4C7997E1425D}"/>
              </a:ext>
            </a:extLst>
          </p:cNvPr>
          <p:cNvSpPr>
            <a:spLocks xmlns:a="http://schemas.openxmlformats.org/drawingml/2006/main" noGrp="1"/>
          </p:cNvSpPr>
          <p:nvPr/>
        </p:nvSpPr>
        <p:spPr>
          <a:xfrm xmlns:a="http://schemas.openxmlformats.org/drawingml/2006/main">
            <a:off x="800100" y="4724400"/>
            <a:ext cx="10534650" cy="781050"/>
          </a:xfrm>
          <a:prstGeom xmlns:a="http://schemas.openxmlformats.org/drawingml/2006/main" prst="roundRect">
            <a:avLst>
              <a:gd name="adj" fmla="val 14634"/>
            </a:avLst>
          </a:prstGeom>
          <a:solidFill xmlns:a="http://schemas.openxmlformats.org/drawingml/2006/main">
            <a:srgbClr val="19454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57D6EEC-2692-4D76-B9DB-3E45C9754D2C}"/>
              </a:ext>
            </a:extLst>
          </p:cNvPr>
          <p:cNvSpPr>
            <a:spLocks xmlns:a="http://schemas.openxmlformats.org/drawingml/2006/main" noGrp="1"/>
          </p:cNvSpPr>
          <p:nvPr/>
        </p:nvSpPr>
        <p:spPr>
          <a:xfrm xmlns:a="http://schemas.openxmlformats.org/drawingml/2006/main">
            <a:off x="1028700" y="4962525"/>
            <a:ext cx="10077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b="1">
                <a:solidFill>
                  <a:srgbClr val="FFFEFA"/>
                </a:solidFill>
                <a:latin typeface="Helvetica Neue"/>
                <a:ea typeface="Helvetica Neue"/>
                <a:cs typeface="Helvetica Neue"/>
              </a:defRPr>
            </a:pPr>
            <a:r>
              <a:rPr sz="1950" b="1">
                <a:solidFill>
                  <a:srgbClr val="FFFEFA"/>
                </a:solidFill>
                <a:latin typeface="Helvetica Neue"/>
                <a:ea typeface="Helvetica Neue"/>
                <a:cs typeface="Helvetica Neue"/>
              </a:rPr>
              <a:t>A favorable percentage can be produced by losing productive cells.</a:t>
            </a:r>
          </a:p>
        </p:txBody>
      </p:sp>
      <p:sp>
        <p:nvSpPr>
          <p:cNvPr id="16" name="">
            <a:extLst xmlns:a="http://schemas.openxmlformats.org/drawingml/2006/main">
              <a:ext uri="{FF2B5EF4-FFF2-40B4-BE49-F238E27FC236}">
                <a16:creationId xmlns:a16="http://schemas.microsoft.com/office/drawing/2014/main" id="{87019FE9-5D66-4671-A4EA-8D15012F62AC}"/>
              </a:ext>
            </a:extLst>
          </p:cNvPr>
          <p:cNvSpPr>
            <a:spLocks xmlns:a="http://schemas.openxmlformats.org/drawingml/2006/main" noGrp="1"/>
          </p:cNvSpPr>
          <p:nvPr/>
        </p:nvSpPr>
        <p:spPr>
          <a:xfrm xmlns:a="http://schemas.openxmlformats.org/drawingml/2006/main">
            <a:off x="819150" y="57912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C6D4CF"/>
                </a:solidFill>
                <a:latin typeface="Helvetica Neue"/>
                <a:ea typeface="Helvetica Neue"/>
                <a:cs typeface="Helvetica Neue"/>
              </a:defRPr>
            </a:pPr>
            <a:r>
              <a:rPr sz="1275" b="0">
                <a:solidFill>
                  <a:srgbClr val="C6D4CF"/>
                </a:solidFill>
                <a:latin typeface="Helvetica Neue"/>
                <a:ea typeface="Helvetica Neue"/>
                <a:cs typeface="Helvetica Neue"/>
              </a:rPr>
              <a:t>Assumption-based simulation—not patient data, a measured lineage result or a drug effect.</a:t>
            </a:r>
          </a:p>
        </p:txBody>
      </p:sp>
    </p:spTree>
    <p:extLst>
      <p:ext uri="{BB962C8B-B14F-4D97-AF65-F5344CB8AC3E}">
        <p14:creationId xmlns:p14="http://schemas.microsoft.com/office/powerpoint/2010/main" val="700856474"/>
      </p:ext>
    </p:extLst>
  </p:cSld>
</p:sld>
</file>

<file path=ppt/slides/slide6.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4210091-9814-4B5D-A58A-95D9FEF99B0E}"/>
              </a:ext>
            </a:extLst>
          </p:cNvPr>
          <p:cNvSpPr>
            <a:spLocks xmlns:a="http://schemas.openxmlformats.org/drawingml/2006/main" noGrp="1"/>
          </p:cNvSpPr>
          <p:nvPr/>
        </p:nvSpPr>
        <p:spPr>
          <a:xfrm xmlns:a="http://schemas.openxmlformats.org/drawingml/2006/main">
            <a:off x="609600" y="409575"/>
            <a:ext cx="1009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83D"/>
                </a:solidFill>
                <a:latin typeface="Helvetica Neue"/>
                <a:ea typeface="Helvetica Neue"/>
                <a:cs typeface="Helvetica Neue"/>
              </a:defRPr>
            </a:pPr>
            <a:r>
              <a:rPr sz="3150" b="1">
                <a:solidFill>
                  <a:srgbClr val="12383D"/>
                </a:solidFill>
                <a:latin typeface="Helvetica Neue"/>
                <a:ea typeface="Helvetica Neue"/>
                <a:cs typeface="Helvetica Neue"/>
              </a:rPr>
              <a:t>The experiment must show useful muscle</a:t>
            </a:r>
          </a:p>
        </p:txBody>
      </p:sp>
      <p:sp>
        <p:nvSpPr>
          <p:cNvPr id="2" name="">
            <a:extLst xmlns:a="http://schemas.openxmlformats.org/drawingml/2006/main">
              <a:ext uri="{FF2B5EF4-FFF2-40B4-BE49-F238E27FC236}">
                <a16:creationId xmlns:a16="http://schemas.microsoft.com/office/drawing/2014/main" id="{3DCFEAD7-C41A-45C7-8BCC-4F239EE4EFEB}"/>
              </a:ext>
            </a:extLst>
          </p:cNvPr>
          <p:cNvSpPr>
            <a:spLocks xmlns:a="http://schemas.openxmlformats.org/drawingml/2006/main" noGrp="1"/>
          </p:cNvSpPr>
          <p:nvPr/>
        </p:nvSpPr>
        <p:spPr>
          <a:xfrm xmlns:a="http://schemas.openxmlformats.org/drawingml/2006/main">
            <a:off x="10744200" y="504825"/>
            <a:ext cx="83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137F79"/>
                </a:solidFill>
                <a:latin typeface="Helvetica Neue"/>
                <a:ea typeface="Helvetica Neue"/>
                <a:cs typeface="Helvetica Neue"/>
              </a:defRPr>
            </a:pPr>
            <a:r>
              <a:rPr sz="1200" b="1">
                <a:solidFill>
                  <a:srgbClr val="137F79"/>
                </a:solidFill>
                <a:latin typeface="Helvetica Neue"/>
                <a:ea typeface="Helvetica Neue"/>
                <a:cs typeface="Helvetica Neue"/>
              </a:rPr>
              <a:t>06 / 08</a:t>
            </a:r>
          </a:p>
        </p:txBody>
      </p:sp>
      <p:sp>
        <p:nvSpPr>
          <p:cNvPr id="3" name="">
            <a:extLst xmlns:a="http://schemas.openxmlformats.org/drawingml/2006/main">
              <a:ext uri="{FF2B5EF4-FFF2-40B4-BE49-F238E27FC236}">
                <a16:creationId xmlns:a16="http://schemas.microsoft.com/office/drawing/2014/main" id="{B540603C-E269-47C1-8C58-EC42032368B1}"/>
              </a:ext>
            </a:extLst>
          </p:cNvPr>
          <p:cNvSpPr>
            <a:spLocks xmlns:a="http://schemas.openxmlformats.org/drawingml/2006/main" noGrp="1"/>
          </p:cNvSpPr>
          <p:nvPr/>
        </p:nvSpPr>
        <p:spPr>
          <a:xfrm xmlns:a="http://schemas.openxmlformats.org/drawingml/2006/main">
            <a:off x="609600" y="1143000"/>
            <a:ext cx="819150" cy="47625"/>
          </a:xfrm>
          <a:prstGeom xmlns:a="http://schemas.openxmlformats.org/drawingml/2006/main" prst="rect">
            <a:avLst/>
          </a:prstGeom>
          <a:solidFill xmlns:a="http://schemas.openxmlformats.org/drawingml/2006/main">
            <a:srgbClr val="137F7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90A3E7-42DC-46C6-A616-D60A9756B6A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1D8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5C53F6-80A5-4F42-BD55-6EE13C0ADD46}"/>
              </a:ext>
            </a:extLst>
          </p:cNvPr>
          <p:cNvSpPr>
            <a:spLocks xmlns:a="http://schemas.openxmlformats.org/drawingml/2006/main" noGrp="1"/>
          </p:cNvSpPr>
          <p:nvPr/>
        </p:nvSpPr>
        <p:spPr>
          <a:xfrm xmlns:a="http://schemas.openxmlformats.org/drawingml/2006/main">
            <a:off x="609600" y="6534150"/>
            <a:ext cx="695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596F70"/>
                </a:solidFill>
                <a:latin typeface="Helvetica Neue"/>
                <a:ea typeface="Helvetica Neue"/>
                <a:cs typeface="Helvetica Neue"/>
              </a:defRPr>
            </a:pPr>
            <a:r>
              <a:rPr sz="1050" b="0">
                <a:solidFill>
                  <a:srgbClr val="596F70"/>
                </a:solidFill>
                <a:latin typeface="Helvetica Neue"/>
                <a:ea typeface="Helvetica Neue"/>
                <a:cs typeface="Helvetica Neue"/>
              </a:rPr>
              <a:t>jeweled  ·  MVA Track 2  ·  research proposal</a:t>
            </a:r>
          </a:p>
        </p:txBody>
      </p:sp>
      <p:sp>
        <p:nvSpPr>
          <p:cNvPr id="6" name="">
            <a:extLst xmlns:a="http://schemas.openxmlformats.org/drawingml/2006/main">
              <a:ext uri="{FF2B5EF4-FFF2-40B4-BE49-F238E27FC236}">
                <a16:creationId xmlns:a16="http://schemas.microsoft.com/office/drawing/2014/main" id="{EBFA91AF-7A50-4CF5-8B18-F8D583766AD7}"/>
              </a:ext>
            </a:extLst>
          </p:cNvPr>
          <p:cNvSpPr>
            <a:spLocks xmlns:a="http://schemas.openxmlformats.org/drawingml/2006/main" noGrp="1"/>
          </p:cNvSpPr>
          <p:nvPr/>
        </p:nvSpPr>
        <p:spPr>
          <a:xfrm xmlns:a="http://schemas.openxmlformats.org/drawingml/2006/main">
            <a:off x="609600" y="13906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96F70"/>
                </a:solidFill>
                <a:latin typeface="Helvetica Neue"/>
                <a:ea typeface="Helvetica Neue"/>
                <a:cs typeface="Helvetica Neue"/>
              </a:defRPr>
            </a:pPr>
            <a:r>
              <a:rPr sz="1725" b="0">
                <a:solidFill>
                  <a:srgbClr val="596F70"/>
                </a:solidFill>
                <a:latin typeface="Helvetica Neue"/>
                <a:ea typeface="Helvetica Neue"/>
                <a:cs typeface="Helvetica Neue"/>
              </a:rPr>
              <a:t>Prespecify the same tissue-level rule for both mechanisms:</a:t>
            </a:r>
          </a:p>
        </p:txBody>
      </p:sp>
      <p:sp>
        <p:nvSpPr>
          <p:cNvPr id="7" name="">
            <a:extLst xmlns:a="http://schemas.openxmlformats.org/drawingml/2006/main">
              <a:ext uri="{FF2B5EF4-FFF2-40B4-BE49-F238E27FC236}">
                <a16:creationId xmlns:a16="http://schemas.microsoft.com/office/drawing/2014/main" id="{B3B21590-D8F7-491B-9984-8539031B583E}"/>
              </a:ext>
            </a:extLst>
          </p:cNvPr>
          <p:cNvSpPr>
            <a:spLocks xmlns:a="http://schemas.openxmlformats.org/drawingml/2006/main" noGrp="1"/>
          </p:cNvSpPr>
          <p:nvPr/>
        </p:nvSpPr>
        <p:spPr>
          <a:xfrm xmlns:a="http://schemas.openxmlformats.org/drawingml/2006/main">
            <a:off x="609600" y="1990725"/>
            <a:ext cx="3467100" cy="2314575"/>
          </a:xfrm>
          <a:prstGeom xmlns:a="http://schemas.openxmlformats.org/drawingml/2006/main" prst="roundRect">
            <a:avLst>
              <a:gd name="adj" fmla="val 5761"/>
            </a:avLst>
          </a:prstGeom>
          <a:solidFill xmlns:a="http://schemas.openxmlformats.org/drawingml/2006/main">
            <a:srgbClr val="FFFEFA"/>
          </a:solidFill>
          <a:ln xmlns:a="http://schemas.openxmlformats.org/drawingml/2006/main" w="9525">
            <a:solidFill>
              <a:srgbClr val="D1D8D2"/>
            </a:solidFill>
          </a:ln>
        </p:spPr>
      </p:sp>
      <p:sp>
        <p:nvSpPr>
          <p:cNvPr id="8" name="">
            <a:extLst xmlns:a="http://schemas.openxmlformats.org/drawingml/2006/main">
              <a:ext uri="{FF2B5EF4-FFF2-40B4-BE49-F238E27FC236}">
                <a16:creationId xmlns:a16="http://schemas.microsoft.com/office/drawing/2014/main" id="{63FB8C4E-07A9-4B46-A2FA-94DB5B934FAF}"/>
              </a:ext>
            </a:extLst>
          </p:cNvPr>
          <p:cNvSpPr>
            <a:spLocks xmlns:a="http://schemas.openxmlformats.org/drawingml/2006/main" noGrp="1"/>
          </p:cNvSpPr>
          <p:nvPr/>
        </p:nvSpPr>
        <p:spPr>
          <a:xfrm xmlns:a="http://schemas.openxmlformats.org/drawingml/2006/main">
            <a:off x="609600" y="1990725"/>
            <a:ext cx="3467100" cy="104775"/>
          </a:xfrm>
          <a:prstGeom xmlns:a="http://schemas.openxmlformats.org/drawingml/2006/main" prst="roundRect">
            <a:avLst>
              <a:gd name="adj" fmla="val 45455"/>
            </a:avLst>
          </a:prstGeom>
          <a:solidFill xmlns:a="http://schemas.openxmlformats.org/drawingml/2006/main">
            <a:srgbClr val="137F7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FE8EA34-E485-440F-BBEF-D39B4E99E30B}"/>
              </a:ext>
            </a:extLst>
          </p:cNvPr>
          <p:cNvSpPr>
            <a:spLocks xmlns:a="http://schemas.openxmlformats.org/drawingml/2006/main" noGrp="1"/>
          </p:cNvSpPr>
          <p:nvPr/>
        </p:nvSpPr>
        <p:spPr>
          <a:xfrm xmlns:a="http://schemas.openxmlformats.org/drawingml/2006/main">
            <a:off x="838200" y="2333625"/>
            <a:ext cx="781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37F79"/>
                </a:solidFill>
                <a:latin typeface="Helvetica Neue"/>
                <a:ea typeface="Helvetica Neue"/>
                <a:cs typeface="Helvetica Neue"/>
              </a:defRPr>
            </a:pPr>
            <a:r>
              <a:rPr sz="3600" b="1">
                <a:solidFill>
                  <a:srgbClr val="137F79"/>
                </a:solidFill>
                <a:latin typeface="Helvetica Neue"/>
                <a:ea typeface="Helvetica Neue"/>
                <a:cs typeface="Helvetica Neue"/>
              </a:rPr>
              <a:t>01</a:t>
            </a:r>
          </a:p>
        </p:txBody>
      </p:sp>
      <p:sp>
        <p:nvSpPr>
          <p:cNvPr id="10" name="">
            <a:extLst xmlns:a="http://schemas.openxmlformats.org/drawingml/2006/main">
              <a:ext uri="{FF2B5EF4-FFF2-40B4-BE49-F238E27FC236}">
                <a16:creationId xmlns:a16="http://schemas.microsoft.com/office/drawing/2014/main" id="{8801C5B8-40DC-4AAB-90D5-9BE2CBEAAC9B}"/>
              </a:ext>
            </a:extLst>
          </p:cNvPr>
          <p:cNvSpPr>
            <a:spLocks xmlns:a="http://schemas.openxmlformats.org/drawingml/2006/main" noGrp="1"/>
          </p:cNvSpPr>
          <p:nvPr/>
        </p:nvSpPr>
        <p:spPr>
          <a:xfrm xmlns:a="http://schemas.openxmlformats.org/drawingml/2006/main">
            <a:off x="838200" y="3038475"/>
            <a:ext cx="287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2383D"/>
                </a:solidFill>
                <a:latin typeface="Helvetica Neue"/>
                <a:ea typeface="Helvetica Neue"/>
                <a:cs typeface="Helvetica Neue"/>
              </a:defRPr>
            </a:pPr>
            <a:r>
              <a:rPr sz="1200" b="1">
                <a:solidFill>
                  <a:srgbClr val="12383D"/>
                </a:solidFill>
                <a:latin typeface="Helvetica Neue"/>
                <a:ea typeface="Helvetica Neue"/>
                <a:cs typeface="Helvetica Neue"/>
              </a:rPr>
              <a:t>FUNCTION</a:t>
            </a:r>
          </a:p>
        </p:txBody>
      </p:sp>
      <p:sp>
        <p:nvSpPr>
          <p:cNvPr id="11" name="">
            <a:extLst xmlns:a="http://schemas.openxmlformats.org/drawingml/2006/main">
              <a:ext uri="{FF2B5EF4-FFF2-40B4-BE49-F238E27FC236}">
                <a16:creationId xmlns:a16="http://schemas.microsoft.com/office/drawing/2014/main" id="{1BBA8E0A-D718-49C7-B281-4DD2866BCE84}"/>
              </a:ext>
            </a:extLst>
          </p:cNvPr>
          <p:cNvSpPr>
            <a:spLocks xmlns:a="http://schemas.openxmlformats.org/drawingml/2006/main" noGrp="1"/>
          </p:cNvSpPr>
          <p:nvPr/>
        </p:nvSpPr>
        <p:spPr>
          <a:xfrm xmlns:a="http://schemas.openxmlformats.org/drawingml/2006/main">
            <a:off x="838200" y="3352800"/>
            <a:ext cx="3000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3B3D"/>
                </a:solidFill>
                <a:latin typeface="Helvetica Neue"/>
                <a:ea typeface="Helvetica Neue"/>
                <a:cs typeface="Helvetica Neue"/>
              </a:defRPr>
            </a:pPr>
            <a:r>
              <a:rPr sz="1575" b="0">
                <a:solidFill>
                  <a:srgbClr val="203B3D"/>
                </a:solidFill>
                <a:latin typeface="Helvetica Neue"/>
                <a:ea typeface="Helvetica Neue"/>
                <a:cs typeface="Helvetica Neue"/>
              </a:rPr>
              <a:t>More force in established muscle OR more new-muscle output.</a:t>
            </a:r>
          </a:p>
        </p:txBody>
      </p:sp>
      <p:sp>
        <p:nvSpPr>
          <p:cNvPr id="12" name="">
            <a:extLst xmlns:a="http://schemas.openxmlformats.org/drawingml/2006/main">
              <a:ext uri="{FF2B5EF4-FFF2-40B4-BE49-F238E27FC236}">
                <a16:creationId xmlns:a16="http://schemas.microsoft.com/office/drawing/2014/main" id="{3BEF56D6-1BF2-4D33-B94C-C951397FF775}"/>
              </a:ext>
            </a:extLst>
          </p:cNvPr>
          <p:cNvSpPr>
            <a:spLocks xmlns:a="http://schemas.openxmlformats.org/drawingml/2006/main" noGrp="1"/>
          </p:cNvSpPr>
          <p:nvPr/>
        </p:nvSpPr>
        <p:spPr>
          <a:xfrm xmlns:a="http://schemas.openxmlformats.org/drawingml/2006/main">
            <a:off x="4362450" y="1990725"/>
            <a:ext cx="3467100" cy="2314575"/>
          </a:xfrm>
          <a:prstGeom xmlns:a="http://schemas.openxmlformats.org/drawingml/2006/main" prst="roundRect">
            <a:avLst>
              <a:gd name="adj" fmla="val 5761"/>
            </a:avLst>
          </a:prstGeom>
          <a:solidFill xmlns:a="http://schemas.openxmlformats.org/drawingml/2006/main">
            <a:srgbClr val="FFFEFA"/>
          </a:solidFill>
          <a:ln xmlns:a="http://schemas.openxmlformats.org/drawingml/2006/main" w="9525">
            <a:solidFill>
              <a:srgbClr val="D1D8D2"/>
            </a:solidFill>
          </a:ln>
        </p:spPr>
      </p:sp>
      <p:sp>
        <p:nvSpPr>
          <p:cNvPr id="13" name="">
            <a:extLst xmlns:a="http://schemas.openxmlformats.org/drawingml/2006/main">
              <a:ext uri="{FF2B5EF4-FFF2-40B4-BE49-F238E27FC236}">
                <a16:creationId xmlns:a16="http://schemas.microsoft.com/office/drawing/2014/main" id="{BA15237C-3313-4CB0-93D0-0A9250F1FDA2}"/>
              </a:ext>
            </a:extLst>
          </p:cNvPr>
          <p:cNvSpPr>
            <a:spLocks xmlns:a="http://schemas.openxmlformats.org/drawingml/2006/main" noGrp="1"/>
          </p:cNvSpPr>
          <p:nvPr/>
        </p:nvSpPr>
        <p:spPr>
          <a:xfrm xmlns:a="http://schemas.openxmlformats.org/drawingml/2006/main">
            <a:off x="4362450" y="1990725"/>
            <a:ext cx="3467100" cy="104775"/>
          </a:xfrm>
          <a:prstGeom xmlns:a="http://schemas.openxmlformats.org/drawingml/2006/main" prst="roundRect">
            <a:avLst>
              <a:gd name="adj" fmla="val 45455"/>
            </a:avLst>
          </a:prstGeom>
          <a:solidFill xmlns:a="http://schemas.openxmlformats.org/drawingml/2006/main">
            <a:srgbClr val="D69B4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A30A3D3-622A-41A4-878F-990DD269CBF3}"/>
              </a:ext>
            </a:extLst>
          </p:cNvPr>
          <p:cNvSpPr>
            <a:spLocks xmlns:a="http://schemas.openxmlformats.org/drawingml/2006/main" noGrp="1"/>
          </p:cNvSpPr>
          <p:nvPr/>
        </p:nvSpPr>
        <p:spPr>
          <a:xfrm xmlns:a="http://schemas.openxmlformats.org/drawingml/2006/main">
            <a:off x="4591050" y="2333625"/>
            <a:ext cx="781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37F79"/>
                </a:solidFill>
                <a:latin typeface="Helvetica Neue"/>
                <a:ea typeface="Helvetica Neue"/>
                <a:cs typeface="Helvetica Neue"/>
              </a:defRPr>
            </a:pPr>
            <a:r>
              <a:rPr sz="3600" b="1">
                <a:solidFill>
                  <a:srgbClr val="137F79"/>
                </a:solidFill>
                <a:latin typeface="Helvetica Neue"/>
                <a:ea typeface="Helvetica Neue"/>
                <a:cs typeface="Helvetica Neue"/>
              </a:rPr>
              <a:t>02</a:t>
            </a:r>
          </a:p>
        </p:txBody>
      </p:sp>
      <p:sp>
        <p:nvSpPr>
          <p:cNvPr id="15" name="">
            <a:extLst xmlns:a="http://schemas.openxmlformats.org/drawingml/2006/main">
              <a:ext uri="{FF2B5EF4-FFF2-40B4-BE49-F238E27FC236}">
                <a16:creationId xmlns:a16="http://schemas.microsoft.com/office/drawing/2014/main" id="{EB27D7C2-FEC3-4ACA-AD2F-C4AFF7ACDAA9}"/>
              </a:ext>
            </a:extLst>
          </p:cNvPr>
          <p:cNvSpPr>
            <a:spLocks xmlns:a="http://schemas.openxmlformats.org/drawingml/2006/main" noGrp="1"/>
          </p:cNvSpPr>
          <p:nvPr/>
        </p:nvSpPr>
        <p:spPr>
          <a:xfrm xmlns:a="http://schemas.openxmlformats.org/drawingml/2006/main">
            <a:off x="4591050" y="3038475"/>
            <a:ext cx="287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2383D"/>
                </a:solidFill>
                <a:latin typeface="Helvetica Neue"/>
                <a:ea typeface="Helvetica Neue"/>
                <a:cs typeface="Helvetica Neue"/>
              </a:defRPr>
            </a:pPr>
            <a:r>
              <a:rPr sz="1200" b="1">
                <a:solidFill>
                  <a:srgbClr val="12383D"/>
                </a:solidFill>
                <a:latin typeface="Helvetica Neue"/>
                <a:ea typeface="Helvetica Neue"/>
                <a:cs typeface="Helvetica Neue"/>
              </a:rPr>
              <a:t>RENEWAL</a:t>
            </a:r>
          </a:p>
        </p:txBody>
      </p:sp>
      <p:sp>
        <p:nvSpPr>
          <p:cNvPr id="16" name="">
            <a:extLst xmlns:a="http://schemas.openxmlformats.org/drawingml/2006/main">
              <a:ext uri="{FF2B5EF4-FFF2-40B4-BE49-F238E27FC236}">
                <a16:creationId xmlns:a16="http://schemas.microsoft.com/office/drawing/2014/main" id="{6EFAEF71-3416-4763-B5E6-6E1BA5691619}"/>
              </a:ext>
            </a:extLst>
          </p:cNvPr>
          <p:cNvSpPr>
            <a:spLocks xmlns:a="http://schemas.openxmlformats.org/drawingml/2006/main" noGrp="1"/>
          </p:cNvSpPr>
          <p:nvPr/>
        </p:nvSpPr>
        <p:spPr>
          <a:xfrm xmlns:a="http://schemas.openxmlformats.org/drawingml/2006/main">
            <a:off x="4591050" y="3352800"/>
            <a:ext cx="3000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3B3D"/>
                </a:solidFill>
                <a:latin typeface="Helvetica Neue"/>
                <a:ea typeface="Helvetica Neue"/>
                <a:cs typeface="Helvetica Neue"/>
              </a:defRPr>
            </a:pPr>
            <a:r>
              <a:rPr sz="1575" b="0">
                <a:solidFill>
                  <a:srgbClr val="203B3D"/>
                </a:solidFill>
                <a:latin typeface="Helvetica Neue"/>
                <a:ea typeface="Helvetica Neue"/>
                <a:cs typeface="Helvetica Neue"/>
              </a:rPr>
              <a:t>Preserve the other functional cohort and renewable cell reserve.</a:t>
            </a:r>
          </a:p>
        </p:txBody>
      </p:sp>
      <p:sp>
        <p:nvSpPr>
          <p:cNvPr id="17" name="">
            <a:extLst xmlns:a="http://schemas.openxmlformats.org/drawingml/2006/main">
              <a:ext uri="{FF2B5EF4-FFF2-40B4-BE49-F238E27FC236}">
                <a16:creationId xmlns:a16="http://schemas.microsoft.com/office/drawing/2014/main" id="{19E2BCA6-76C7-4F16-8D14-48E30EFBFC99}"/>
              </a:ext>
            </a:extLst>
          </p:cNvPr>
          <p:cNvSpPr>
            <a:spLocks xmlns:a="http://schemas.openxmlformats.org/drawingml/2006/main" noGrp="1"/>
          </p:cNvSpPr>
          <p:nvPr/>
        </p:nvSpPr>
        <p:spPr>
          <a:xfrm xmlns:a="http://schemas.openxmlformats.org/drawingml/2006/main">
            <a:off x="8115300" y="1990725"/>
            <a:ext cx="3467100" cy="2314575"/>
          </a:xfrm>
          <a:prstGeom xmlns:a="http://schemas.openxmlformats.org/drawingml/2006/main" prst="roundRect">
            <a:avLst>
              <a:gd name="adj" fmla="val 5761"/>
            </a:avLst>
          </a:prstGeom>
          <a:solidFill xmlns:a="http://schemas.openxmlformats.org/drawingml/2006/main">
            <a:srgbClr val="FFFEFA"/>
          </a:solidFill>
          <a:ln xmlns:a="http://schemas.openxmlformats.org/drawingml/2006/main" w="9525">
            <a:solidFill>
              <a:srgbClr val="D1D8D2"/>
            </a:solidFill>
          </a:ln>
        </p:spPr>
      </p:sp>
      <p:sp>
        <p:nvSpPr>
          <p:cNvPr id="18" name="">
            <a:extLst xmlns:a="http://schemas.openxmlformats.org/drawingml/2006/main">
              <a:ext uri="{FF2B5EF4-FFF2-40B4-BE49-F238E27FC236}">
                <a16:creationId xmlns:a16="http://schemas.microsoft.com/office/drawing/2014/main" id="{58A189C7-E689-4E38-8F02-6A574B0EE204}"/>
              </a:ext>
            </a:extLst>
          </p:cNvPr>
          <p:cNvSpPr>
            <a:spLocks xmlns:a="http://schemas.openxmlformats.org/drawingml/2006/main" noGrp="1"/>
          </p:cNvSpPr>
          <p:nvPr/>
        </p:nvSpPr>
        <p:spPr>
          <a:xfrm xmlns:a="http://schemas.openxmlformats.org/drawingml/2006/main">
            <a:off x="8115300" y="1990725"/>
            <a:ext cx="3467100" cy="104775"/>
          </a:xfrm>
          <a:prstGeom xmlns:a="http://schemas.openxmlformats.org/drawingml/2006/main" prst="roundRect">
            <a:avLst>
              <a:gd name="adj" fmla="val 45455"/>
            </a:avLst>
          </a:prstGeom>
          <a:solidFill xmlns:a="http://schemas.openxmlformats.org/drawingml/2006/main">
            <a:srgbClr val="B85C4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2040FDD-2A10-48E4-9B26-A2A43E16892D}"/>
              </a:ext>
            </a:extLst>
          </p:cNvPr>
          <p:cNvSpPr>
            <a:spLocks xmlns:a="http://schemas.openxmlformats.org/drawingml/2006/main" noGrp="1"/>
          </p:cNvSpPr>
          <p:nvPr/>
        </p:nvSpPr>
        <p:spPr>
          <a:xfrm xmlns:a="http://schemas.openxmlformats.org/drawingml/2006/main">
            <a:off x="8343900" y="2333625"/>
            <a:ext cx="781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37F79"/>
                </a:solidFill>
                <a:latin typeface="Helvetica Neue"/>
                <a:ea typeface="Helvetica Neue"/>
                <a:cs typeface="Helvetica Neue"/>
              </a:defRPr>
            </a:pPr>
            <a:r>
              <a:rPr sz="3600" b="1">
                <a:solidFill>
                  <a:srgbClr val="137F79"/>
                </a:solidFill>
                <a:latin typeface="Helvetica Neue"/>
                <a:ea typeface="Helvetica Neue"/>
                <a:cs typeface="Helvetica Neue"/>
              </a:rPr>
              <a:t>03</a:t>
            </a:r>
          </a:p>
        </p:txBody>
      </p:sp>
      <p:sp>
        <p:nvSpPr>
          <p:cNvPr id="20" name="">
            <a:extLst xmlns:a="http://schemas.openxmlformats.org/drawingml/2006/main">
              <a:ext uri="{FF2B5EF4-FFF2-40B4-BE49-F238E27FC236}">
                <a16:creationId xmlns:a16="http://schemas.microsoft.com/office/drawing/2014/main" id="{8DABFC2F-D2B0-4FD3-912B-15C247E7A8D3}"/>
              </a:ext>
            </a:extLst>
          </p:cNvPr>
          <p:cNvSpPr>
            <a:spLocks xmlns:a="http://schemas.openxmlformats.org/drawingml/2006/main" noGrp="1"/>
          </p:cNvSpPr>
          <p:nvPr/>
        </p:nvSpPr>
        <p:spPr>
          <a:xfrm xmlns:a="http://schemas.openxmlformats.org/drawingml/2006/main">
            <a:off x="8343900" y="3038475"/>
            <a:ext cx="287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B85C48"/>
                </a:solidFill>
                <a:latin typeface="Helvetica Neue"/>
                <a:ea typeface="Helvetica Neue"/>
                <a:cs typeface="Helvetica Neue"/>
              </a:defRPr>
            </a:pPr>
            <a:r>
              <a:rPr sz="1200" b="1">
                <a:solidFill>
                  <a:srgbClr val="B85C48"/>
                </a:solidFill>
                <a:latin typeface="Helvetica Neue"/>
                <a:ea typeface="Helvetica Neue"/>
                <a:cs typeface="Helvetica Neue"/>
              </a:rPr>
              <a:t>FIDELITY</a:t>
            </a:r>
          </a:p>
        </p:txBody>
      </p:sp>
      <p:sp>
        <p:nvSpPr>
          <p:cNvPr id="21" name="">
            <a:extLst xmlns:a="http://schemas.openxmlformats.org/drawingml/2006/main">
              <a:ext uri="{FF2B5EF4-FFF2-40B4-BE49-F238E27FC236}">
                <a16:creationId xmlns:a16="http://schemas.microsoft.com/office/drawing/2014/main" id="{BCB02DB7-A2CB-44B9-8F69-D729F469F322}"/>
              </a:ext>
            </a:extLst>
          </p:cNvPr>
          <p:cNvSpPr>
            <a:spLocks xmlns:a="http://schemas.openxmlformats.org/drawingml/2006/main" noGrp="1"/>
          </p:cNvSpPr>
          <p:nvPr/>
        </p:nvSpPr>
        <p:spPr>
          <a:xfrm xmlns:a="http://schemas.openxmlformats.org/drawingml/2006/main">
            <a:off x="8343900" y="3352800"/>
            <a:ext cx="3000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3B3D"/>
                </a:solidFill>
                <a:latin typeface="Helvetica Neue"/>
                <a:ea typeface="Helvetica Neue"/>
                <a:cs typeface="Helvetica Neue"/>
              </a:defRPr>
            </a:pPr>
            <a:r>
              <a:rPr sz="1575" b="0">
                <a:solidFill>
                  <a:srgbClr val="203B3D"/>
                </a:solidFill>
                <a:latin typeface="Helvetica Neue"/>
                <a:ea typeface="Helvetica Neue"/>
                <a:cs typeface="Helvetica Neue"/>
              </a:rPr>
              <a:t>Chromosome errors do not worsen; track cells that stop or die.</a:t>
            </a:r>
          </a:p>
        </p:txBody>
      </p:sp>
      <p:sp>
        <p:nvSpPr>
          <p:cNvPr id="22" name="">
            <a:extLst xmlns:a="http://schemas.openxmlformats.org/drawingml/2006/main">
              <a:ext uri="{FF2B5EF4-FFF2-40B4-BE49-F238E27FC236}">
                <a16:creationId xmlns:a16="http://schemas.microsoft.com/office/drawing/2014/main" id="{FE7FBEE7-9991-4495-B834-A4BB185DD4AD}"/>
              </a:ext>
            </a:extLst>
          </p:cNvPr>
          <p:cNvSpPr>
            <a:spLocks xmlns:a="http://schemas.openxmlformats.org/drawingml/2006/main" noGrp="1"/>
          </p:cNvSpPr>
          <p:nvPr/>
        </p:nvSpPr>
        <p:spPr>
          <a:xfrm xmlns:a="http://schemas.openxmlformats.org/drawingml/2006/main">
            <a:off x="609600" y="4581525"/>
            <a:ext cx="10972800" cy="1057275"/>
          </a:xfrm>
          <a:prstGeom xmlns:a="http://schemas.openxmlformats.org/drawingml/2006/main" prst="roundRect">
            <a:avLst>
              <a:gd name="adj" fmla="val 11712"/>
            </a:avLst>
          </a:prstGeom>
          <a:solidFill xmlns:a="http://schemas.openxmlformats.org/drawingml/2006/main">
            <a:srgbClr val="12383D"/>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38A2903-BE3F-4603-AC48-9BA2296EBDFC}"/>
              </a:ext>
            </a:extLst>
          </p:cNvPr>
          <p:cNvSpPr>
            <a:spLocks xmlns:a="http://schemas.openxmlformats.org/drawingml/2006/main" noGrp="1"/>
          </p:cNvSpPr>
          <p:nvPr/>
        </p:nvSpPr>
        <p:spPr>
          <a:xfrm xmlns:a="http://schemas.openxmlformats.org/drawingml/2006/main">
            <a:off x="866775" y="47625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76C7B8"/>
                </a:solidFill>
                <a:latin typeface="Helvetica Neue"/>
                <a:ea typeface="Helvetica Neue"/>
                <a:cs typeface="Helvetica Neue"/>
              </a:defRPr>
            </a:pPr>
            <a:r>
              <a:rPr sz="1200" b="1">
                <a:solidFill>
                  <a:srgbClr val="76C7B8"/>
                </a:solidFill>
                <a:latin typeface="Helvetica Neue"/>
                <a:ea typeface="Helvetica Neue"/>
                <a:cs typeface="Helvetica Neue"/>
              </a:rPr>
              <a:t>MECHANISM CHECKS</a:t>
            </a:r>
          </a:p>
        </p:txBody>
      </p:sp>
      <p:sp>
        <p:nvSpPr>
          <p:cNvPr id="24" name="">
            <a:extLst xmlns:a="http://schemas.openxmlformats.org/drawingml/2006/main">
              <a:ext uri="{FF2B5EF4-FFF2-40B4-BE49-F238E27FC236}">
                <a16:creationId xmlns:a16="http://schemas.microsoft.com/office/drawing/2014/main" id="{6900D2CC-21AB-406B-BC13-822B79B5DD8A}"/>
              </a:ext>
            </a:extLst>
          </p:cNvPr>
          <p:cNvSpPr>
            <a:spLocks xmlns:a="http://schemas.openxmlformats.org/drawingml/2006/main" noGrp="1"/>
          </p:cNvSpPr>
          <p:nvPr/>
        </p:nvSpPr>
        <p:spPr>
          <a:xfrm xmlns:a="http://schemas.openxmlformats.org/drawingml/2006/main">
            <a:off x="866775" y="5086350"/>
            <a:ext cx="1028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FFFEFA"/>
                </a:solidFill>
                <a:latin typeface="Helvetica Neue"/>
                <a:ea typeface="Helvetica Neue"/>
                <a:cs typeface="Helvetica Neue"/>
              </a:defRPr>
            </a:pPr>
            <a:r>
              <a:rPr sz="1575" b="1">
                <a:solidFill>
                  <a:srgbClr val="FFFEFA"/>
                </a:solidFill>
                <a:latin typeface="Helvetica Neue"/>
                <a:ea typeface="Helvetica Neue"/>
                <a:cs typeface="Helvetica Neue"/>
              </a:rPr>
              <a:t>Niacin: BUBR1 protein + function.   Apitegromab: target engagement in an active myostatin system.</a:t>
            </a:r>
          </a:p>
        </p:txBody>
      </p:sp>
      <p:sp>
        <p:nvSpPr>
          <p:cNvPr id="25" name="">
            <a:extLst xmlns:a="http://schemas.openxmlformats.org/drawingml/2006/main">
              <a:ext uri="{FF2B5EF4-FFF2-40B4-BE49-F238E27FC236}">
                <a16:creationId xmlns:a16="http://schemas.microsoft.com/office/drawing/2014/main" id="{A0008CBB-0A5E-42BA-98EC-1C5C9E64C2DE}"/>
              </a:ext>
            </a:extLst>
          </p:cNvPr>
          <p:cNvSpPr>
            <a:spLocks xmlns:a="http://schemas.openxmlformats.org/drawingml/2006/main" noGrp="1"/>
          </p:cNvSpPr>
          <p:nvPr/>
        </p:nvSpPr>
        <p:spPr>
          <a:xfrm xmlns:a="http://schemas.openxmlformats.org/drawingml/2006/main">
            <a:off x="857250" y="5819775"/>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96F70"/>
                </a:solidFill>
                <a:latin typeface="Helvetica Neue"/>
                <a:ea typeface="Helvetica Neue"/>
                <a:cs typeface="Helvetica Neue"/>
              </a:defRPr>
            </a:pPr>
            <a:r>
              <a:rPr sz="1275" b="0">
                <a:solidFill>
                  <a:srgbClr val="596F70"/>
                </a:solidFill>
                <a:latin typeface="Helvetica Neue"/>
                <a:ea typeface="Helvetica Neue"/>
                <a:cs typeface="Helvetica Neue"/>
              </a:rPr>
              <a:t>Tumor and cancer-treatment compatibility also needs review.</a:t>
            </a:r>
          </a:p>
        </p:txBody>
      </p:sp>
    </p:spTree>
    <p:extLst>
      <p:ext uri="{BB962C8B-B14F-4D97-AF65-F5344CB8AC3E}">
        <p14:creationId xmlns:p14="http://schemas.microsoft.com/office/powerpoint/2010/main" val="1700528731"/>
      </p:ext>
    </p:extLst>
  </p:cSld>
</p:sld>
</file>

<file path=ppt/slides/slide7.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04624E2-7349-406C-A706-6E7462622D03}"/>
              </a:ext>
            </a:extLst>
          </p:cNvPr>
          <p:cNvSpPr>
            <a:spLocks xmlns:a="http://schemas.openxmlformats.org/drawingml/2006/main" noGrp="1"/>
          </p:cNvSpPr>
          <p:nvPr/>
        </p:nvSpPr>
        <p:spPr>
          <a:xfrm xmlns:a="http://schemas.openxmlformats.org/drawingml/2006/main">
            <a:off x="609600" y="409575"/>
            <a:ext cx="1009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83D"/>
                </a:solidFill>
                <a:latin typeface="Helvetica Neue"/>
                <a:ea typeface="Helvetica Neue"/>
                <a:cs typeface="Helvetica Neue"/>
              </a:defRPr>
            </a:pPr>
            <a:r>
              <a:rPr sz="3150" b="1">
                <a:solidFill>
                  <a:srgbClr val="12383D"/>
                </a:solidFill>
                <a:latin typeface="Helvetica Neue"/>
                <a:ea typeface="Helvetica Neue"/>
                <a:cs typeface="Helvetica Neue"/>
              </a:rPr>
              <a:t>A broad search supports a disciplined shortlist</a:t>
            </a:r>
          </a:p>
        </p:txBody>
      </p:sp>
      <p:sp>
        <p:nvSpPr>
          <p:cNvPr id="2" name="">
            <a:extLst xmlns:a="http://schemas.openxmlformats.org/drawingml/2006/main">
              <a:ext uri="{FF2B5EF4-FFF2-40B4-BE49-F238E27FC236}">
                <a16:creationId xmlns:a16="http://schemas.microsoft.com/office/drawing/2014/main" id="{51480417-9BDF-4CA6-AC52-ADB5CAB6B76A}"/>
              </a:ext>
            </a:extLst>
          </p:cNvPr>
          <p:cNvSpPr>
            <a:spLocks xmlns:a="http://schemas.openxmlformats.org/drawingml/2006/main" noGrp="1"/>
          </p:cNvSpPr>
          <p:nvPr/>
        </p:nvSpPr>
        <p:spPr>
          <a:xfrm xmlns:a="http://schemas.openxmlformats.org/drawingml/2006/main">
            <a:off x="10744200" y="504825"/>
            <a:ext cx="83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137F79"/>
                </a:solidFill>
                <a:latin typeface="Helvetica Neue"/>
                <a:ea typeface="Helvetica Neue"/>
                <a:cs typeface="Helvetica Neue"/>
              </a:defRPr>
            </a:pPr>
            <a:r>
              <a:rPr sz="1200" b="1">
                <a:solidFill>
                  <a:srgbClr val="137F79"/>
                </a:solidFill>
                <a:latin typeface="Helvetica Neue"/>
                <a:ea typeface="Helvetica Neue"/>
                <a:cs typeface="Helvetica Neue"/>
              </a:rPr>
              <a:t>07 / 08</a:t>
            </a:r>
          </a:p>
        </p:txBody>
      </p:sp>
      <p:sp>
        <p:nvSpPr>
          <p:cNvPr id="3" name="">
            <a:extLst xmlns:a="http://schemas.openxmlformats.org/drawingml/2006/main">
              <a:ext uri="{FF2B5EF4-FFF2-40B4-BE49-F238E27FC236}">
                <a16:creationId xmlns:a16="http://schemas.microsoft.com/office/drawing/2014/main" id="{2DF427C7-3884-4449-AE56-268AB6F8D0AC}"/>
              </a:ext>
            </a:extLst>
          </p:cNvPr>
          <p:cNvSpPr>
            <a:spLocks xmlns:a="http://schemas.openxmlformats.org/drawingml/2006/main" noGrp="1"/>
          </p:cNvSpPr>
          <p:nvPr/>
        </p:nvSpPr>
        <p:spPr>
          <a:xfrm xmlns:a="http://schemas.openxmlformats.org/drawingml/2006/main">
            <a:off x="609600" y="1143000"/>
            <a:ext cx="819150" cy="47625"/>
          </a:xfrm>
          <a:prstGeom xmlns:a="http://schemas.openxmlformats.org/drawingml/2006/main" prst="rect">
            <a:avLst/>
          </a:prstGeom>
          <a:solidFill xmlns:a="http://schemas.openxmlformats.org/drawingml/2006/main">
            <a:srgbClr val="137F7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FE325E2-D426-4037-BDD8-439F084F78C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1D8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09ADE0-BE64-4B3C-A4BA-CB0ABA8A91EF}"/>
              </a:ext>
            </a:extLst>
          </p:cNvPr>
          <p:cNvSpPr>
            <a:spLocks xmlns:a="http://schemas.openxmlformats.org/drawingml/2006/main" noGrp="1"/>
          </p:cNvSpPr>
          <p:nvPr/>
        </p:nvSpPr>
        <p:spPr>
          <a:xfrm xmlns:a="http://schemas.openxmlformats.org/drawingml/2006/main">
            <a:off x="609600" y="6534150"/>
            <a:ext cx="695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596F70"/>
                </a:solidFill>
                <a:latin typeface="Helvetica Neue"/>
                <a:ea typeface="Helvetica Neue"/>
                <a:cs typeface="Helvetica Neue"/>
              </a:defRPr>
            </a:pPr>
            <a:r>
              <a:rPr sz="1050" b="0">
                <a:solidFill>
                  <a:srgbClr val="596F70"/>
                </a:solidFill>
                <a:latin typeface="Helvetica Neue"/>
                <a:ea typeface="Helvetica Neue"/>
                <a:cs typeface="Helvetica Neue"/>
              </a:rPr>
              <a:t>jeweled  ·  MVA Track 2  ·  research proposal</a:t>
            </a:r>
          </a:p>
        </p:txBody>
      </p:sp>
      <p:sp>
        <p:nvSpPr>
          <p:cNvPr id="6" name="">
            <a:extLst xmlns:a="http://schemas.openxmlformats.org/drawingml/2006/main">
              <a:ext uri="{FF2B5EF4-FFF2-40B4-BE49-F238E27FC236}">
                <a16:creationId xmlns:a16="http://schemas.microsoft.com/office/drawing/2014/main" id="{0FD67CCD-077B-4F3A-A64E-167D4E5F3781}"/>
              </a:ext>
            </a:extLst>
          </p:cNvPr>
          <p:cNvSpPr>
            <a:spLocks xmlns:a="http://schemas.openxmlformats.org/drawingml/2006/main" noGrp="1"/>
          </p:cNvSpPr>
          <p:nvPr/>
        </p:nvSpPr>
        <p:spPr>
          <a:xfrm xmlns:a="http://schemas.openxmlformats.org/drawingml/2006/main">
            <a:off x="609600" y="1562100"/>
            <a:ext cx="3467100" cy="1847850"/>
          </a:xfrm>
          <a:prstGeom xmlns:a="http://schemas.openxmlformats.org/drawingml/2006/main" prst="roundRect">
            <a:avLst>
              <a:gd name="adj" fmla="val 7216"/>
            </a:avLst>
          </a:prstGeom>
          <a:solidFill xmlns:a="http://schemas.openxmlformats.org/drawingml/2006/main">
            <a:srgbClr val="FFFEFA"/>
          </a:solidFill>
          <a:ln xmlns:a="http://schemas.openxmlformats.org/drawingml/2006/main" w="9525">
            <a:solidFill>
              <a:srgbClr val="D1D8D2"/>
            </a:solidFill>
          </a:ln>
        </p:spPr>
      </p:sp>
      <p:sp>
        <p:nvSpPr>
          <p:cNvPr id="7" name="">
            <a:extLst xmlns:a="http://schemas.openxmlformats.org/drawingml/2006/main">
              <a:ext uri="{FF2B5EF4-FFF2-40B4-BE49-F238E27FC236}">
                <a16:creationId xmlns:a16="http://schemas.microsoft.com/office/drawing/2014/main" id="{706F675D-6F26-4FD3-B2D2-AC17412D2192}"/>
              </a:ext>
            </a:extLst>
          </p:cNvPr>
          <p:cNvSpPr>
            <a:spLocks xmlns:a="http://schemas.openxmlformats.org/drawingml/2006/main" noGrp="1"/>
          </p:cNvSpPr>
          <p:nvPr/>
        </p:nvSpPr>
        <p:spPr>
          <a:xfrm xmlns:a="http://schemas.openxmlformats.org/drawingml/2006/main">
            <a:off x="819150" y="1724025"/>
            <a:ext cx="304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37F79"/>
                </a:solidFill>
                <a:latin typeface="Helvetica Neue"/>
                <a:ea typeface="Helvetica Neue"/>
                <a:cs typeface="Helvetica Neue"/>
              </a:defRPr>
            </a:pPr>
            <a:r>
              <a:rPr sz="4050" b="1">
                <a:solidFill>
                  <a:srgbClr val="137F79"/>
                </a:solidFill>
                <a:latin typeface="Helvetica Neue"/>
                <a:ea typeface="Helvetica Neue"/>
                <a:cs typeface="Helvetica Neue"/>
              </a:rPr>
              <a:t>15,357</a:t>
            </a:r>
          </a:p>
        </p:txBody>
      </p:sp>
      <p:sp>
        <p:nvSpPr>
          <p:cNvPr id="8" name="">
            <a:extLst xmlns:a="http://schemas.openxmlformats.org/drawingml/2006/main">
              <a:ext uri="{FF2B5EF4-FFF2-40B4-BE49-F238E27FC236}">
                <a16:creationId xmlns:a16="http://schemas.microsoft.com/office/drawing/2014/main" id="{0B7E2C6A-8970-406C-B8C9-161DF2196B3E}"/>
              </a:ext>
            </a:extLst>
          </p:cNvPr>
          <p:cNvSpPr>
            <a:spLocks xmlns:a="http://schemas.openxmlformats.org/drawingml/2006/main" noGrp="1"/>
          </p:cNvSpPr>
          <p:nvPr/>
        </p:nvSpPr>
        <p:spPr>
          <a:xfrm xmlns:a="http://schemas.openxmlformats.org/drawingml/2006/main">
            <a:off x="819150" y="2447925"/>
            <a:ext cx="304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2383D"/>
                </a:solidFill>
                <a:latin typeface="Helvetica Neue"/>
                <a:ea typeface="Helvetica Neue"/>
                <a:cs typeface="Helvetica Neue"/>
              </a:defRPr>
            </a:pPr>
            <a:r>
              <a:rPr sz="1425" b="1">
                <a:solidFill>
                  <a:srgbClr val="12383D"/>
                </a:solidFill>
                <a:latin typeface="Helvetica Neue"/>
                <a:ea typeface="Helvetica Neue"/>
                <a:cs typeface="Helvetica Neue"/>
              </a:rPr>
              <a:t>catalog/supplement entities</a:t>
            </a:r>
          </a:p>
        </p:txBody>
      </p:sp>
      <p:sp>
        <p:nvSpPr>
          <p:cNvPr id="9" name="">
            <a:extLst xmlns:a="http://schemas.openxmlformats.org/drawingml/2006/main">
              <a:ext uri="{FF2B5EF4-FFF2-40B4-BE49-F238E27FC236}">
                <a16:creationId xmlns:a16="http://schemas.microsoft.com/office/drawing/2014/main" id="{93E083C5-FDE2-4AE8-9E23-686914CBBF43}"/>
              </a:ext>
            </a:extLst>
          </p:cNvPr>
          <p:cNvSpPr>
            <a:spLocks xmlns:a="http://schemas.openxmlformats.org/drawingml/2006/main" noGrp="1"/>
          </p:cNvSpPr>
          <p:nvPr/>
        </p:nvSpPr>
        <p:spPr>
          <a:xfrm xmlns:a="http://schemas.openxmlformats.org/drawingml/2006/main">
            <a:off x="819150" y="2819400"/>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F70"/>
                </a:solidFill>
                <a:latin typeface="Helvetica Neue"/>
                <a:ea typeface="Helvetica Neue"/>
                <a:cs typeface="Helvetica Neue"/>
              </a:defRPr>
            </a:pPr>
            <a:r>
              <a:rPr sz="1200" b="0">
                <a:solidFill>
                  <a:srgbClr val="596F70"/>
                </a:solidFill>
                <a:latin typeface="Helvetica Neue"/>
                <a:ea typeface="Helvetica Neue"/>
                <a:cs typeface="Helvetica Neue"/>
              </a:rPr>
              <a:t>some supplement status unverified</a:t>
            </a:r>
          </a:p>
        </p:txBody>
      </p:sp>
      <p:sp>
        <p:nvSpPr>
          <p:cNvPr id="10" name="">
            <a:extLst xmlns:a="http://schemas.openxmlformats.org/drawingml/2006/main">
              <a:ext uri="{FF2B5EF4-FFF2-40B4-BE49-F238E27FC236}">
                <a16:creationId xmlns:a16="http://schemas.microsoft.com/office/drawing/2014/main" id="{F49A7F5E-1CFD-4432-B6DE-7E39CAA8E83C}"/>
              </a:ext>
            </a:extLst>
          </p:cNvPr>
          <p:cNvSpPr>
            <a:spLocks xmlns:a="http://schemas.openxmlformats.org/drawingml/2006/main" noGrp="1"/>
          </p:cNvSpPr>
          <p:nvPr/>
        </p:nvSpPr>
        <p:spPr>
          <a:xfrm xmlns:a="http://schemas.openxmlformats.org/drawingml/2006/main">
            <a:off x="4362450" y="1562100"/>
            <a:ext cx="3467100" cy="1847850"/>
          </a:xfrm>
          <a:prstGeom xmlns:a="http://schemas.openxmlformats.org/drawingml/2006/main" prst="roundRect">
            <a:avLst>
              <a:gd name="adj" fmla="val 7216"/>
            </a:avLst>
          </a:prstGeom>
          <a:solidFill xmlns:a="http://schemas.openxmlformats.org/drawingml/2006/main">
            <a:srgbClr val="FFFEFA"/>
          </a:solidFill>
          <a:ln xmlns:a="http://schemas.openxmlformats.org/drawingml/2006/main" w="9525">
            <a:solidFill>
              <a:srgbClr val="D1D8D2"/>
            </a:solidFill>
          </a:ln>
        </p:spPr>
      </p:sp>
      <p:sp>
        <p:nvSpPr>
          <p:cNvPr id="11" name="">
            <a:extLst xmlns:a="http://schemas.openxmlformats.org/drawingml/2006/main">
              <a:ext uri="{FF2B5EF4-FFF2-40B4-BE49-F238E27FC236}">
                <a16:creationId xmlns:a16="http://schemas.microsoft.com/office/drawing/2014/main" id="{7C6CB880-B839-4173-9FCB-0DDEC0226DBC}"/>
              </a:ext>
            </a:extLst>
          </p:cNvPr>
          <p:cNvSpPr>
            <a:spLocks xmlns:a="http://schemas.openxmlformats.org/drawingml/2006/main" noGrp="1"/>
          </p:cNvSpPr>
          <p:nvPr/>
        </p:nvSpPr>
        <p:spPr>
          <a:xfrm xmlns:a="http://schemas.openxmlformats.org/drawingml/2006/main">
            <a:off x="4572000" y="1724025"/>
            <a:ext cx="304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D69B42"/>
                </a:solidFill>
                <a:latin typeface="Helvetica Neue"/>
                <a:ea typeface="Helvetica Neue"/>
                <a:cs typeface="Helvetica Neue"/>
              </a:defRPr>
            </a:pPr>
            <a:r>
              <a:rPr sz="4050" b="1">
                <a:solidFill>
                  <a:srgbClr val="D69B42"/>
                </a:solidFill>
                <a:latin typeface="Helvetica Neue"/>
                <a:ea typeface="Helvetica Neue"/>
                <a:cs typeface="Helvetica Neue"/>
              </a:rPr>
              <a:t>40</a:t>
            </a:r>
          </a:p>
        </p:txBody>
      </p:sp>
      <p:sp>
        <p:nvSpPr>
          <p:cNvPr id="12" name="">
            <a:extLst xmlns:a="http://schemas.openxmlformats.org/drawingml/2006/main">
              <a:ext uri="{FF2B5EF4-FFF2-40B4-BE49-F238E27FC236}">
                <a16:creationId xmlns:a16="http://schemas.microsoft.com/office/drawing/2014/main" id="{DC691A42-4070-46A0-8D79-53FF98DC1EE1}"/>
              </a:ext>
            </a:extLst>
          </p:cNvPr>
          <p:cNvSpPr>
            <a:spLocks xmlns:a="http://schemas.openxmlformats.org/drawingml/2006/main" noGrp="1"/>
          </p:cNvSpPr>
          <p:nvPr/>
        </p:nvSpPr>
        <p:spPr>
          <a:xfrm xmlns:a="http://schemas.openxmlformats.org/drawingml/2006/main">
            <a:off x="4572000" y="2447925"/>
            <a:ext cx="304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2383D"/>
                </a:solidFill>
                <a:latin typeface="Helvetica Neue"/>
                <a:ea typeface="Helvetica Neue"/>
                <a:cs typeface="Helvetica Neue"/>
              </a:defRPr>
            </a:pPr>
            <a:r>
              <a:rPr sz="1425" b="1">
                <a:solidFill>
                  <a:srgbClr val="12383D"/>
                </a:solidFill>
                <a:latin typeface="Helvetica Neue"/>
                <a:ea typeface="Helvetica Neue"/>
                <a:cs typeface="Helvetica Neue"/>
              </a:rPr>
              <a:t>FDA product records</a:t>
            </a:r>
          </a:p>
        </p:txBody>
      </p:sp>
      <p:sp>
        <p:nvSpPr>
          <p:cNvPr id="13" name="">
            <a:extLst xmlns:a="http://schemas.openxmlformats.org/drawingml/2006/main">
              <a:ext uri="{FF2B5EF4-FFF2-40B4-BE49-F238E27FC236}">
                <a16:creationId xmlns:a16="http://schemas.microsoft.com/office/drawing/2014/main" id="{1BA249A0-836B-44C7-B6A1-6F5D09ED267E}"/>
              </a:ext>
            </a:extLst>
          </p:cNvPr>
          <p:cNvSpPr>
            <a:spLocks xmlns:a="http://schemas.openxmlformats.org/drawingml/2006/main" noGrp="1"/>
          </p:cNvSpPr>
          <p:nvPr/>
        </p:nvSpPr>
        <p:spPr>
          <a:xfrm xmlns:a="http://schemas.openxmlformats.org/drawingml/2006/main">
            <a:off x="4572000" y="2819400"/>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F70"/>
                </a:solidFill>
                <a:latin typeface="Helvetica Neue"/>
                <a:ea typeface="Helvetica Neue"/>
                <a:cs typeface="Helvetica Neue"/>
              </a:defRPr>
            </a:pPr>
            <a:r>
              <a:rPr sz="1200" b="0">
                <a:solidFill>
                  <a:srgbClr val="596F70"/>
                </a:solidFill>
                <a:latin typeface="Helvetica Neue"/>
                <a:ea typeface="Helvetica Neue"/>
                <a:cs typeface="Helvetica Neue"/>
              </a:rPr>
              <a:t>separate product-level layer</a:t>
            </a:r>
          </a:p>
        </p:txBody>
      </p:sp>
      <p:sp>
        <p:nvSpPr>
          <p:cNvPr id="14" name="">
            <a:extLst xmlns:a="http://schemas.openxmlformats.org/drawingml/2006/main">
              <a:ext uri="{FF2B5EF4-FFF2-40B4-BE49-F238E27FC236}">
                <a16:creationId xmlns:a16="http://schemas.microsoft.com/office/drawing/2014/main" id="{D233AFDE-B457-4213-AEC8-C494F13E0072}"/>
              </a:ext>
            </a:extLst>
          </p:cNvPr>
          <p:cNvSpPr>
            <a:spLocks xmlns:a="http://schemas.openxmlformats.org/drawingml/2006/main" noGrp="1"/>
          </p:cNvSpPr>
          <p:nvPr/>
        </p:nvSpPr>
        <p:spPr>
          <a:xfrm xmlns:a="http://schemas.openxmlformats.org/drawingml/2006/main">
            <a:off x="8115300" y="1562100"/>
            <a:ext cx="3467100" cy="1847850"/>
          </a:xfrm>
          <a:prstGeom xmlns:a="http://schemas.openxmlformats.org/drawingml/2006/main" prst="roundRect">
            <a:avLst>
              <a:gd name="adj" fmla="val 7216"/>
            </a:avLst>
          </a:prstGeom>
          <a:solidFill xmlns:a="http://schemas.openxmlformats.org/drawingml/2006/main">
            <a:srgbClr val="FFFEFA"/>
          </a:solidFill>
          <a:ln xmlns:a="http://schemas.openxmlformats.org/drawingml/2006/main" w="9525">
            <a:solidFill>
              <a:srgbClr val="D1D8D2"/>
            </a:solidFill>
          </a:ln>
        </p:spPr>
      </p:sp>
      <p:sp>
        <p:nvSpPr>
          <p:cNvPr id="15" name="">
            <a:extLst xmlns:a="http://schemas.openxmlformats.org/drawingml/2006/main">
              <a:ext uri="{FF2B5EF4-FFF2-40B4-BE49-F238E27FC236}">
                <a16:creationId xmlns:a16="http://schemas.microsoft.com/office/drawing/2014/main" id="{CBB20B17-9FBE-49AC-BA5F-32F5AC3C7072}"/>
              </a:ext>
            </a:extLst>
          </p:cNvPr>
          <p:cNvSpPr>
            <a:spLocks xmlns:a="http://schemas.openxmlformats.org/drawingml/2006/main" noGrp="1"/>
          </p:cNvSpPr>
          <p:nvPr/>
        </p:nvSpPr>
        <p:spPr>
          <a:xfrm xmlns:a="http://schemas.openxmlformats.org/drawingml/2006/main">
            <a:off x="8324850" y="1724025"/>
            <a:ext cx="304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B85C48"/>
                </a:solidFill>
                <a:latin typeface="Helvetica Neue"/>
                <a:ea typeface="Helvetica Neue"/>
                <a:cs typeface="Helvetica Neue"/>
              </a:defRPr>
            </a:pPr>
            <a:r>
              <a:rPr sz="4050" b="1">
                <a:solidFill>
                  <a:srgbClr val="B85C48"/>
                </a:solidFill>
                <a:latin typeface="Helvetica Neue"/>
                <a:ea typeface="Helvetica Neue"/>
                <a:cs typeface="Helvetica Neue"/>
              </a:rPr>
              <a:t>290</a:t>
            </a:r>
          </a:p>
        </p:txBody>
      </p:sp>
      <p:sp>
        <p:nvSpPr>
          <p:cNvPr id="16" name="">
            <a:extLst xmlns:a="http://schemas.openxmlformats.org/drawingml/2006/main">
              <a:ext uri="{FF2B5EF4-FFF2-40B4-BE49-F238E27FC236}">
                <a16:creationId xmlns:a16="http://schemas.microsoft.com/office/drawing/2014/main" id="{E82BC97B-8607-4E67-98A2-DDA9704A984B}"/>
              </a:ext>
            </a:extLst>
          </p:cNvPr>
          <p:cNvSpPr>
            <a:spLocks xmlns:a="http://schemas.openxmlformats.org/drawingml/2006/main" noGrp="1"/>
          </p:cNvSpPr>
          <p:nvPr/>
        </p:nvSpPr>
        <p:spPr>
          <a:xfrm xmlns:a="http://schemas.openxmlformats.org/drawingml/2006/main">
            <a:off x="8324850" y="2447925"/>
            <a:ext cx="304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2383D"/>
                </a:solidFill>
                <a:latin typeface="Helvetica Neue"/>
                <a:ea typeface="Helvetica Neue"/>
                <a:cs typeface="Helvetica Neue"/>
              </a:defRPr>
            </a:pPr>
            <a:r>
              <a:rPr sz="1425" b="1">
                <a:solidFill>
                  <a:srgbClr val="12383D"/>
                </a:solidFill>
                <a:latin typeface="Helvetica Neue"/>
                <a:ea typeface="Helvetica Neue"/>
                <a:cs typeface="Helvetica Neue"/>
              </a:rPr>
              <a:t>route/compound appraisals</a:t>
            </a:r>
          </a:p>
        </p:txBody>
      </p:sp>
      <p:sp>
        <p:nvSpPr>
          <p:cNvPr id="17" name="">
            <a:extLst xmlns:a="http://schemas.openxmlformats.org/drawingml/2006/main">
              <a:ext uri="{FF2B5EF4-FFF2-40B4-BE49-F238E27FC236}">
                <a16:creationId xmlns:a16="http://schemas.microsoft.com/office/drawing/2014/main" id="{CBF0A220-B777-4660-AC7B-237DEFBC3063}"/>
              </a:ext>
            </a:extLst>
          </p:cNvPr>
          <p:cNvSpPr>
            <a:spLocks xmlns:a="http://schemas.openxmlformats.org/drawingml/2006/main" noGrp="1"/>
          </p:cNvSpPr>
          <p:nvPr/>
        </p:nvSpPr>
        <p:spPr>
          <a:xfrm xmlns:a="http://schemas.openxmlformats.org/drawingml/2006/main">
            <a:off x="8324850" y="2819400"/>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F70"/>
                </a:solidFill>
                <a:latin typeface="Helvetica Neue"/>
                <a:ea typeface="Helvetica Neue"/>
                <a:cs typeface="Helvetica Neue"/>
              </a:defRPr>
            </a:pPr>
            <a:r>
              <a:rPr sz="1200" b="0">
                <a:solidFill>
                  <a:srgbClr val="596F70"/>
                </a:solidFill>
                <a:latin typeface="Helvetica Neue"/>
                <a:ea typeface="Helvetica Neue"/>
                <a:cs typeface="Helvetica Neue"/>
              </a:rPr>
              <a:t>curated; not efficacy scores</a:t>
            </a:r>
          </a:p>
        </p:txBody>
      </p:sp>
      <p:sp>
        <p:nvSpPr>
          <p:cNvPr id="18" name="">
            <a:extLst xmlns:a="http://schemas.openxmlformats.org/drawingml/2006/main">
              <a:ext uri="{FF2B5EF4-FFF2-40B4-BE49-F238E27FC236}">
                <a16:creationId xmlns:a16="http://schemas.microsoft.com/office/drawing/2014/main" id="{60FD8855-F1A9-4BA7-8B4D-1D5E687664C2}"/>
              </a:ext>
            </a:extLst>
          </p:cNvPr>
          <p:cNvSpPr>
            <a:spLocks xmlns:a="http://schemas.openxmlformats.org/drawingml/2006/main" noGrp="1"/>
          </p:cNvSpPr>
          <p:nvPr/>
        </p:nvSpPr>
        <p:spPr>
          <a:xfrm xmlns:a="http://schemas.openxmlformats.org/drawingml/2006/main">
            <a:off x="609600" y="3638550"/>
            <a:ext cx="10972800" cy="1571625"/>
          </a:xfrm>
          <a:prstGeom xmlns:a="http://schemas.openxmlformats.org/drawingml/2006/main" prst="roundRect">
            <a:avLst>
              <a:gd name="adj" fmla="val 8485"/>
            </a:avLst>
          </a:prstGeom>
          <a:solidFill xmlns:a="http://schemas.openxmlformats.org/drawingml/2006/main">
            <a:srgbClr val="DCEDE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919EAD8-3292-45CA-85C5-8508471AC84B}"/>
              </a:ext>
            </a:extLst>
          </p:cNvPr>
          <p:cNvSpPr>
            <a:spLocks xmlns:a="http://schemas.openxmlformats.org/drawingml/2006/main" noGrp="1"/>
          </p:cNvSpPr>
          <p:nvPr/>
        </p:nvSpPr>
        <p:spPr>
          <a:xfrm xmlns:a="http://schemas.openxmlformats.org/drawingml/2006/main">
            <a:off x="857250" y="381000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37F79"/>
                </a:solidFill>
                <a:latin typeface="Helvetica Neue"/>
                <a:ea typeface="Helvetica Neue"/>
                <a:cs typeface="Helvetica Neue"/>
              </a:defRPr>
            </a:pPr>
            <a:r>
              <a:rPr sz="1200" b="1">
                <a:solidFill>
                  <a:srgbClr val="137F79"/>
                </a:solidFill>
                <a:latin typeface="Helvetica Neue"/>
                <a:ea typeface="Helvetica Neue"/>
                <a:cs typeface="Helvetica Neue"/>
              </a:rPr>
              <a:t>WHAT THE EVIDENCE LEAVES ON THE TABLE</a:t>
            </a:r>
          </a:p>
        </p:txBody>
      </p:sp>
      <p:sp>
        <p:nvSpPr>
          <p:cNvPr id="20" name="">
            <a:extLst xmlns:a="http://schemas.openxmlformats.org/drawingml/2006/main">
              <a:ext uri="{FF2B5EF4-FFF2-40B4-BE49-F238E27FC236}">
                <a16:creationId xmlns:a16="http://schemas.microsoft.com/office/drawing/2014/main" id="{84F2DF94-D15D-4054-A270-A99E15018358}"/>
              </a:ext>
            </a:extLst>
          </p:cNvPr>
          <p:cNvSpPr>
            <a:spLocks xmlns:a="http://schemas.openxmlformats.org/drawingml/2006/main" noGrp="1"/>
          </p:cNvSpPr>
          <p:nvPr/>
        </p:nvSpPr>
        <p:spPr>
          <a:xfrm xmlns:a="http://schemas.openxmlformats.org/drawingml/2006/main">
            <a:off x="857250" y="4143375"/>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2383D"/>
                </a:solidFill>
                <a:latin typeface="Helvetica Neue"/>
                <a:ea typeface="Helvetica Neue"/>
                <a:cs typeface="Helvetica Neue"/>
              </a:defRPr>
            </a:pPr>
            <a:r>
              <a:rPr sz="1650" b="1">
                <a:solidFill>
                  <a:srgbClr val="12383D"/>
                </a:solidFill>
                <a:latin typeface="Helvetica Neue"/>
                <a:ea typeface="Helvetica Neue"/>
                <a:cs typeface="Helvetica Neue"/>
              </a:rPr>
              <a:t>Niacin: restoration test.  NMN: mechanism benchmark.  Apitegromab: human-function comparator.</a:t>
            </a:r>
          </a:p>
        </p:txBody>
      </p:sp>
      <p:sp>
        <p:nvSpPr>
          <p:cNvPr id="21" name="">
            <a:extLst xmlns:a="http://schemas.openxmlformats.org/drawingml/2006/main">
              <a:ext uri="{FF2B5EF4-FFF2-40B4-BE49-F238E27FC236}">
                <a16:creationId xmlns:a16="http://schemas.microsoft.com/office/drawing/2014/main" id="{3D706A76-7E7C-4338-B71A-0CE36A9FC5BA}"/>
              </a:ext>
            </a:extLst>
          </p:cNvPr>
          <p:cNvSpPr>
            <a:spLocks xmlns:a="http://schemas.openxmlformats.org/drawingml/2006/main" noGrp="1"/>
          </p:cNvSpPr>
          <p:nvPr/>
        </p:nvSpPr>
        <p:spPr>
          <a:xfrm xmlns:a="http://schemas.openxmlformats.org/drawingml/2006/main">
            <a:off x="857250" y="46577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3B3D"/>
                </a:solidFill>
                <a:latin typeface="Helvetica Neue"/>
                <a:ea typeface="Helvetica Neue"/>
                <a:cs typeface="Helvetica Neue"/>
              </a:defRPr>
            </a:pPr>
            <a:r>
              <a:rPr sz="1425" b="0">
                <a:solidFill>
                  <a:srgbClr val="203B3D"/>
                </a:solidFill>
                <a:latin typeface="Helvetica Neue"/>
                <a:ea typeface="Helvetica Neue"/>
                <a:cs typeface="Helvetica Neue"/>
              </a:rPr>
              <a:t>Everolimus stays conditional; common-compound follow-up changed no nominee and showed no BUBR1-dependent MVA muscle rescue.</a:t>
            </a:r>
          </a:p>
        </p:txBody>
      </p:sp>
      <p:sp>
        <p:nvSpPr>
          <p:cNvPr id="22" name="">
            <a:extLst xmlns:a="http://schemas.openxmlformats.org/drawingml/2006/main">
              <a:ext uri="{FF2B5EF4-FFF2-40B4-BE49-F238E27FC236}">
                <a16:creationId xmlns:a16="http://schemas.microsoft.com/office/drawing/2014/main" id="{77154780-4195-4D60-88B4-0B8E6F8927D1}"/>
              </a:ext>
            </a:extLst>
          </p:cNvPr>
          <p:cNvSpPr>
            <a:spLocks xmlns:a="http://schemas.openxmlformats.org/drawingml/2006/main" noGrp="1"/>
          </p:cNvSpPr>
          <p:nvPr/>
        </p:nvSpPr>
        <p:spPr>
          <a:xfrm xmlns:a="http://schemas.openxmlformats.org/drawingml/2006/main">
            <a:off x="628650" y="5381625"/>
            <a:ext cx="10906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96F70"/>
                </a:solidFill>
                <a:latin typeface="Helvetica Neue"/>
                <a:ea typeface="Helvetica Neue"/>
                <a:cs typeface="Helvetica Neue"/>
              </a:defRPr>
            </a:pPr>
            <a:r>
              <a:rPr sz="1275" b="0">
                <a:solidFill>
                  <a:srgbClr val="596F70"/>
                </a:solidFill>
                <a:latin typeface="Helvetica Neue"/>
                <a:ea typeface="Helvetica Neue"/>
                <a:cs typeface="Helvetica Neue"/>
              </a:rPr>
              <a:t>Coverage is not exhaustive worldwide; retrieval and co-mentions are not efficacy assessments. Missing evidence stays unknown.</a:t>
            </a:r>
          </a:p>
        </p:txBody>
      </p:sp>
    </p:spTree>
    <p:extLst>
      <p:ext uri="{BB962C8B-B14F-4D97-AF65-F5344CB8AC3E}">
        <p14:creationId xmlns:p14="http://schemas.microsoft.com/office/powerpoint/2010/main" val="309694397"/>
      </p:ext>
    </p:extLst>
  </p:cSld>
</p:sld>
</file>

<file path=ppt/slides/slide8.xml><?xml version="1.0" encoding="utf-8"?>
<p:sld xmlns:p="http://schemas.openxmlformats.org/presentationml/2006/main">
  <p:cSld>
    <p:bg>
      <p:bgPr>
        <a:solidFill xmlns:a="http://schemas.openxmlformats.org/drawingml/2006/main">
          <a:srgbClr val="0E333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122ABB6-E0E2-4C59-A13E-7B94F715638D}"/>
              </a:ext>
            </a:extLst>
          </p:cNvPr>
          <p:cNvSpPr>
            <a:spLocks xmlns:a="http://schemas.openxmlformats.org/drawingml/2006/main" noGrp="1"/>
          </p:cNvSpPr>
          <p:nvPr/>
        </p:nvSpPr>
        <p:spPr>
          <a:xfrm xmlns:a="http://schemas.openxmlformats.org/drawingml/2006/main">
            <a:off x="609600" y="409575"/>
            <a:ext cx="1009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FFFEFA"/>
                </a:solidFill>
                <a:latin typeface="Helvetica Neue"/>
                <a:ea typeface="Helvetica Neue"/>
                <a:cs typeface="Helvetica Neue"/>
              </a:defRPr>
            </a:pPr>
            <a:r>
              <a:rPr sz="3150" b="1">
                <a:solidFill>
                  <a:srgbClr val="FFFEFA"/>
                </a:solidFill>
                <a:latin typeface="Helvetica Neue"/>
                <a:ea typeface="Helvetica Neue"/>
                <a:cs typeface="Helvetica Neue"/>
              </a:rPr>
              <a:t>The next experiment depends on a qualified partner</a:t>
            </a:r>
          </a:p>
        </p:txBody>
      </p:sp>
      <p:sp>
        <p:nvSpPr>
          <p:cNvPr id="2" name="">
            <a:extLst xmlns:a="http://schemas.openxmlformats.org/drawingml/2006/main">
              <a:ext uri="{FF2B5EF4-FFF2-40B4-BE49-F238E27FC236}">
                <a16:creationId xmlns:a16="http://schemas.microsoft.com/office/drawing/2014/main" id="{3AAF641F-AA03-48A4-99CC-BBD76986F52F}"/>
              </a:ext>
            </a:extLst>
          </p:cNvPr>
          <p:cNvSpPr>
            <a:spLocks xmlns:a="http://schemas.openxmlformats.org/drawingml/2006/main" noGrp="1"/>
          </p:cNvSpPr>
          <p:nvPr/>
        </p:nvSpPr>
        <p:spPr>
          <a:xfrm xmlns:a="http://schemas.openxmlformats.org/drawingml/2006/main">
            <a:off x="10744200" y="504825"/>
            <a:ext cx="83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76C7B8"/>
                </a:solidFill>
                <a:latin typeface="Helvetica Neue"/>
                <a:ea typeface="Helvetica Neue"/>
                <a:cs typeface="Helvetica Neue"/>
              </a:defRPr>
            </a:pPr>
            <a:r>
              <a:rPr sz="1200" b="1">
                <a:solidFill>
                  <a:srgbClr val="76C7B8"/>
                </a:solidFill>
                <a:latin typeface="Helvetica Neue"/>
                <a:ea typeface="Helvetica Neue"/>
                <a:cs typeface="Helvetica Neue"/>
              </a:rPr>
              <a:t>08 / 08</a:t>
            </a:r>
          </a:p>
        </p:txBody>
      </p:sp>
      <p:sp>
        <p:nvSpPr>
          <p:cNvPr id="3" name="">
            <a:extLst xmlns:a="http://schemas.openxmlformats.org/drawingml/2006/main">
              <a:ext uri="{FF2B5EF4-FFF2-40B4-BE49-F238E27FC236}">
                <a16:creationId xmlns:a16="http://schemas.microsoft.com/office/drawing/2014/main" id="{1AB18268-E727-4BB3-98F4-AAF1FC3F8FD9}"/>
              </a:ext>
            </a:extLst>
          </p:cNvPr>
          <p:cNvSpPr>
            <a:spLocks xmlns:a="http://schemas.openxmlformats.org/drawingml/2006/main" noGrp="1"/>
          </p:cNvSpPr>
          <p:nvPr/>
        </p:nvSpPr>
        <p:spPr>
          <a:xfrm xmlns:a="http://schemas.openxmlformats.org/drawingml/2006/main">
            <a:off x="609600" y="1143000"/>
            <a:ext cx="819150" cy="47625"/>
          </a:xfrm>
          <a:prstGeom xmlns:a="http://schemas.openxmlformats.org/drawingml/2006/main" prst="rect">
            <a:avLst/>
          </a:prstGeom>
          <a:solidFill xmlns:a="http://schemas.openxmlformats.org/drawingml/2006/main">
            <a:srgbClr val="76C7B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CD847FD-028A-420F-80E3-68B7EE7F215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36565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50341C-427F-48D7-B323-76F680AE8418}"/>
              </a:ext>
            </a:extLst>
          </p:cNvPr>
          <p:cNvSpPr>
            <a:spLocks xmlns:a="http://schemas.openxmlformats.org/drawingml/2006/main" noGrp="1"/>
          </p:cNvSpPr>
          <p:nvPr/>
        </p:nvSpPr>
        <p:spPr>
          <a:xfrm xmlns:a="http://schemas.openxmlformats.org/drawingml/2006/main">
            <a:off x="609600" y="6534150"/>
            <a:ext cx="695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DD0CB"/>
                </a:solidFill>
                <a:latin typeface="Helvetica Neue"/>
                <a:ea typeface="Helvetica Neue"/>
                <a:cs typeface="Helvetica Neue"/>
              </a:defRPr>
            </a:pPr>
            <a:r>
              <a:rPr sz="1050" b="0">
                <a:solidFill>
                  <a:srgbClr val="BDD0CB"/>
                </a:solidFill>
                <a:latin typeface="Helvetica Neue"/>
                <a:ea typeface="Helvetica Neue"/>
                <a:cs typeface="Helvetica Neue"/>
              </a:rPr>
              <a:t>jeweled  ·  MVA Track 2  ·  research proposal</a:t>
            </a:r>
          </a:p>
        </p:txBody>
      </p:sp>
      <p:sp>
        <p:nvSpPr>
          <p:cNvPr id="6" name="">
            <a:extLst xmlns:a="http://schemas.openxmlformats.org/drawingml/2006/main">
              <a:ext uri="{FF2B5EF4-FFF2-40B4-BE49-F238E27FC236}">
                <a16:creationId xmlns:a16="http://schemas.microsoft.com/office/drawing/2014/main" id="{3E9A066B-C6FE-438A-940C-CEC92AC195D6}"/>
              </a:ext>
            </a:extLst>
          </p:cNvPr>
          <p:cNvSpPr>
            <a:spLocks xmlns:a="http://schemas.openxmlformats.org/drawingml/2006/main" noGrp="1"/>
          </p:cNvSpPr>
          <p:nvPr/>
        </p:nvSpPr>
        <p:spPr>
          <a:xfrm xmlns:a="http://schemas.openxmlformats.org/drawingml/2006/main">
            <a:off x="800100" y="1600200"/>
            <a:ext cx="2838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FFFEFA"/>
                </a:solidFill>
                <a:latin typeface="Helvetica Neue"/>
                <a:ea typeface="Helvetica Neue"/>
                <a:cs typeface="Helvetica Neue"/>
              </a:defRPr>
            </a:pPr>
            <a:r>
              <a:rPr sz="1875" b="1">
                <a:solidFill>
                  <a:srgbClr val="FFFEFA"/>
                </a:solidFill>
                <a:latin typeface="Helvetica Neue"/>
                <a:ea typeface="Helvetica Neue"/>
                <a:cs typeface="Helvetica Neue"/>
              </a:rPr>
              <a:t>Model qualification</a:t>
            </a:r>
          </a:p>
        </p:txBody>
      </p:sp>
      <p:sp>
        <p:nvSpPr>
          <p:cNvPr id="7" name="">
            <a:extLst xmlns:a="http://schemas.openxmlformats.org/drawingml/2006/main">
              <a:ext uri="{FF2B5EF4-FFF2-40B4-BE49-F238E27FC236}">
                <a16:creationId xmlns:a16="http://schemas.microsoft.com/office/drawing/2014/main" id="{636A927D-1582-40B4-B8A5-824A93ADA9BE}"/>
              </a:ext>
            </a:extLst>
          </p:cNvPr>
          <p:cNvSpPr>
            <a:spLocks xmlns:a="http://schemas.openxmlformats.org/drawingml/2006/main" noGrp="1"/>
          </p:cNvSpPr>
          <p:nvPr/>
        </p:nvSpPr>
        <p:spPr>
          <a:xfrm xmlns:a="http://schemas.openxmlformats.org/drawingml/2006/main">
            <a:off x="3714750" y="1581150"/>
            <a:ext cx="66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D69B42"/>
                </a:solidFill>
                <a:latin typeface="Helvetica Neue"/>
                <a:ea typeface="Helvetica Neue"/>
                <a:cs typeface="Helvetica Neue"/>
              </a:defRPr>
            </a:pPr>
            <a:r>
              <a:rPr sz="2700" b="1">
                <a:solidFill>
                  <a:srgbClr val="D69B42"/>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3F8E6A3D-AD1C-44EC-A2B9-D7798415EB5F}"/>
              </a:ext>
            </a:extLst>
          </p:cNvPr>
          <p:cNvSpPr>
            <a:spLocks xmlns:a="http://schemas.openxmlformats.org/drawingml/2006/main" noGrp="1"/>
          </p:cNvSpPr>
          <p:nvPr/>
        </p:nvSpPr>
        <p:spPr>
          <a:xfrm xmlns:a="http://schemas.openxmlformats.org/drawingml/2006/main">
            <a:off x="4419600" y="160020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FFFEFA"/>
                </a:solidFill>
                <a:latin typeface="Helvetica Neue"/>
                <a:ea typeface="Helvetica Neue"/>
                <a:cs typeface="Helvetica Neue"/>
              </a:defRPr>
            </a:pPr>
            <a:r>
              <a:rPr sz="1875" b="1">
                <a:solidFill>
                  <a:srgbClr val="FFFEFA"/>
                </a:solidFill>
                <a:latin typeface="Helvetica Neue"/>
                <a:ea typeface="Helvetica Neue"/>
                <a:cs typeface="Helvetica Neue"/>
              </a:rPr>
              <a:t>Measured engagement</a:t>
            </a:r>
          </a:p>
        </p:txBody>
      </p:sp>
      <p:sp>
        <p:nvSpPr>
          <p:cNvPr id="9" name="">
            <a:extLst xmlns:a="http://schemas.openxmlformats.org/drawingml/2006/main">
              <a:ext uri="{FF2B5EF4-FFF2-40B4-BE49-F238E27FC236}">
                <a16:creationId xmlns:a16="http://schemas.microsoft.com/office/drawing/2014/main" id="{B1B3FE6C-3405-421B-8C51-64A55E002E5D}"/>
              </a:ext>
            </a:extLst>
          </p:cNvPr>
          <p:cNvSpPr>
            <a:spLocks xmlns:a="http://schemas.openxmlformats.org/drawingml/2006/main" noGrp="1"/>
          </p:cNvSpPr>
          <p:nvPr/>
        </p:nvSpPr>
        <p:spPr>
          <a:xfrm xmlns:a="http://schemas.openxmlformats.org/drawingml/2006/main">
            <a:off x="7572375" y="1581150"/>
            <a:ext cx="66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D69B42"/>
                </a:solidFill>
                <a:latin typeface="Helvetica Neue"/>
                <a:ea typeface="Helvetica Neue"/>
                <a:cs typeface="Helvetica Neue"/>
              </a:defRPr>
            </a:pPr>
            <a:r>
              <a:rPr sz="2700" b="1">
                <a:solidFill>
                  <a:srgbClr val="D69B42"/>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84441000-771E-4D64-B124-CA71D70101FF}"/>
              </a:ext>
            </a:extLst>
          </p:cNvPr>
          <p:cNvSpPr>
            <a:spLocks xmlns:a="http://schemas.openxmlformats.org/drawingml/2006/main" noGrp="1"/>
          </p:cNvSpPr>
          <p:nvPr/>
        </p:nvSpPr>
        <p:spPr>
          <a:xfrm xmlns:a="http://schemas.openxmlformats.org/drawingml/2006/main">
            <a:off x="8277225" y="160020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FFFEFA"/>
                </a:solidFill>
                <a:latin typeface="Helvetica Neue"/>
                <a:ea typeface="Helvetica Neue"/>
                <a:cs typeface="Helvetica Neue"/>
              </a:defRPr>
            </a:pPr>
            <a:r>
              <a:rPr sz="1800" b="1">
                <a:solidFill>
                  <a:srgbClr val="FFFEFA"/>
                </a:solidFill>
                <a:latin typeface="Helvetica Neue"/>
                <a:ea typeface="Helvetica Neue"/>
                <a:cs typeface="Helvetica Neue"/>
              </a:rPr>
              <a:t>Independent pass-rule test</a:t>
            </a:r>
          </a:p>
        </p:txBody>
      </p:sp>
      <p:sp>
        <p:nvSpPr>
          <p:cNvPr id="11" name="">
            <a:extLst xmlns:a="http://schemas.openxmlformats.org/drawingml/2006/main">
              <a:ext uri="{FF2B5EF4-FFF2-40B4-BE49-F238E27FC236}">
                <a16:creationId xmlns:a16="http://schemas.microsoft.com/office/drawing/2014/main" id="{1C97A6BE-0017-461A-B49D-77DDCB1A7765}"/>
              </a:ext>
            </a:extLst>
          </p:cNvPr>
          <p:cNvSpPr>
            <a:spLocks xmlns:a="http://schemas.openxmlformats.org/drawingml/2006/main" noGrp="1"/>
          </p:cNvSpPr>
          <p:nvPr/>
        </p:nvSpPr>
        <p:spPr>
          <a:xfrm xmlns:a="http://schemas.openxmlformats.org/drawingml/2006/main">
            <a:off x="800100" y="2238375"/>
            <a:ext cx="10572750" cy="1266825"/>
          </a:xfrm>
          <a:prstGeom xmlns:a="http://schemas.openxmlformats.org/drawingml/2006/main" prst="roundRect">
            <a:avLst>
              <a:gd name="adj" fmla="val 11278"/>
            </a:avLst>
          </a:prstGeom>
          <a:solidFill xmlns:a="http://schemas.openxmlformats.org/drawingml/2006/main">
            <a:srgbClr val="19454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6A072BB-6DA4-4789-A458-38A9E76185BA}"/>
              </a:ext>
            </a:extLst>
          </p:cNvPr>
          <p:cNvSpPr>
            <a:spLocks xmlns:a="http://schemas.openxmlformats.org/drawingml/2006/main" noGrp="1"/>
          </p:cNvSpPr>
          <p:nvPr/>
        </p:nvSpPr>
        <p:spPr>
          <a:xfrm xmlns:a="http://schemas.openxmlformats.org/drawingml/2006/main">
            <a:off x="1066800" y="247650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76C7B8"/>
                </a:solidFill>
                <a:latin typeface="Helvetica Neue"/>
                <a:ea typeface="Helvetica Neue"/>
                <a:cs typeface="Helvetica Neue"/>
              </a:defRPr>
            </a:pPr>
            <a:r>
              <a:rPr sz="1200" b="1">
                <a:solidFill>
                  <a:srgbClr val="76C7B8"/>
                </a:solidFill>
                <a:latin typeface="Helvetica Neue"/>
                <a:ea typeface="Helvetica Neue"/>
                <a:cs typeface="Helvetica Neue"/>
              </a:rPr>
              <a:t>NEEDED NEXT</a:t>
            </a:r>
          </a:p>
        </p:txBody>
      </p:sp>
      <p:sp>
        <p:nvSpPr>
          <p:cNvPr id="13" name="">
            <a:extLst xmlns:a="http://schemas.openxmlformats.org/drawingml/2006/main">
              <a:ext uri="{FF2B5EF4-FFF2-40B4-BE49-F238E27FC236}">
                <a16:creationId xmlns:a16="http://schemas.microsoft.com/office/drawing/2014/main" id="{184B7BAC-237F-482E-8C64-93F5989A457A}"/>
              </a:ext>
            </a:extLst>
          </p:cNvPr>
          <p:cNvSpPr>
            <a:spLocks xmlns:a="http://schemas.openxmlformats.org/drawingml/2006/main" noGrp="1"/>
          </p:cNvSpPr>
          <p:nvPr/>
        </p:nvSpPr>
        <p:spPr>
          <a:xfrm xmlns:a="http://schemas.openxmlformats.org/drawingml/2006/main">
            <a:off x="1066800" y="284797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FFEFA"/>
                </a:solidFill>
                <a:latin typeface="Helvetica Neue"/>
                <a:ea typeface="Helvetica Neue"/>
                <a:cs typeface="Helvetica Neue"/>
              </a:defRPr>
            </a:pPr>
            <a:r>
              <a:rPr sz="2325" b="1">
                <a:solidFill>
                  <a:srgbClr val="FFFEFA"/>
                </a:solidFill>
                <a:latin typeface="Helvetica Neue"/>
                <a:ea typeface="Helvetica Neue"/>
                <a:cs typeface="Helvetica Neue"/>
              </a:rPr>
              <a:t>Authorized myogenic model access + a laboratory partner.</a:t>
            </a:r>
          </a:p>
        </p:txBody>
      </p:sp>
      <p:sp>
        <p:nvSpPr>
          <p:cNvPr id="14" name="">
            <a:extLst xmlns:a="http://schemas.openxmlformats.org/drawingml/2006/main">
              <a:ext uri="{FF2B5EF4-FFF2-40B4-BE49-F238E27FC236}">
                <a16:creationId xmlns:a16="http://schemas.microsoft.com/office/drawing/2014/main" id="{1620052C-08F4-4502-BADB-A36677802AA3}"/>
              </a:ext>
            </a:extLst>
          </p:cNvPr>
          <p:cNvSpPr>
            <a:spLocks xmlns:a="http://schemas.openxmlformats.org/drawingml/2006/main" noGrp="1"/>
          </p:cNvSpPr>
          <p:nvPr/>
        </p:nvSpPr>
        <p:spPr>
          <a:xfrm xmlns:a="http://schemas.openxmlformats.org/drawingml/2006/main">
            <a:off x="819150" y="380047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D7E6DF"/>
                </a:solidFill>
                <a:latin typeface="Helvetica Neue"/>
                <a:ea typeface="Helvetica Neue"/>
                <a:cs typeface="Helvetica Neue"/>
              </a:defRPr>
            </a:pPr>
            <a:r>
              <a:rPr sz="1500" b="0">
                <a:solidFill>
                  <a:srgbClr val="D7E6DF"/>
                </a:solidFill>
                <a:latin typeface="Helvetica Neue"/>
                <a:ea typeface="Helvetica Neue"/>
                <a:cs typeface="Helvetica Neue"/>
              </a:rPr>
              <a:t>No drug experiment has run. This is a research proposal—not treatment advice.</a:t>
            </a:r>
          </a:p>
        </p:txBody>
      </p:sp>
      <p:sp>
        <p:nvSpPr>
          <p:cNvPr id="15" name="">
            <a:extLst xmlns:a="http://schemas.openxmlformats.org/drawingml/2006/main">
              <a:ext uri="{FF2B5EF4-FFF2-40B4-BE49-F238E27FC236}">
                <a16:creationId xmlns:a16="http://schemas.microsoft.com/office/drawing/2014/main" id="{70547803-9A0B-4F6F-B7C6-C8C41F15DDB8}"/>
              </a:ext>
            </a:extLst>
          </p:cNvPr>
          <p:cNvSpPr>
            <a:spLocks xmlns:a="http://schemas.openxmlformats.org/drawingml/2006/main" noGrp="1"/>
          </p:cNvSpPr>
          <p:nvPr/>
        </p:nvSpPr>
        <p:spPr>
          <a:xfrm xmlns:a="http://schemas.openxmlformats.org/drawingml/2006/main">
            <a:off x="800100" y="4429125"/>
            <a:ext cx="10572750" cy="1000125"/>
          </a:xfrm>
          <a:prstGeom xmlns:a="http://schemas.openxmlformats.org/drawingml/2006/main" prst="roundRect">
            <a:avLst>
              <a:gd name="adj" fmla="val 14286"/>
            </a:avLst>
          </a:prstGeom>
          <a:solidFill xmlns:a="http://schemas.openxmlformats.org/drawingml/2006/main">
            <a:srgbClr val="19454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11D72B8-C980-4182-8FB7-22E8E2C923FE}"/>
              </a:ext>
            </a:extLst>
          </p:cNvPr>
          <p:cNvSpPr>
            <a:spLocks xmlns:a="http://schemas.openxmlformats.org/drawingml/2006/main" noGrp="1"/>
          </p:cNvSpPr>
          <p:nvPr/>
        </p:nvSpPr>
        <p:spPr>
          <a:xfrm xmlns:a="http://schemas.openxmlformats.org/drawingml/2006/main">
            <a:off x="1057275" y="4648200"/>
            <a:ext cx="233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76C7B8"/>
                </a:solidFill>
                <a:latin typeface="Helvetica Neue"/>
                <a:ea typeface="Helvetica Neue"/>
                <a:cs typeface="Helvetica Neue"/>
              </a:defRPr>
            </a:pPr>
            <a:r>
              <a:rPr sz="1425" b="1">
                <a:solidFill>
                  <a:srgbClr val="76C7B8"/>
                </a:solidFill>
                <a:latin typeface="Helvetica Neue"/>
                <a:ea typeface="Helvetica Neue"/>
                <a:cs typeface="Helvetica Neue"/>
              </a:rPr>
              <a:t>Reusable workflow</a:t>
            </a:r>
          </a:p>
        </p:txBody>
      </p:sp>
      <p:sp>
        <p:nvSpPr>
          <p:cNvPr id="17" name="">
            <a:extLst xmlns:a="http://schemas.openxmlformats.org/drawingml/2006/main">
              <a:ext uri="{FF2B5EF4-FFF2-40B4-BE49-F238E27FC236}">
                <a16:creationId xmlns:a16="http://schemas.microsoft.com/office/drawing/2014/main" id="{6E8CF1BB-0FCD-4678-8E07-10A3F802549A}"/>
              </a:ext>
            </a:extLst>
          </p:cNvPr>
          <p:cNvSpPr>
            <a:spLocks xmlns:a="http://schemas.openxmlformats.org/drawingml/2006/main" noGrp="1"/>
          </p:cNvSpPr>
          <p:nvPr/>
        </p:nvSpPr>
        <p:spPr>
          <a:xfrm xmlns:a="http://schemas.openxmlformats.org/drawingml/2006/main">
            <a:off x="1057275" y="499110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EFA"/>
                </a:solidFill>
                <a:latin typeface="Helvetica Neue"/>
                <a:ea typeface="Helvetica Neue"/>
                <a:cs typeface="Helvetica Neue"/>
              </a:defRPr>
            </a:pPr>
            <a:r>
              <a:rPr sz="1650" b="0">
                <a:solidFill>
                  <a:srgbClr val="FFFEFA"/>
                </a:solidFill>
                <a:latin typeface="Helvetica Neue"/>
                <a:ea typeface="Helvetica Neue"/>
                <a:cs typeface="Helvetica Neue"/>
              </a:rPr>
              <a:t>A public synthetic TRIP13 example did not inherit the BUBR1-restoration lead.</a:t>
            </a:r>
          </a:p>
        </p:txBody>
      </p:sp>
      <p:sp>
        <p:nvSpPr>
          <p:cNvPr id="18" name="">
            <a:extLst xmlns:a="http://schemas.openxmlformats.org/drawingml/2006/main">
              <a:ext uri="{FF2B5EF4-FFF2-40B4-BE49-F238E27FC236}">
                <a16:creationId xmlns:a16="http://schemas.microsoft.com/office/drawing/2014/main" id="{C6B46250-E5A4-46C5-AE1C-3EECBE777509}"/>
              </a:ext>
            </a:extLst>
          </p:cNvPr>
          <p:cNvSpPr>
            <a:spLocks xmlns:a="http://schemas.openxmlformats.org/drawingml/2006/main" noGrp="1"/>
          </p:cNvSpPr>
          <p:nvPr/>
        </p:nvSpPr>
        <p:spPr>
          <a:xfrm xmlns:a="http://schemas.openxmlformats.org/drawingml/2006/main">
            <a:off x="819150" y="580072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a:solidFill>
                  <a:srgbClr val="C6D4CF"/>
                </a:solidFill>
                <a:latin typeface="Helvetica Neue"/>
                <a:ea typeface="Helvetica Neue"/>
                <a:cs typeface="Helvetica Neue"/>
              </a:defRPr>
            </a:pPr>
            <a:r>
              <a:rPr sz="1275" b="0">
                <a:solidFill>
                  <a:srgbClr val="C6D4CF"/>
                </a:solidFill>
                <a:latin typeface="Helvetica Neue"/>
                <a:ea typeface="Helvetica Neue"/>
                <a:cs typeface="Helvetica Neue"/>
              </a:rPr>
              <a:t>Reuse demonstrates method portability—not a second-patient or treatment validation.</a:t>
            </a:r>
          </a:p>
        </p:txBody>
      </p:sp>
    </p:spTree>
    <p:extLst>
      <p:ext uri="{BB962C8B-B14F-4D97-AF65-F5344CB8AC3E}">
        <p14:creationId xmlns:p14="http://schemas.microsoft.com/office/powerpoint/2010/main" val="3144329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2026-10-01T17:49:01.5600000Z</dcterms:created>
  <dcterms:modified xsi:type="dcterms:W3CDTF">2026-10-01T17:49:01.5600000Z</dcterms:modified>
</coreProperties>
</file>